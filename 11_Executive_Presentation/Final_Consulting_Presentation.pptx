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Comfortaa Bold"/>
      <p:regular r:id="rId13"/>
    </p:embeddedFont>
    <p:embeddedFont>
      <p:font typeface="Raleway Medium"/>
      <p:regular r:id="rId14"/>
    </p:embeddedFont>
    <p:embeddedFont>
      <p:font typeface="Raleway Bold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0023" y="1481138"/>
            <a:ext cx="1954560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632594" y="1527423"/>
            <a:ext cx="222661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BETA PERFORMANCE REPORT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0023" y="1832893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PgBee: Business Growth &amp; Expansion Analytics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0023" y="2921571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Evaluating PgBee's beta performance and identifying the highest-impact growth opportunities across Kerala's student accommodation market.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313" y="437927"/>
            <a:ext cx="2216423" cy="275630"/>
          </a:xfrm>
          <a:prstGeom prst="roundRect">
            <a:avLst>
              <a:gd name="adj" fmla="val 62980"/>
            </a:avLst>
          </a:prstGeom>
          <a:noFill/>
          <a:ln w="4763">
            <a:solidFill>
              <a:srgbClr val="FFE1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7843" y="486073"/>
            <a:ext cx="2490564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CURRENT BUSINESS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6313" y="767804"/>
            <a:ext cx="8298210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Beta Results: Strong Demand, Healthy Margins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6313" y="1373014"/>
            <a:ext cx="8131373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pilot demonstrated strong demand and profitable operations — validating PgBee's core business model before scaling.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6313" y="2046312"/>
            <a:ext cx="3980929" cy="477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38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664494" y="2697659"/>
            <a:ext cx="1664568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Hostels Onboarded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6313" y="2979911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Across Kerala during the beta phase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56758" y="2046312"/>
            <a:ext cx="3980929" cy="477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74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5782047" y="2697659"/>
            <a:ext cx="1730350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Successful Bookings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56758" y="2979911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Completed through the 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6313" y="3547690"/>
            <a:ext cx="3980929" cy="477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₹36,926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1681237" y="4199037"/>
            <a:ext cx="1631007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Generated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6313" y="4481289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Total platform revenue in beta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56758" y="3547690"/>
            <a:ext cx="3980929" cy="477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72.92%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5843513" y="4199037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Profit Margin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56758" y="4481289"/>
            <a:ext cx="3980929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₹26,926 profit on ₹36,926 revenue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281" y="400496"/>
            <a:ext cx="1314301" cy="226144"/>
          </a:xfrm>
          <a:prstGeom prst="roundRect">
            <a:avLst>
              <a:gd name="adj" fmla="val 6780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729928" y="438820"/>
            <a:ext cx="1618208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3281" y="668908"/>
            <a:ext cx="7837363" cy="7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Kerala's Student Accommodation Market Is Underserved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81" y="1727746"/>
            <a:ext cx="4985147" cy="2824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4837" y="1643360"/>
            <a:ext cx="18770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Market Drivers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54837" y="1926654"/>
            <a:ext cx="2540496" cy="1195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Growing student migration to urban education hubs</a:t>
            </a:r>
            <a:endParaRPr lang="en-US" sz="100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Rising demand for organized, digital-first hostel discovery</a:t>
            </a:r>
            <a:endParaRPr lang="en-US" sz="100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Limited competition from existing digital platforms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54837" y="3227561"/>
            <a:ext cx="2538859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Priority Districts by Demand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54837" y="3510855"/>
            <a:ext cx="2540496" cy="1195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Font typeface="+mj-lt"/>
              <a:buAutoNum type="arabicPeriod" startAt="1"/>
            </a:pPr>
            <a:r>
              <a:rPr lang="en-US" sz="1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Thiruvananthapuram</a:t>
            </a:r>
            <a:pPr algn="l" marL="342900" indent="-342900">
              <a:lnSpc>
                <a:spcPct val="122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Highest student concentration</a:t>
            </a:r>
            <a:endParaRPr lang="en-US" sz="1000" dirty="0"/>
          </a:p>
          <a:p>
            <a:pPr algn="l" marL="342900" indent="-342900">
              <a:lnSpc>
                <a:spcPct val="122000"/>
              </a:lnSpc>
              <a:buSzPct val="100000"/>
              <a:buFont typeface="+mj-lt"/>
              <a:buAutoNum type="arabicPeriod" startAt="2"/>
            </a:pPr>
            <a:r>
              <a:rPr lang="en-US" sz="1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Ernakulam</a:t>
            </a:r>
            <a:pPr algn="l" marL="342900" indent="-342900">
              <a:lnSpc>
                <a:spcPct val="122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Major commercial &amp; education center</a:t>
            </a:r>
            <a:endParaRPr lang="en-US" sz="1000" dirty="0"/>
          </a:p>
          <a:p>
            <a:pPr algn="l" marL="342900" indent="-342900">
              <a:lnSpc>
                <a:spcPct val="122000"/>
              </a:lnSpc>
              <a:buSzPct val="100000"/>
              <a:buFont typeface="+mj-lt"/>
              <a:buAutoNum type="arabicPeriod" startAt="3"/>
            </a:pPr>
            <a:r>
              <a:rPr lang="en-US" sz="1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Kozhikode</a:t>
            </a:r>
            <a:pPr algn="l" marL="342900" indent="-342900">
              <a:lnSpc>
                <a:spcPct val="122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Fast-growing student 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109" y="347439"/>
            <a:ext cx="1148804" cy="219224"/>
          </a:xfrm>
          <a:prstGeom prst="roundRect">
            <a:avLst>
              <a:gd name="adj" fmla="val 65988"/>
            </a:avLst>
          </a:prstGeom>
          <a:noFill/>
          <a:ln w="4763">
            <a:solidFill>
              <a:srgbClr val="FFE1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2202" y="388367"/>
            <a:ext cx="1451818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FINANCIAL OUTLOOK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5109" y="604317"/>
            <a:ext cx="7508900" cy="334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Expansion Can Multiply Revenue by Nearly 8× Beta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109" y="1186309"/>
            <a:ext cx="3549848" cy="25551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3805" y="1174552"/>
            <a:ext cx="3123679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Projection by Expansion Area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23805" y="1436117"/>
            <a:ext cx="4007048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Revenue = Bookings × ₹499 per booking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9517" y="1713756"/>
            <a:ext cx="3564136" cy="7029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01505" y="1848594"/>
            <a:ext cx="13394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Trivandrum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901505" y="2110160"/>
            <a:ext cx="3237309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₹74,850 projected revenue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517" y="2510879"/>
            <a:ext cx="3564136" cy="7029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01505" y="2645718"/>
            <a:ext cx="13394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Ernakulam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901505" y="2907283"/>
            <a:ext cx="3237309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₹124,750 projected revenue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9517" y="3308003"/>
            <a:ext cx="3564136" cy="7029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01505" y="3442841"/>
            <a:ext cx="13394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Kozhikode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901505" y="3704406"/>
            <a:ext cx="3237309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₹89,820 projected revenue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723805" y="4116884"/>
            <a:ext cx="3549848" cy="573286"/>
          </a:xfrm>
          <a:prstGeom prst="roundRect">
            <a:avLst>
              <a:gd name="adj" fmla="val 31542"/>
            </a:avLst>
          </a:prstGeom>
          <a:solidFill>
            <a:srgbClr val="02234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4355" y="4290640"/>
            <a:ext cx="150688" cy="1205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15595" y="4231779"/>
            <a:ext cx="3037508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Combined expansion revenue potential: </a:t>
            </a:r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₹2,89,420+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nearly 8× the beta stage.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84637" y="389632"/>
            <a:ext cx="1254472" cy="231651"/>
          </a:xfrm>
          <a:prstGeom prst="roundRect">
            <a:avLst>
              <a:gd name="adj" fmla="val 67444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3962698" y="428625"/>
            <a:ext cx="1555552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STRATEGIC 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884637" y="665187"/>
            <a:ext cx="4760342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Three-Phase Expansion Plan</a:t>
            </a:r>
            <a:endParaRPr lang="en-US" sz="2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7" y="1191592"/>
            <a:ext cx="650974" cy="11874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5447" y="1321743"/>
            <a:ext cx="1506736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Phase 1 · 0–6 Months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645447" y="1568425"/>
            <a:ext cx="4042916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Strengthen Trivandrum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45447" y="1826344"/>
            <a:ext cx="4042916" cy="42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Grow hostels from 38 → 50</a:t>
            </a:r>
            <a:endParaRPr lang="en-US" sz="10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Improve booking conversion rate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637" y="2379018"/>
            <a:ext cx="650974" cy="11874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45447" y="2509168"/>
            <a:ext cx="1593205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Phase 2 · 6–12 Months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645447" y="2755850"/>
            <a:ext cx="4042916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Launch Ernakulam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645447" y="3013770"/>
            <a:ext cx="4042916" cy="42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Build college partnerships</a:t>
            </a:r>
            <a:endParaRPr lang="en-US" sz="10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Onboard hostel owners proactively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637" y="3566443"/>
            <a:ext cx="650974" cy="11874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45447" y="3696593"/>
            <a:ext cx="1683023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Phase 3 · 12–24 Months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645447" y="3943276"/>
            <a:ext cx="4042916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Launch Kozhikode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645447" y="4201195"/>
            <a:ext cx="4042916" cy="42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Regional marketing campaigns</a:t>
            </a:r>
            <a:endParaRPr lang="en-US" sz="10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 referral programs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6938" y="357560"/>
            <a:ext cx="1697906" cy="193551"/>
          </a:xfrm>
          <a:prstGeom prst="roundRect">
            <a:avLst>
              <a:gd name="adj" fmla="val 7025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4878" y="391492"/>
            <a:ext cx="2019226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CONCLUSION &amp; RECOMMENDATION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96938" y="584374"/>
            <a:ext cx="6950125" cy="629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Expand in Kerala First. Build South India's Leading Platform.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15380" y="1338709"/>
            <a:ext cx="3499991" cy="3447231"/>
          </a:xfrm>
          <a:prstGeom prst="roundRect">
            <a:avLst>
              <a:gd name="adj" fmla="val 7889"/>
            </a:avLst>
          </a:prstGeom>
          <a:solidFill>
            <a:srgbClr val="FFE14D"/>
          </a:solidFill>
          <a:ln/>
        </p:spPr>
      </p:sp>
      <p:sp>
        <p:nvSpPr>
          <p:cNvPr id="6" name="Text 4"/>
          <p:cNvSpPr/>
          <p:nvPr/>
        </p:nvSpPr>
        <p:spPr>
          <a:xfrm>
            <a:off x="1128638" y="1421904"/>
            <a:ext cx="1768450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Strengths Validated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8638" y="1662485"/>
            <a:ext cx="3273475" cy="52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Proven, profitable business model</a:t>
            </a:r>
            <a:endParaRPr lang="en-US" sz="8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72.92% margin with scalable commission structure</a:t>
            </a:r>
            <a:endParaRPr lang="en-US" sz="8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Strong early demand signal from 74 bookings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8638" y="2275582"/>
            <a:ext cx="17162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Risks to Manage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28638" y="2516163"/>
            <a:ext cx="3273475" cy="52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Competition from informal hostel networks</a:t>
            </a:r>
            <a:endParaRPr lang="en-US" sz="8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Hostel onboarding speed</a:t>
            </a:r>
            <a:endParaRPr lang="en-US" sz="8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 awareness &amp; trust building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14949" y="1421904"/>
            <a:ext cx="2101379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Priority Expansion Order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14949" y="1672903"/>
            <a:ext cx="226591" cy="14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14949" y="1851124"/>
            <a:ext cx="3336875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3" name="Text 11"/>
          <p:cNvSpPr/>
          <p:nvPr/>
        </p:nvSpPr>
        <p:spPr>
          <a:xfrm>
            <a:off x="4714949" y="1936328"/>
            <a:ext cx="1413049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Thiruvananthapuram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14949" y="2176909"/>
            <a:ext cx="3336875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Highest demand — consolidate first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14949" y="2502322"/>
            <a:ext cx="226591" cy="14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14949" y="2680543"/>
            <a:ext cx="3336875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7" name="Text 15"/>
          <p:cNvSpPr/>
          <p:nvPr/>
        </p:nvSpPr>
        <p:spPr>
          <a:xfrm>
            <a:off x="4714949" y="2765747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Ernakulam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14949" y="3006328"/>
            <a:ext cx="3336875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Largest revenue potential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14949" y="3331741"/>
            <a:ext cx="226591" cy="14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14949" y="3509963"/>
            <a:ext cx="3336875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21" name="Text 19"/>
          <p:cNvSpPr/>
          <p:nvPr/>
        </p:nvSpPr>
        <p:spPr>
          <a:xfrm>
            <a:off x="4714949" y="3595167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Kozhikode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14949" y="3835747"/>
            <a:ext cx="3336875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Fast-growing student hub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4949" y="4171578"/>
            <a:ext cx="3336875" cy="520750"/>
          </a:xfrm>
          <a:prstGeom prst="roundRect">
            <a:avLst>
              <a:gd name="adj" fmla="val 32641"/>
            </a:avLst>
          </a:prstGeom>
          <a:solidFill>
            <a:srgbClr val="183A13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208" y="4328294"/>
            <a:ext cx="141610" cy="11325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83076" y="4274716"/>
            <a:ext cx="2855491" cy="314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Long-term vision:</a:t>
            </a:r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Build South India's leading student accommodation platform.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2026-06-08T15:53:15Z</dcterms:created>
  <dcterms:modified xsi:type="dcterms:W3CDTF">2026-06-08T15:53:15Z</dcterms:modified>
</cp:coreProperties>
</file>