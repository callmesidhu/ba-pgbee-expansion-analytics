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Comfortaa Bold"/>
      <p:regular r:id="rId17"/>
    </p:embeddedFont>
    <p:embeddedFont>
      <p:font typeface="Raleway Medium"/>
      <p:regular r:id="rId18"/>
    </p:embeddedFont>
    <p:embeddedFont>
      <p:font typeface="Raleway Bold"/>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540023" y="1519014"/>
            <a:ext cx="4634954" cy="857250"/>
          </a:xfrm>
          <a:prstGeom prst="rect">
            <a:avLst/>
          </a:prstGeom>
          <a:noFill/>
          <a:ln/>
        </p:spPr>
        <p:txBody>
          <a:bodyPr wrap="square" lIns="0" tIns="0" rIns="0" bIns="0" rtlCol="0" anchor="t">
            <a:normAutofit/>
          </a:bodyPr>
          <a:lstStyle/>
          <a:p>
            <a:pPr algn="l" indent="0" marL="0">
              <a:lnSpc>
                <a:spcPct val="104000"/>
              </a:lnSpc>
              <a:buNone/>
            </a:pPr>
            <a:r>
              <a:rPr lang="en-US" sz="2700" b="1" dirty="0">
                <a:solidFill>
                  <a:srgbClr val="FFE14D"/>
                </a:solidFill>
                <a:latin typeface="Comfortaa Bold" pitchFamily="34" charset="0"/>
                <a:ea typeface="Comfortaa Bold" pitchFamily="34" charset="-122"/>
                <a:cs typeface="Comfortaa Bold" pitchFamily="34" charset="-120"/>
              </a:rPr>
              <a:t>PgBee KPI Tree Framework</a:t>
            </a:r>
            <a:endParaRPr lang="en-US" sz="2700" dirty="0"/>
          </a:p>
        </p:txBody>
      </p:sp>
      <p:sp>
        <p:nvSpPr>
          <p:cNvPr id="4" name="Text 1"/>
          <p:cNvSpPr/>
          <p:nvPr/>
        </p:nvSpPr>
        <p:spPr>
          <a:xfrm>
            <a:off x="540023" y="2437954"/>
            <a:ext cx="5091708" cy="214313"/>
          </a:xfrm>
          <a:prstGeom prst="rect">
            <a:avLst/>
          </a:prstGeom>
          <a:noFill/>
          <a:ln/>
        </p:spPr>
        <p:txBody>
          <a:bodyPr wrap="none" lIns="0" tIns="0" rIns="0" bIns="0" rtlCol="0" anchor="t"/>
          <a:lstStyle/>
          <a:p>
            <a:pPr algn="l" indent="0" marL="0">
              <a:lnSpc>
                <a:spcPct val="104000"/>
              </a:lnSpc>
              <a:buNone/>
            </a:pPr>
            <a:r>
              <a:rPr lang="en-US" sz="1350" b="1" dirty="0">
                <a:solidFill>
                  <a:srgbClr val="FFE14D"/>
                </a:solidFill>
                <a:latin typeface="Comfortaa Bold" pitchFamily="34" charset="0"/>
                <a:ea typeface="Comfortaa Bold" pitchFamily="34" charset="-122"/>
                <a:cs typeface="Comfortaa Bold" pitchFamily="34" charset="-120"/>
              </a:rPr>
              <a:t>Business Growth, Profitability &amp; Expansion Analytics</a:t>
            </a:r>
            <a:endParaRPr lang="en-US" sz="1350" dirty="0"/>
          </a:p>
        </p:txBody>
      </p:sp>
      <p:sp>
        <p:nvSpPr>
          <p:cNvPr id="5" name="Text 2"/>
          <p:cNvSpPr/>
          <p:nvPr/>
        </p:nvSpPr>
        <p:spPr>
          <a:xfrm>
            <a:off x="540023" y="2883694"/>
            <a:ext cx="4634954" cy="740718"/>
          </a:xfrm>
          <a:prstGeom prst="rect">
            <a:avLst/>
          </a:prstGeom>
          <a:noFill/>
          <a:ln/>
        </p:spPr>
        <p:txBody>
          <a:bodyPr wrap="square" lIns="0" tIns="0" rIns="0" bIns="0" rtlCol="0" anchor="t">
            <a:normAutofit/>
          </a:bodyPr>
          <a:lstStyle/>
          <a:p>
            <a:pPr algn="l" indent="0" marL="0">
              <a:lnSpc>
                <a:spcPct val="133000"/>
              </a:lnSpc>
              <a:buNone/>
            </a:pPr>
            <a:r>
              <a:rPr lang="en-US" sz="1200" dirty="0">
                <a:solidFill>
                  <a:srgbClr val="D7D4CC"/>
                </a:solidFill>
                <a:latin typeface="Raleway Medium" pitchFamily="34" charset="0"/>
                <a:ea typeface="Raleway Medium" pitchFamily="34" charset="-122"/>
                <a:cs typeface="Raleway Medium" pitchFamily="34" charset="-120"/>
              </a:rPr>
              <a:t>Connect every business goal to measurable KPIs — ensuring every department contributes to PgBee's growth, profitability, and expansion.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170831" y="327943"/>
            <a:ext cx="1101626" cy="188491"/>
          </a:xfrm>
          <a:prstGeom prst="roundRect">
            <a:avLst>
              <a:gd name="adj" fmla="val 70607"/>
            </a:avLst>
          </a:prstGeom>
          <a:solidFill>
            <a:srgbClr val="4D4000"/>
          </a:solidFill>
          <a:ln/>
        </p:spPr>
      </p:sp>
      <p:sp>
        <p:nvSpPr>
          <p:cNvPr id="3" name="Text 1"/>
          <p:cNvSpPr/>
          <p:nvPr/>
        </p:nvSpPr>
        <p:spPr>
          <a:xfrm>
            <a:off x="1237357" y="361206"/>
            <a:ext cx="1425773" cy="121965"/>
          </a:xfrm>
          <a:prstGeom prst="rect">
            <a:avLst/>
          </a:prstGeom>
          <a:noFill/>
          <a:ln/>
        </p:spPr>
        <p:txBody>
          <a:bodyPr wrap="none" lIns="0" tIns="0" rIns="0" bIns="0" rtlCol="0" anchor="t"/>
          <a:lstStyle/>
          <a:p>
            <a:pPr algn="l" indent="0" marL="0">
              <a:lnSpc>
                <a:spcPct val="115000"/>
              </a:lnSpc>
              <a:buNone/>
            </a:pPr>
            <a:r>
              <a:rPr lang="en-US" sz="650" dirty="0">
                <a:solidFill>
                  <a:srgbClr val="D7D4CC"/>
                </a:solidFill>
                <a:latin typeface="Raleway Medium" pitchFamily="34" charset="0"/>
                <a:ea typeface="Raleway Medium" pitchFamily="34" charset="-122"/>
                <a:cs typeface="Raleway Medium" pitchFamily="34" charset="-120"/>
              </a:rPr>
              <a:t>EXECUTIVE OVERVIEW</a:t>
            </a:r>
            <a:endParaRPr lang="en-US" sz="650" dirty="0"/>
          </a:p>
        </p:txBody>
      </p:sp>
      <p:sp>
        <p:nvSpPr>
          <p:cNvPr id="4" name="Text 2"/>
          <p:cNvSpPr/>
          <p:nvPr/>
        </p:nvSpPr>
        <p:spPr>
          <a:xfrm>
            <a:off x="1170831" y="548283"/>
            <a:ext cx="2921794" cy="308074"/>
          </a:xfrm>
          <a:prstGeom prst="rect">
            <a:avLst/>
          </a:prstGeom>
          <a:noFill/>
          <a:ln/>
        </p:spPr>
        <p:txBody>
          <a:bodyPr wrap="none" lIns="0" tIns="0" rIns="0" bIns="0" rtlCol="0" anchor="t"/>
          <a:lstStyle/>
          <a:p>
            <a:pPr algn="l" indent="0" marL="0">
              <a:lnSpc>
                <a:spcPct val="104000"/>
              </a:lnSpc>
              <a:buNone/>
            </a:pPr>
            <a:r>
              <a:rPr lang="en-US" sz="1900" b="1" dirty="0">
                <a:solidFill>
                  <a:srgbClr val="FFE14D"/>
                </a:solidFill>
                <a:latin typeface="Comfortaa Bold" pitchFamily="34" charset="0"/>
                <a:ea typeface="Comfortaa Bold" pitchFamily="34" charset="-122"/>
                <a:cs typeface="Comfortaa Bold" pitchFamily="34" charset="-120"/>
              </a:rPr>
              <a:t>The CEO KPI Tree</a:t>
            </a:r>
            <a:endParaRPr lang="en-US" sz="1900" dirty="0"/>
          </a:p>
        </p:txBody>
      </p:sp>
      <p:sp>
        <p:nvSpPr>
          <p:cNvPr id="5" name="Text 3"/>
          <p:cNvSpPr/>
          <p:nvPr/>
        </p:nvSpPr>
        <p:spPr>
          <a:xfrm>
            <a:off x="1170831" y="975866"/>
            <a:ext cx="6802264" cy="304800"/>
          </a:xfrm>
          <a:prstGeom prst="rect">
            <a:avLst/>
          </a:prstGeom>
          <a:noFill/>
          <a:ln/>
        </p:spPr>
        <p:txBody>
          <a:bodyPr wrap="square" lIns="0" tIns="0" rIns="0" bIns="0" rtlCol="0" anchor="t">
            <a:normAutofit/>
          </a:bodyPr>
          <a:lstStyle/>
          <a:p>
            <a:pPr algn="l" indent="0" marL="0">
              <a:lnSpc>
                <a:spcPct val="115000"/>
              </a:lnSpc>
              <a:buNone/>
            </a:pPr>
            <a:r>
              <a:rPr lang="en-US" sz="850" dirty="0">
                <a:solidFill>
                  <a:srgbClr val="D7D4CC"/>
                </a:solidFill>
                <a:latin typeface="Raleway Medium" pitchFamily="34" charset="0"/>
                <a:ea typeface="Raleway Medium" pitchFamily="34" charset="-122"/>
                <a:cs typeface="Raleway Medium" pitchFamily="34" charset="-120"/>
              </a:rPr>
              <a:t>Every metric at PgBee rolls up to one of four strategic pillars — giving leadership a single, unified view of business health and performance.</a:t>
            </a:r>
            <a:endParaRPr lang="en-US" sz="850" dirty="0"/>
          </a:p>
        </p:txBody>
      </p:sp>
      <p:pic>
        <p:nvPicPr>
          <p:cNvPr id="6" name="Image 0" descr="preencoded.png">    </p:cNvPr>
          <p:cNvPicPr>
            <a:picLocks noChangeAspect="1"/>
          </p:cNvPicPr>
          <p:nvPr/>
        </p:nvPicPr>
        <p:blipFill>
          <a:blip r:embed="rId1"/>
          <a:stretch>
            <a:fillRect/>
          </a:stretch>
        </p:blipFill>
        <p:spPr>
          <a:xfrm>
            <a:off x="1170831" y="1460004"/>
            <a:ext cx="3265810" cy="3265810"/>
          </a:xfrm>
          <a:prstGeom prst="rect">
            <a:avLst/>
          </a:prstGeom>
        </p:spPr>
      </p:pic>
      <p:sp>
        <p:nvSpPr>
          <p:cNvPr id="7" name="Text 4"/>
          <p:cNvSpPr/>
          <p:nvPr/>
        </p:nvSpPr>
        <p:spPr>
          <a:xfrm>
            <a:off x="4711973" y="2751386"/>
            <a:ext cx="1918692" cy="154037"/>
          </a:xfrm>
          <a:prstGeom prst="rect">
            <a:avLst/>
          </a:prstGeom>
          <a:noFill/>
          <a:ln/>
        </p:spPr>
        <p:txBody>
          <a:bodyPr wrap="none" lIns="0" tIns="0" rIns="0" bIns="0" rtlCol="0" anchor="t"/>
          <a:lstStyle/>
          <a:p>
            <a:pPr algn="l" indent="0" marL="0">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Four Pillars of Success</a:t>
            </a:r>
            <a:endParaRPr lang="en-US" sz="950" dirty="0"/>
          </a:p>
        </p:txBody>
      </p:sp>
      <p:sp>
        <p:nvSpPr>
          <p:cNvPr id="8" name="Text 5"/>
          <p:cNvSpPr/>
          <p:nvPr/>
        </p:nvSpPr>
        <p:spPr>
          <a:xfrm>
            <a:off x="4711973" y="2985120"/>
            <a:ext cx="3265810" cy="457200"/>
          </a:xfrm>
          <a:prstGeom prst="rect">
            <a:avLst/>
          </a:prstGeom>
          <a:noFill/>
          <a:ln/>
        </p:spPr>
        <p:txBody>
          <a:bodyPr wrap="square" lIns="0" tIns="0" rIns="0" bIns="0" rtlCol="0" anchor="t">
            <a:normAutofit/>
          </a:bodyPr>
          <a:lstStyle/>
          <a:p>
            <a:pPr algn="l" indent="0" marL="0">
              <a:lnSpc>
                <a:spcPct val="115000"/>
              </a:lnSpc>
              <a:buNone/>
            </a:pPr>
            <a:r>
              <a:rPr lang="en-US" sz="850" dirty="0">
                <a:solidFill>
                  <a:srgbClr val="D7D4CC"/>
                </a:solidFill>
                <a:latin typeface="Raleway Medium" pitchFamily="34" charset="0"/>
                <a:ea typeface="Raleway Medium" pitchFamily="34" charset="-122"/>
                <a:cs typeface="Raleway Medium" pitchFamily="34" charset="-120"/>
              </a:rPr>
              <a:t>Each pillar has its own KPI tree, owned by a specific team — but all contribute to the same CEO-level goal of sustainable growth and profitability.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096938" y="351086"/>
            <a:ext cx="543074" cy="193551"/>
          </a:xfrm>
          <a:prstGeom prst="roundRect">
            <a:avLst>
              <a:gd name="adj" fmla="val 70256"/>
            </a:avLst>
          </a:prstGeom>
          <a:solidFill>
            <a:srgbClr val="4D4000"/>
          </a:solidFill>
          <a:ln/>
        </p:spPr>
      </p:sp>
      <p:sp>
        <p:nvSpPr>
          <p:cNvPr id="3" name="Text 1"/>
          <p:cNvSpPr/>
          <p:nvPr/>
        </p:nvSpPr>
        <p:spPr>
          <a:xfrm>
            <a:off x="1164878" y="385018"/>
            <a:ext cx="864394" cy="125685"/>
          </a:xfrm>
          <a:prstGeom prst="rect">
            <a:avLst/>
          </a:prstGeom>
          <a:noFill/>
          <a:ln/>
        </p:spPr>
        <p:txBody>
          <a:bodyPr wrap="none" lIns="0" tIns="0" rIns="0" bIns="0" rtlCol="0" anchor="t"/>
          <a:lstStyle/>
          <a:p>
            <a:pPr algn="l" indent="0" marL="0">
              <a:lnSpc>
                <a:spcPct val="116000"/>
              </a:lnSpc>
              <a:buNone/>
            </a:pPr>
            <a:r>
              <a:rPr lang="en-US" sz="700" dirty="0">
                <a:solidFill>
                  <a:srgbClr val="D7D4CC"/>
                </a:solidFill>
                <a:latin typeface="Raleway Medium" pitchFamily="34" charset="0"/>
                <a:ea typeface="Raleway Medium" pitchFamily="34" charset="-122"/>
                <a:cs typeface="Raleway Medium" pitchFamily="34" charset="-120"/>
              </a:rPr>
              <a:t>GROWTH</a:t>
            </a:r>
            <a:endParaRPr lang="en-US" sz="700" dirty="0"/>
          </a:p>
        </p:txBody>
      </p:sp>
      <p:sp>
        <p:nvSpPr>
          <p:cNvPr id="4" name="Text 2"/>
          <p:cNvSpPr/>
          <p:nvPr/>
        </p:nvSpPr>
        <p:spPr>
          <a:xfrm>
            <a:off x="1096938" y="577900"/>
            <a:ext cx="2975372" cy="314771"/>
          </a:xfrm>
          <a:prstGeom prst="rect">
            <a:avLst/>
          </a:prstGeom>
          <a:noFill/>
          <a:ln/>
        </p:spPr>
        <p:txBody>
          <a:bodyPr wrap="none" lIns="0" tIns="0" rIns="0" bIns="0" rtlCol="0" anchor="t"/>
          <a:lstStyle/>
          <a:p>
            <a:pPr algn="l" indent="0" marL="0">
              <a:lnSpc>
                <a:spcPct val="104000"/>
              </a:lnSpc>
              <a:buNone/>
            </a:pPr>
            <a:r>
              <a:rPr lang="en-US" sz="1950" b="1" dirty="0">
                <a:solidFill>
                  <a:srgbClr val="FFE14D"/>
                </a:solidFill>
                <a:latin typeface="Comfortaa Bold" pitchFamily="34" charset="0"/>
                <a:ea typeface="Comfortaa Bold" pitchFamily="34" charset="-122"/>
                <a:cs typeface="Comfortaa Bold" pitchFamily="34" charset="-120"/>
              </a:rPr>
              <a:t>Growth KPI Tree</a:t>
            </a:r>
            <a:endParaRPr lang="en-US" sz="1950" dirty="0"/>
          </a:p>
        </p:txBody>
      </p:sp>
      <p:sp>
        <p:nvSpPr>
          <p:cNvPr id="5" name="Text 3"/>
          <p:cNvSpPr/>
          <p:nvPr/>
        </p:nvSpPr>
        <p:spPr>
          <a:xfrm>
            <a:off x="1096938" y="1017463"/>
            <a:ext cx="7407325" cy="157237"/>
          </a:xfrm>
          <a:prstGeom prst="rect">
            <a:avLst/>
          </a:prstGeom>
          <a:noFill/>
          <a:ln/>
        </p:spPr>
        <p:txBody>
          <a:bodyPr wrap="none" lIns="0" tIns="0" rIns="0" bIns="0" rtlCol="0" anchor="t"/>
          <a:lstStyle/>
          <a:p>
            <a:pPr algn="l" indent="0" marL="0">
              <a:lnSpc>
                <a:spcPct val="116000"/>
              </a:lnSpc>
              <a:buNone/>
            </a:pPr>
            <a:r>
              <a:rPr lang="en-US" sz="850" b="1" dirty="0">
                <a:solidFill>
                  <a:srgbClr val="D7D4CC"/>
                </a:solidFill>
                <a:latin typeface="Raleway Medium" pitchFamily="34" charset="0"/>
                <a:ea typeface="Raleway Medium" pitchFamily="34" charset="-122"/>
                <a:cs typeface="Raleway Medium" pitchFamily="34" charset="-120"/>
              </a:rPr>
              <a:t>Objective:</a:t>
            </a:r>
            <a:pPr algn="l" indent="0" marL="0">
              <a:lnSpc>
                <a:spcPct val="116000"/>
              </a:lnSpc>
              <a:buNone/>
            </a:pPr>
            <a:r>
              <a:rPr lang="en-US" sz="850" dirty="0">
                <a:solidFill>
                  <a:srgbClr val="D7D4CC"/>
                </a:solidFill>
                <a:latin typeface="Raleway Medium" pitchFamily="34" charset="0"/>
                <a:ea typeface="Raleway Medium" pitchFamily="34" charset="-122"/>
                <a:cs typeface="Raleway Medium" pitchFamily="34" charset="-120"/>
              </a:rPr>
              <a:t> Increase student acquisition and platform engagement — from first registration to confirmed booking.</a:t>
            </a:r>
            <a:endParaRPr lang="en-US" sz="850" dirty="0"/>
          </a:p>
        </p:txBody>
      </p:sp>
      <p:pic>
        <p:nvPicPr>
          <p:cNvPr id="6" name="Image 0" descr="preencoded.png">    </p:cNvPr>
          <p:cNvPicPr>
            <a:picLocks noChangeAspect="1"/>
          </p:cNvPicPr>
          <p:nvPr/>
        </p:nvPicPr>
        <p:blipFill>
          <a:blip r:embed="rId1"/>
          <a:stretch>
            <a:fillRect/>
          </a:stretch>
        </p:blipFill>
        <p:spPr>
          <a:xfrm>
            <a:off x="1096938" y="1361926"/>
            <a:ext cx="3336875" cy="3336875"/>
          </a:xfrm>
          <a:prstGeom prst="rect">
            <a:avLst/>
          </a:prstGeom>
        </p:spPr>
      </p:pic>
      <p:sp>
        <p:nvSpPr>
          <p:cNvPr id="7" name="Text 4"/>
          <p:cNvSpPr/>
          <p:nvPr/>
        </p:nvSpPr>
        <p:spPr>
          <a:xfrm>
            <a:off x="4714949" y="2407221"/>
            <a:ext cx="1716286" cy="157386"/>
          </a:xfrm>
          <a:prstGeom prst="rect">
            <a:avLst/>
          </a:prstGeom>
          <a:noFill/>
          <a:ln/>
        </p:spPr>
        <p:txBody>
          <a:bodyPr wrap="none" lIns="0" tIns="0" rIns="0" bIns="0" rtlCol="0" anchor="t"/>
          <a:lstStyle/>
          <a:p>
            <a:pPr algn="l" indent="0" marL="0">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Key KPIs</a:t>
            </a:r>
            <a:endParaRPr lang="en-US" sz="950" dirty="0"/>
          </a:p>
        </p:txBody>
      </p:sp>
      <p:sp>
        <p:nvSpPr>
          <p:cNvPr id="8" name="Text 5"/>
          <p:cNvSpPr/>
          <p:nvPr/>
        </p:nvSpPr>
        <p:spPr>
          <a:xfrm>
            <a:off x="4714949" y="2647801"/>
            <a:ext cx="3336875" cy="1059805"/>
          </a:xfrm>
          <a:prstGeom prst="rect">
            <a:avLst/>
          </a:prstGeom>
          <a:noFill/>
          <a:ln/>
        </p:spPr>
        <p:txBody>
          <a:bodyPr wrap="square" lIns="0" tIns="0" rIns="0" bIns="0" rtlCol="0" anchor="t">
            <a:normAutofit/>
          </a:bodyPr>
          <a:lstStyle/>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Total Registrations</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Organic, Referral, Paid</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Active Users</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DAU and MAU</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Student Engagement</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Searches, Hostel Views, Favorites</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Booking Conversion Rate</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Search → View → Inquiry → Booking</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Referral Conversion</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Share of organic growth</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096938" y="351086"/>
            <a:ext cx="559445" cy="193551"/>
          </a:xfrm>
          <a:prstGeom prst="roundRect">
            <a:avLst>
              <a:gd name="adj" fmla="val 70256"/>
            </a:avLst>
          </a:prstGeom>
          <a:solidFill>
            <a:srgbClr val="4D4000"/>
          </a:solidFill>
          <a:ln/>
        </p:spPr>
      </p:sp>
      <p:sp>
        <p:nvSpPr>
          <p:cNvPr id="3" name="Text 1"/>
          <p:cNvSpPr/>
          <p:nvPr/>
        </p:nvSpPr>
        <p:spPr>
          <a:xfrm>
            <a:off x="1164878" y="385018"/>
            <a:ext cx="880765" cy="125685"/>
          </a:xfrm>
          <a:prstGeom prst="rect">
            <a:avLst/>
          </a:prstGeom>
          <a:noFill/>
          <a:ln/>
        </p:spPr>
        <p:txBody>
          <a:bodyPr wrap="none" lIns="0" tIns="0" rIns="0" bIns="0" rtlCol="0" anchor="t"/>
          <a:lstStyle/>
          <a:p>
            <a:pPr algn="l" indent="0" marL="0">
              <a:lnSpc>
                <a:spcPct val="116000"/>
              </a:lnSpc>
              <a:buNone/>
            </a:pPr>
            <a:r>
              <a:rPr lang="en-US" sz="700" dirty="0">
                <a:solidFill>
                  <a:srgbClr val="D7D4CC"/>
                </a:solidFill>
                <a:latin typeface="Raleway Medium" pitchFamily="34" charset="0"/>
                <a:ea typeface="Raleway Medium" pitchFamily="34" charset="-122"/>
                <a:cs typeface="Raleway Medium" pitchFamily="34" charset="-120"/>
              </a:rPr>
              <a:t>REVENUE</a:t>
            </a:r>
            <a:endParaRPr lang="en-US" sz="700" dirty="0"/>
          </a:p>
        </p:txBody>
      </p:sp>
      <p:sp>
        <p:nvSpPr>
          <p:cNvPr id="4" name="Text 2"/>
          <p:cNvSpPr/>
          <p:nvPr/>
        </p:nvSpPr>
        <p:spPr>
          <a:xfrm>
            <a:off x="1096938" y="577900"/>
            <a:ext cx="2975372" cy="314771"/>
          </a:xfrm>
          <a:prstGeom prst="rect">
            <a:avLst/>
          </a:prstGeom>
          <a:noFill/>
          <a:ln/>
        </p:spPr>
        <p:txBody>
          <a:bodyPr wrap="none" lIns="0" tIns="0" rIns="0" bIns="0" rtlCol="0" anchor="t"/>
          <a:lstStyle/>
          <a:p>
            <a:pPr algn="l" indent="0" marL="0">
              <a:lnSpc>
                <a:spcPct val="104000"/>
              </a:lnSpc>
              <a:buNone/>
            </a:pPr>
            <a:r>
              <a:rPr lang="en-US" sz="1950" b="1" dirty="0">
                <a:solidFill>
                  <a:srgbClr val="FFE14D"/>
                </a:solidFill>
                <a:latin typeface="Comfortaa Bold" pitchFamily="34" charset="0"/>
                <a:ea typeface="Comfortaa Bold" pitchFamily="34" charset="-122"/>
                <a:cs typeface="Comfortaa Bold" pitchFamily="34" charset="-120"/>
              </a:rPr>
              <a:t>Revenue KPI Tree</a:t>
            </a:r>
            <a:endParaRPr lang="en-US" sz="1950" dirty="0"/>
          </a:p>
        </p:txBody>
      </p:sp>
      <p:sp>
        <p:nvSpPr>
          <p:cNvPr id="5" name="Text 3"/>
          <p:cNvSpPr/>
          <p:nvPr/>
        </p:nvSpPr>
        <p:spPr>
          <a:xfrm>
            <a:off x="1096938" y="1017463"/>
            <a:ext cx="7407325" cy="157237"/>
          </a:xfrm>
          <a:prstGeom prst="rect">
            <a:avLst/>
          </a:prstGeom>
          <a:noFill/>
          <a:ln/>
        </p:spPr>
        <p:txBody>
          <a:bodyPr wrap="none" lIns="0" tIns="0" rIns="0" bIns="0" rtlCol="0" anchor="t"/>
          <a:lstStyle/>
          <a:p>
            <a:pPr algn="l" indent="0" marL="0">
              <a:lnSpc>
                <a:spcPct val="116000"/>
              </a:lnSpc>
              <a:buNone/>
            </a:pPr>
            <a:r>
              <a:rPr lang="en-US" sz="850" b="1" dirty="0">
                <a:solidFill>
                  <a:srgbClr val="D7D4CC"/>
                </a:solidFill>
                <a:latin typeface="Raleway Medium" pitchFamily="34" charset="0"/>
                <a:ea typeface="Raleway Medium" pitchFamily="34" charset="-122"/>
                <a:cs typeface="Raleway Medium" pitchFamily="34" charset="-120"/>
              </a:rPr>
              <a:t>Objective:</a:t>
            </a:r>
            <a:pPr algn="l" indent="0" marL="0">
              <a:lnSpc>
                <a:spcPct val="116000"/>
              </a:lnSpc>
              <a:buNone/>
            </a:pPr>
            <a:r>
              <a:rPr lang="en-US" sz="850" dirty="0">
                <a:solidFill>
                  <a:srgbClr val="D7D4CC"/>
                </a:solidFill>
                <a:latin typeface="Raleway Medium" pitchFamily="34" charset="0"/>
                <a:ea typeface="Raleway Medium" pitchFamily="34" charset="-122"/>
                <a:cs typeface="Raleway Medium" pitchFamily="34" charset="-120"/>
              </a:rPr>
              <a:t> Increase recurring and scalable revenue across all monetization channels.</a:t>
            </a:r>
            <a:endParaRPr lang="en-US" sz="850" dirty="0"/>
          </a:p>
        </p:txBody>
      </p:sp>
      <p:pic>
        <p:nvPicPr>
          <p:cNvPr id="6" name="Image 0" descr="preencoded.png">    </p:cNvPr>
          <p:cNvPicPr>
            <a:picLocks noChangeAspect="1"/>
          </p:cNvPicPr>
          <p:nvPr/>
        </p:nvPicPr>
        <p:blipFill>
          <a:blip r:embed="rId1"/>
          <a:stretch>
            <a:fillRect/>
          </a:stretch>
        </p:blipFill>
        <p:spPr>
          <a:xfrm>
            <a:off x="1096938" y="1361926"/>
            <a:ext cx="3336875" cy="3336875"/>
          </a:xfrm>
          <a:prstGeom prst="rect">
            <a:avLst/>
          </a:prstGeom>
        </p:spPr>
      </p:pic>
      <p:sp>
        <p:nvSpPr>
          <p:cNvPr id="7" name="Text 4"/>
          <p:cNvSpPr/>
          <p:nvPr/>
        </p:nvSpPr>
        <p:spPr>
          <a:xfrm>
            <a:off x="4714949" y="2485802"/>
            <a:ext cx="1716286" cy="157386"/>
          </a:xfrm>
          <a:prstGeom prst="rect">
            <a:avLst/>
          </a:prstGeom>
          <a:noFill/>
          <a:ln/>
        </p:spPr>
        <p:txBody>
          <a:bodyPr wrap="none" lIns="0" tIns="0" rIns="0" bIns="0" rtlCol="0" anchor="t"/>
          <a:lstStyle/>
          <a:p>
            <a:pPr algn="l" indent="0" marL="0">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Key KPIs</a:t>
            </a:r>
            <a:endParaRPr lang="en-US" sz="950" dirty="0"/>
          </a:p>
        </p:txBody>
      </p:sp>
      <p:sp>
        <p:nvSpPr>
          <p:cNvPr id="8" name="Text 5"/>
          <p:cNvSpPr/>
          <p:nvPr/>
        </p:nvSpPr>
        <p:spPr>
          <a:xfrm>
            <a:off x="4714949" y="2726382"/>
            <a:ext cx="3336875" cy="902568"/>
          </a:xfrm>
          <a:prstGeom prst="rect">
            <a:avLst/>
          </a:prstGeom>
          <a:noFill/>
          <a:ln/>
        </p:spPr>
        <p:txBody>
          <a:bodyPr wrap="square" lIns="0" tIns="0" rIns="0" bIns="0" rtlCol="0" anchor="t">
            <a:normAutofit/>
          </a:bodyPr>
          <a:lstStyle/>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Total Revenue</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All streams combined</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Revenue Growth %</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Month-over-month trajectory</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Revenue Per Booking</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Average yield per transaction</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Revenue Per Hostel</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Supply-side productivity</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MRR</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Monthly Recurring Revenue baseline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318766" y="311646"/>
            <a:ext cx="680442" cy="178073"/>
          </a:xfrm>
          <a:prstGeom prst="roundRect">
            <a:avLst>
              <a:gd name="adj" fmla="val 71488"/>
            </a:avLst>
          </a:prstGeom>
          <a:solidFill>
            <a:srgbClr val="4D4000"/>
          </a:solidFill>
          <a:ln/>
        </p:spPr>
      </p:sp>
      <p:sp>
        <p:nvSpPr>
          <p:cNvPr id="3" name="Text 1"/>
          <p:cNvSpPr/>
          <p:nvPr/>
        </p:nvSpPr>
        <p:spPr>
          <a:xfrm>
            <a:off x="1382390" y="343421"/>
            <a:ext cx="1010394" cy="114523"/>
          </a:xfrm>
          <a:prstGeom prst="rect">
            <a:avLst/>
          </a:prstGeom>
          <a:noFill/>
          <a:ln/>
        </p:spPr>
        <p:txBody>
          <a:bodyPr wrap="none" lIns="0" tIns="0" rIns="0" bIns="0" rtlCol="0" anchor="t"/>
          <a:lstStyle/>
          <a:p>
            <a:pPr algn="l" indent="0" marL="0">
              <a:lnSpc>
                <a:spcPct val="113000"/>
              </a:lnSpc>
              <a:buNone/>
            </a:pPr>
            <a:r>
              <a:rPr lang="en-US" sz="650" dirty="0">
                <a:solidFill>
                  <a:srgbClr val="D7D4CC"/>
                </a:solidFill>
                <a:latin typeface="Raleway Medium" pitchFamily="34" charset="0"/>
                <a:ea typeface="Raleway Medium" pitchFamily="34" charset="-122"/>
                <a:cs typeface="Raleway Medium" pitchFamily="34" charset="-120"/>
              </a:rPr>
              <a:t>CONVERSION</a:t>
            </a:r>
            <a:endParaRPr lang="en-US" sz="650" dirty="0"/>
          </a:p>
        </p:txBody>
      </p:sp>
      <p:sp>
        <p:nvSpPr>
          <p:cNvPr id="4" name="Text 2"/>
          <p:cNvSpPr/>
          <p:nvPr/>
        </p:nvSpPr>
        <p:spPr>
          <a:xfrm>
            <a:off x="1318766" y="518889"/>
            <a:ext cx="3387998" cy="294680"/>
          </a:xfrm>
          <a:prstGeom prst="rect">
            <a:avLst/>
          </a:prstGeom>
          <a:noFill/>
          <a:ln/>
        </p:spPr>
        <p:txBody>
          <a:bodyPr wrap="none" lIns="0" tIns="0" rIns="0" bIns="0" rtlCol="0" anchor="t"/>
          <a:lstStyle/>
          <a:p>
            <a:pPr algn="l" indent="0" marL="0">
              <a:lnSpc>
                <a:spcPct val="104000"/>
              </a:lnSpc>
              <a:buNone/>
            </a:pPr>
            <a:r>
              <a:rPr lang="en-US" sz="1850" b="1" dirty="0">
                <a:solidFill>
                  <a:srgbClr val="FFE14D"/>
                </a:solidFill>
                <a:latin typeface="Comfortaa Bold" pitchFamily="34" charset="0"/>
                <a:ea typeface="Comfortaa Bold" pitchFamily="34" charset="-122"/>
                <a:cs typeface="Comfortaa Bold" pitchFamily="34" charset="-120"/>
              </a:rPr>
              <a:t>Student Funnel KPI Tree</a:t>
            </a:r>
            <a:endParaRPr lang="en-US" sz="1850" dirty="0"/>
          </a:p>
        </p:txBody>
      </p:sp>
      <p:sp>
        <p:nvSpPr>
          <p:cNvPr id="5" name="Text 3"/>
          <p:cNvSpPr/>
          <p:nvPr/>
        </p:nvSpPr>
        <p:spPr>
          <a:xfrm>
            <a:off x="1318766" y="922958"/>
            <a:ext cx="6963668" cy="143247"/>
          </a:xfrm>
          <a:prstGeom prst="rect">
            <a:avLst/>
          </a:prstGeom>
          <a:noFill/>
          <a:ln/>
        </p:spPr>
        <p:txBody>
          <a:bodyPr wrap="none" lIns="0" tIns="0" rIns="0" bIns="0" rtlCol="0" anchor="t"/>
          <a:lstStyle/>
          <a:p>
            <a:pPr algn="l" indent="0" marL="0">
              <a:lnSpc>
                <a:spcPct val="113000"/>
              </a:lnSpc>
              <a:buNone/>
            </a:pPr>
            <a:r>
              <a:rPr lang="en-US" sz="800" b="1" dirty="0">
                <a:solidFill>
                  <a:srgbClr val="D7D4CC"/>
                </a:solidFill>
                <a:latin typeface="Raleway Medium" pitchFamily="34" charset="0"/>
                <a:ea typeface="Raleway Medium" pitchFamily="34" charset="-122"/>
                <a:cs typeface="Raleway Medium" pitchFamily="34" charset="-120"/>
              </a:rPr>
              <a:t>Objective:</a:t>
            </a:r>
            <a:pPr algn="l" indent="0" marL="0">
              <a:lnSpc>
                <a:spcPct val="113000"/>
              </a:lnSpc>
              <a:buNone/>
            </a:pPr>
            <a:r>
              <a:rPr lang="en-US" sz="800" dirty="0">
                <a:solidFill>
                  <a:srgbClr val="D7D4CC"/>
                </a:solidFill>
                <a:latin typeface="Raleway Medium" pitchFamily="34" charset="0"/>
                <a:ea typeface="Raleway Medium" pitchFamily="34" charset="-122"/>
                <a:cs typeface="Raleway Medium" pitchFamily="34" charset="-120"/>
              </a:rPr>
              <a:t> Optimize booking conversion at every stage — from first visit to confirmed payment.</a:t>
            </a:r>
            <a:endParaRPr lang="en-US" sz="800" dirty="0"/>
          </a:p>
        </p:txBody>
      </p:sp>
      <p:pic>
        <p:nvPicPr>
          <p:cNvPr id="6" name="Image 0" descr="preencoded.png">    </p:cNvPr>
          <p:cNvPicPr>
            <a:picLocks noChangeAspect="1"/>
          </p:cNvPicPr>
          <p:nvPr/>
        </p:nvPicPr>
        <p:blipFill>
          <a:blip r:embed="rId1"/>
          <a:stretch>
            <a:fillRect/>
          </a:stretch>
        </p:blipFill>
        <p:spPr>
          <a:xfrm>
            <a:off x="1669628" y="1148209"/>
            <a:ext cx="5804669" cy="3171899"/>
          </a:xfrm>
          <a:prstGeom prst="rect">
            <a:avLst/>
          </a:prstGeom>
        </p:spPr>
      </p:pic>
      <p:sp>
        <p:nvSpPr>
          <p:cNvPr id="7" name="Text 4"/>
          <p:cNvSpPr/>
          <p:nvPr/>
        </p:nvSpPr>
        <p:spPr>
          <a:xfrm>
            <a:off x="2456928" y="2644598"/>
            <a:ext cx="1301272" cy="162659"/>
          </a:xfrm>
          <a:prstGeom prst="rect">
            <a:avLst/>
          </a:prstGeom>
          <a:noFill/>
          <a:ln/>
        </p:spPr>
        <p:txBody>
          <a:bodyPr wrap="none" lIns="0" tIns="0" rIns="0" bIns="0" rtlCol="0" anchor="t"/>
          <a:lstStyle/>
          <a:p>
            <a:pPr algn="ctr" indent="0" marL="0">
              <a:lnSpc>
                <a:spcPct val="104000"/>
              </a:lnSpc>
              <a:buNone/>
            </a:pPr>
            <a:r>
              <a:rPr lang="en-US" sz="1000" b="1" dirty="0">
                <a:solidFill>
                  <a:srgbClr val="FFE14D"/>
                </a:solidFill>
                <a:latin typeface="Comfortaa Bold" pitchFamily="34" charset="0"/>
                <a:ea typeface="Comfortaa Bold" pitchFamily="34" charset="-122"/>
                <a:cs typeface="Comfortaa Bold" pitchFamily="34" charset="-120"/>
              </a:rPr>
              <a:t>Visitors</a:t>
            </a:r>
            <a:endParaRPr lang="en-US" sz="1000" dirty="0"/>
          </a:p>
        </p:txBody>
      </p:sp>
      <p:sp>
        <p:nvSpPr>
          <p:cNvPr id="8" name="Text 5"/>
          <p:cNvSpPr/>
          <p:nvPr/>
        </p:nvSpPr>
        <p:spPr>
          <a:xfrm>
            <a:off x="5853249" y="2623961"/>
            <a:ext cx="1301272" cy="162659"/>
          </a:xfrm>
          <a:prstGeom prst="rect">
            <a:avLst/>
          </a:prstGeom>
          <a:noFill/>
          <a:ln/>
        </p:spPr>
        <p:txBody>
          <a:bodyPr wrap="none" lIns="0" tIns="0" rIns="0" bIns="0" rtlCol="0" anchor="t"/>
          <a:lstStyle/>
          <a:p>
            <a:pPr algn="ctr" indent="0" marL="0">
              <a:lnSpc>
                <a:spcPct val="104000"/>
              </a:lnSpc>
              <a:buNone/>
            </a:pPr>
            <a:r>
              <a:rPr lang="en-US" sz="1000" b="1" dirty="0">
                <a:solidFill>
                  <a:srgbClr val="FFE14D"/>
                </a:solidFill>
                <a:latin typeface="Comfortaa Bold" pitchFamily="34" charset="0"/>
                <a:ea typeface="Comfortaa Bold" pitchFamily="34" charset="-122"/>
                <a:cs typeface="Comfortaa Bold" pitchFamily="34" charset="-120"/>
              </a:rPr>
              <a:t>Registrations</a:t>
            </a:r>
            <a:endParaRPr lang="en-US" sz="1000" dirty="0"/>
          </a:p>
        </p:txBody>
      </p:sp>
      <p:sp>
        <p:nvSpPr>
          <p:cNvPr id="9" name="Text 6"/>
          <p:cNvSpPr/>
          <p:nvPr/>
        </p:nvSpPr>
        <p:spPr>
          <a:xfrm>
            <a:off x="4194127" y="2630569"/>
            <a:ext cx="1301272" cy="162659"/>
          </a:xfrm>
          <a:prstGeom prst="rect">
            <a:avLst/>
          </a:prstGeom>
          <a:noFill/>
          <a:ln/>
        </p:spPr>
        <p:txBody>
          <a:bodyPr wrap="none" lIns="0" tIns="0" rIns="0" bIns="0" rtlCol="0" anchor="t"/>
          <a:lstStyle/>
          <a:p>
            <a:pPr algn="ctr" indent="0" marL="0">
              <a:lnSpc>
                <a:spcPct val="104000"/>
              </a:lnSpc>
              <a:buNone/>
            </a:pPr>
            <a:r>
              <a:rPr lang="en-US" sz="1000" b="1" dirty="0">
                <a:solidFill>
                  <a:srgbClr val="FFE14D"/>
                </a:solidFill>
                <a:latin typeface="Comfortaa Bold" pitchFamily="34" charset="0"/>
                <a:ea typeface="Comfortaa Bold" pitchFamily="34" charset="-122"/>
                <a:cs typeface="Comfortaa Bold" pitchFamily="34" charset="-120"/>
              </a:rPr>
              <a:t>Bookings</a:t>
            </a:r>
            <a:endParaRPr lang="en-US" sz="1000" dirty="0"/>
          </a:p>
        </p:txBody>
      </p:sp>
      <p:sp>
        <p:nvSpPr>
          <p:cNvPr id="10" name="Text 7"/>
          <p:cNvSpPr/>
          <p:nvPr/>
        </p:nvSpPr>
        <p:spPr>
          <a:xfrm>
            <a:off x="1318766" y="4402113"/>
            <a:ext cx="6506468" cy="429741"/>
          </a:xfrm>
          <a:prstGeom prst="rect">
            <a:avLst/>
          </a:prstGeom>
          <a:noFill/>
          <a:ln/>
        </p:spPr>
        <p:txBody>
          <a:bodyPr wrap="square" lIns="0" tIns="0" rIns="0" bIns="0" rtlCol="0" anchor="t">
            <a:normAutofit/>
          </a:bodyPr>
          <a:lstStyle/>
          <a:p>
            <a:pPr algn="l" indent="0" marL="0">
              <a:lnSpc>
                <a:spcPct val="113000"/>
              </a:lnSpc>
              <a:buNone/>
            </a:pPr>
            <a:r>
              <a:rPr lang="en-US" sz="800" dirty="0">
                <a:solidFill>
                  <a:srgbClr val="D7D4CC"/>
                </a:solidFill>
                <a:latin typeface="Raleway Medium" pitchFamily="34" charset="0"/>
                <a:ea typeface="Raleway Medium" pitchFamily="34" charset="-122"/>
                <a:cs typeface="Raleway Medium" pitchFamily="34" charset="-120"/>
              </a:rPr>
              <a:t>Each stage has a measurable conversion rate — Visitor to Registration (Signup Rate), Registration to Search (Activation Rate), Search to View (Engagement Rate), View to Inquiry (Interest Rate), Inquiry to Booking (Conversion Rate), Booking to Payment (Payment Success Rate) — enabling teams to identify and fix drop-off points.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5420" y="381967"/>
            <a:ext cx="555724" cy="237306"/>
          </a:xfrm>
          <a:prstGeom prst="roundRect">
            <a:avLst>
              <a:gd name="adj" fmla="val 67056"/>
            </a:avLst>
          </a:prstGeom>
          <a:solidFill>
            <a:srgbClr val="4D4000"/>
          </a:solidFill>
          <a:ln/>
        </p:spPr>
      </p:sp>
      <p:sp>
        <p:nvSpPr>
          <p:cNvPr id="3" name="Text 1"/>
          <p:cNvSpPr/>
          <p:nvPr/>
        </p:nvSpPr>
        <p:spPr>
          <a:xfrm>
            <a:off x="584969" y="421704"/>
            <a:ext cx="853827" cy="157832"/>
          </a:xfrm>
          <a:prstGeom prst="rect">
            <a:avLst/>
          </a:prstGeom>
          <a:noFill/>
          <a:ln/>
        </p:spPr>
        <p:txBody>
          <a:bodyPr wrap="none" lIns="0" tIns="0" rIns="0" bIns="0" rtlCol="0" anchor="t"/>
          <a:lstStyle/>
          <a:p>
            <a:pPr algn="l" indent="0" marL="0">
              <a:lnSpc>
                <a:spcPct val="124000"/>
              </a:lnSpc>
              <a:buNone/>
            </a:pPr>
            <a:r>
              <a:rPr lang="en-US" sz="800" dirty="0">
                <a:solidFill>
                  <a:srgbClr val="D7D4CC"/>
                </a:solidFill>
                <a:latin typeface="Raleway Medium" pitchFamily="34" charset="0"/>
                <a:ea typeface="Raleway Medium" pitchFamily="34" charset="-122"/>
                <a:cs typeface="Raleway Medium" pitchFamily="34" charset="-120"/>
              </a:rPr>
              <a:t>SUPPLY</a:t>
            </a:r>
            <a:endParaRPr lang="en-US" sz="800" dirty="0"/>
          </a:p>
        </p:txBody>
      </p:sp>
      <p:sp>
        <p:nvSpPr>
          <p:cNvPr id="4" name="Text 2"/>
          <p:cNvSpPr/>
          <p:nvPr/>
        </p:nvSpPr>
        <p:spPr>
          <a:xfrm>
            <a:off x="505420" y="664815"/>
            <a:ext cx="3403997" cy="368350"/>
          </a:xfrm>
          <a:prstGeom prst="rect">
            <a:avLst/>
          </a:prstGeom>
          <a:noFill/>
          <a:ln/>
        </p:spPr>
        <p:txBody>
          <a:bodyPr wrap="none" lIns="0" tIns="0" rIns="0" bIns="0" rtlCol="0" anchor="t"/>
          <a:lstStyle/>
          <a:p>
            <a:pPr algn="l" indent="0" marL="0">
              <a:lnSpc>
                <a:spcPct val="104000"/>
              </a:lnSpc>
              <a:buNone/>
            </a:pPr>
            <a:r>
              <a:rPr lang="en-US" sz="2300" b="1" dirty="0">
                <a:solidFill>
                  <a:srgbClr val="FFE14D"/>
                </a:solidFill>
                <a:latin typeface="Comfortaa Bold" pitchFamily="34" charset="0"/>
                <a:ea typeface="Comfortaa Bold" pitchFamily="34" charset="-122"/>
                <a:cs typeface="Comfortaa Bold" pitchFamily="34" charset="-120"/>
              </a:rPr>
              <a:t>Hostel KPI Tree</a:t>
            </a:r>
            <a:endParaRPr lang="en-US" sz="2300" dirty="0"/>
          </a:p>
        </p:txBody>
      </p:sp>
      <p:sp>
        <p:nvSpPr>
          <p:cNvPr id="5" name="Text 3"/>
          <p:cNvSpPr/>
          <p:nvPr/>
        </p:nvSpPr>
        <p:spPr>
          <a:xfrm>
            <a:off x="505420" y="1204094"/>
            <a:ext cx="8590359" cy="197197"/>
          </a:xfrm>
          <a:prstGeom prst="rect">
            <a:avLst/>
          </a:prstGeom>
          <a:noFill/>
          <a:ln/>
        </p:spPr>
        <p:txBody>
          <a:bodyPr wrap="none" lIns="0" tIns="0" rIns="0" bIns="0" rtlCol="0" anchor="t"/>
          <a:lstStyle/>
          <a:p>
            <a:pPr algn="l" indent="0" marL="0">
              <a:lnSpc>
                <a:spcPct val="124000"/>
              </a:lnSpc>
              <a:buNone/>
            </a:pPr>
            <a:r>
              <a:rPr lang="en-US" sz="1000" b="1" dirty="0">
                <a:solidFill>
                  <a:srgbClr val="D7D4CC"/>
                </a:solidFill>
                <a:latin typeface="Raleway Medium" pitchFamily="34" charset="0"/>
                <a:ea typeface="Raleway Medium" pitchFamily="34" charset="-122"/>
                <a:cs typeface="Raleway Medium" pitchFamily="34" charset="-120"/>
              </a:rPr>
              <a:t>Objective:</a:t>
            </a:r>
            <a:pPr algn="l" indent="0" marL="0">
              <a:lnSpc>
                <a:spcPct val="124000"/>
              </a:lnSpc>
              <a:buNone/>
            </a:pPr>
            <a:r>
              <a:rPr lang="en-US" sz="1000" dirty="0">
                <a:solidFill>
                  <a:srgbClr val="D7D4CC"/>
                </a:solidFill>
                <a:latin typeface="Raleway Medium" pitchFamily="34" charset="0"/>
                <a:ea typeface="Raleway Medium" pitchFamily="34" charset="-122"/>
                <a:cs typeface="Raleway Medium" pitchFamily="34" charset="-120"/>
              </a:rPr>
              <a:t> Increase hostel inventory, quality, and occupancy across the platform.</a:t>
            </a:r>
            <a:endParaRPr lang="en-US" sz="1000" dirty="0"/>
          </a:p>
        </p:txBody>
      </p:sp>
      <p:pic>
        <p:nvPicPr>
          <p:cNvPr id="6" name="Image 0" descr="preencoded.png">    </p:cNvPr>
          <p:cNvPicPr>
            <a:picLocks noChangeAspect="1"/>
          </p:cNvPicPr>
          <p:nvPr/>
        </p:nvPicPr>
        <p:blipFill>
          <a:blip r:embed="rId1"/>
          <a:stretch>
            <a:fillRect/>
          </a:stretch>
        </p:blipFill>
        <p:spPr>
          <a:xfrm>
            <a:off x="505420" y="1679749"/>
            <a:ext cx="5173266" cy="2931468"/>
          </a:xfrm>
          <a:prstGeom prst="rect">
            <a:avLst/>
          </a:prstGeom>
        </p:spPr>
      </p:pic>
      <p:sp>
        <p:nvSpPr>
          <p:cNvPr id="7" name="Text 4"/>
          <p:cNvSpPr/>
          <p:nvPr/>
        </p:nvSpPr>
        <p:spPr>
          <a:xfrm>
            <a:off x="6007001" y="1643360"/>
            <a:ext cx="1930598" cy="184175"/>
          </a:xfrm>
          <a:prstGeom prst="rect">
            <a:avLst/>
          </a:prstGeom>
          <a:noFill/>
          <a:ln/>
        </p:spPr>
        <p:txBody>
          <a:bodyPr wrap="none" lIns="0" tIns="0" rIns="0" bIns="0" rtlCol="0" anchor="t"/>
          <a:lstStyle/>
          <a:p>
            <a:pPr algn="l" indent="0" marL="0">
              <a:lnSpc>
                <a:spcPct val="104000"/>
              </a:lnSpc>
              <a:buNone/>
            </a:pPr>
            <a:r>
              <a:rPr lang="en-US" sz="1150" b="1" dirty="0">
                <a:solidFill>
                  <a:srgbClr val="FFE14D"/>
                </a:solidFill>
                <a:latin typeface="Comfortaa Bold" pitchFamily="34" charset="0"/>
                <a:ea typeface="Comfortaa Bold" pitchFamily="34" charset="-122"/>
                <a:cs typeface="Comfortaa Bold" pitchFamily="34" charset="-120"/>
              </a:rPr>
              <a:t>Hostel Growth</a:t>
            </a:r>
            <a:endParaRPr lang="en-US" sz="1150" dirty="0"/>
          </a:p>
        </p:txBody>
      </p:sp>
      <p:sp>
        <p:nvSpPr>
          <p:cNvPr id="8" name="Text 5"/>
          <p:cNvSpPr/>
          <p:nvPr/>
        </p:nvSpPr>
        <p:spPr>
          <a:xfrm>
            <a:off x="6007001" y="1941463"/>
            <a:ext cx="2636267" cy="671215"/>
          </a:xfrm>
          <a:prstGeom prst="rect">
            <a:avLst/>
          </a:prstGeom>
          <a:noFill/>
          <a:ln/>
        </p:spPr>
        <p:txBody>
          <a:bodyPr wrap="square" lIns="0" tIns="0" rIns="0" bIns="0" rtlCol="0" anchor="t">
            <a:normAutofit/>
          </a:bodyPr>
          <a:lstStyle/>
          <a:p>
            <a:pPr algn="l" marL="342900" indent="-342900">
              <a:lnSpc>
                <a:spcPct val="124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Total, Verified, and Active Hostels</a:t>
            </a:r>
            <a:endParaRPr lang="en-US" sz="1000" dirty="0"/>
          </a:p>
          <a:p>
            <a:pPr algn="l" marL="342900" indent="-342900">
              <a:lnSpc>
                <a:spcPct val="124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Occupied Beds and Vacancy Rate</a:t>
            </a:r>
            <a:endParaRPr lang="en-US" sz="1000" dirty="0"/>
          </a:p>
          <a:p>
            <a:pPr algn="l" marL="342900" indent="-342900">
              <a:lnSpc>
                <a:spcPct val="124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Average Hostel Rating</a:t>
            </a:r>
            <a:endParaRPr lang="en-US" sz="1000" dirty="0"/>
          </a:p>
        </p:txBody>
      </p:sp>
      <p:sp>
        <p:nvSpPr>
          <p:cNvPr id="9" name="Text 6"/>
          <p:cNvSpPr/>
          <p:nvPr/>
        </p:nvSpPr>
        <p:spPr>
          <a:xfrm>
            <a:off x="6007001" y="2726606"/>
            <a:ext cx="1930598" cy="184175"/>
          </a:xfrm>
          <a:prstGeom prst="rect">
            <a:avLst/>
          </a:prstGeom>
          <a:noFill/>
          <a:ln/>
        </p:spPr>
        <p:txBody>
          <a:bodyPr wrap="none" lIns="0" tIns="0" rIns="0" bIns="0" rtlCol="0" anchor="t"/>
          <a:lstStyle/>
          <a:p>
            <a:pPr algn="l" indent="0" marL="0">
              <a:lnSpc>
                <a:spcPct val="104000"/>
              </a:lnSpc>
              <a:buNone/>
            </a:pPr>
            <a:r>
              <a:rPr lang="en-US" sz="1150" b="1" dirty="0">
                <a:solidFill>
                  <a:srgbClr val="FFE14D"/>
                </a:solidFill>
                <a:latin typeface="Comfortaa Bold" pitchFamily="34" charset="0"/>
                <a:ea typeface="Comfortaa Bold" pitchFamily="34" charset="-122"/>
                <a:cs typeface="Comfortaa Bold" pitchFamily="34" charset="-120"/>
              </a:rPr>
              <a:t>Key KPIs</a:t>
            </a:r>
            <a:endParaRPr lang="en-US" sz="1150" dirty="0"/>
          </a:p>
        </p:txBody>
      </p:sp>
      <p:sp>
        <p:nvSpPr>
          <p:cNvPr id="10" name="Text 7"/>
          <p:cNvSpPr/>
          <p:nvPr/>
        </p:nvSpPr>
        <p:spPr>
          <a:xfrm>
            <a:off x="6007001" y="3024708"/>
            <a:ext cx="2636267" cy="1697013"/>
          </a:xfrm>
          <a:prstGeom prst="rect">
            <a:avLst/>
          </a:prstGeom>
          <a:noFill/>
          <a:ln/>
        </p:spPr>
        <p:txBody>
          <a:bodyPr wrap="square" lIns="0" tIns="0" rIns="0" bIns="0" rtlCol="0" anchor="t">
            <a:normAutofit/>
          </a:bodyPr>
          <a:lstStyle/>
          <a:p>
            <a:pPr algn="l" marL="342900" indent="-342900">
              <a:lnSpc>
                <a:spcPct val="124000"/>
              </a:lnSpc>
              <a:buSzPct val="100000"/>
              <a:buChar char="•"/>
            </a:pPr>
            <a:r>
              <a:rPr lang="en-US" sz="1000" b="1" dirty="0">
                <a:solidFill>
                  <a:srgbClr val="D7D4CC"/>
                </a:solidFill>
                <a:latin typeface="Raleway Medium" pitchFamily="34" charset="0"/>
                <a:ea typeface="Raleway Medium" pitchFamily="34" charset="-122"/>
                <a:cs typeface="Raleway Medium" pitchFamily="34" charset="-120"/>
              </a:rPr>
              <a:t>Occupancy Rate</a:t>
            </a:r>
            <a:pPr algn="l" marL="342900" indent="-342900">
              <a:lnSpc>
                <a:spcPct val="124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 — Beds filled vs. total capacity</a:t>
            </a:r>
            <a:endParaRPr lang="en-US" sz="1000" dirty="0"/>
          </a:p>
          <a:p>
            <a:pPr algn="l" marL="342900" indent="-342900">
              <a:lnSpc>
                <a:spcPct val="124000"/>
              </a:lnSpc>
              <a:buSzPct val="100000"/>
              <a:buChar char="•"/>
            </a:pPr>
            <a:r>
              <a:rPr lang="en-US" sz="1000" b="1" dirty="0">
                <a:solidFill>
                  <a:srgbClr val="D7D4CC"/>
                </a:solidFill>
                <a:latin typeface="Raleway Medium" pitchFamily="34" charset="0"/>
                <a:ea typeface="Raleway Medium" pitchFamily="34" charset="-122"/>
                <a:cs typeface="Raleway Medium" pitchFamily="34" charset="-120"/>
              </a:rPr>
              <a:t>Vacancy Rate</a:t>
            </a:r>
            <a:pPr algn="l" marL="342900" indent="-342900">
              <a:lnSpc>
                <a:spcPct val="124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 — Unfilled inventory signal</a:t>
            </a:r>
            <a:endParaRPr lang="en-US" sz="1000" dirty="0"/>
          </a:p>
          <a:p>
            <a:pPr algn="l" marL="342900" indent="-342900">
              <a:lnSpc>
                <a:spcPct val="124000"/>
              </a:lnSpc>
              <a:buSzPct val="100000"/>
              <a:buChar char="•"/>
            </a:pPr>
            <a:r>
              <a:rPr lang="en-US" sz="1000" b="1" dirty="0">
                <a:solidFill>
                  <a:srgbClr val="D7D4CC"/>
                </a:solidFill>
                <a:latin typeface="Raleway Medium" pitchFamily="34" charset="0"/>
                <a:ea typeface="Raleway Medium" pitchFamily="34" charset="-122"/>
                <a:cs typeface="Raleway Medium" pitchFamily="34" charset="-120"/>
              </a:rPr>
              <a:t>Active Listings</a:t>
            </a:r>
            <a:pPr algn="l" marL="342900" indent="-342900">
              <a:lnSpc>
                <a:spcPct val="124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 — Live, bookable inventory</a:t>
            </a:r>
            <a:endParaRPr lang="en-US" sz="1000" dirty="0"/>
          </a:p>
          <a:p>
            <a:pPr algn="l" marL="342900" indent="-342900">
              <a:lnSpc>
                <a:spcPct val="124000"/>
              </a:lnSpc>
              <a:buSzPct val="100000"/>
              <a:buChar char="•"/>
            </a:pPr>
            <a:r>
              <a:rPr lang="en-US" sz="1000" b="1" dirty="0">
                <a:solidFill>
                  <a:srgbClr val="D7D4CC"/>
                </a:solidFill>
                <a:latin typeface="Raleway Medium" pitchFamily="34" charset="0"/>
                <a:ea typeface="Raleway Medium" pitchFamily="34" charset="-122"/>
                <a:cs typeface="Raleway Medium" pitchFamily="34" charset="-120"/>
              </a:rPr>
              <a:t>Average Rating</a:t>
            </a:r>
            <a:pPr algn="l" marL="342900" indent="-342900">
              <a:lnSpc>
                <a:spcPct val="124000"/>
              </a:lnSpc>
              <a:buSzPct val="100000"/>
              <a:buChar char="•"/>
            </a:pPr>
            <a:r>
              <a:rPr lang="en-US" sz="1000" dirty="0">
                <a:solidFill>
                  <a:srgbClr val="D7D4CC"/>
                </a:solidFill>
                <a:latin typeface="Raleway Medium" pitchFamily="34" charset="0"/>
                <a:ea typeface="Raleway Medium" pitchFamily="34" charset="-122"/>
                <a:cs typeface="Raleway Medium" pitchFamily="34" charset="-120"/>
              </a:rPr>
              <a:t> — Quality and trust indicator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096938" y="351086"/>
            <a:ext cx="663253" cy="193551"/>
          </a:xfrm>
          <a:prstGeom prst="roundRect">
            <a:avLst>
              <a:gd name="adj" fmla="val 70256"/>
            </a:avLst>
          </a:prstGeom>
          <a:solidFill>
            <a:srgbClr val="4D4000"/>
          </a:solidFill>
          <a:ln/>
        </p:spPr>
      </p:sp>
      <p:sp>
        <p:nvSpPr>
          <p:cNvPr id="3" name="Text 1"/>
          <p:cNvSpPr/>
          <p:nvPr/>
        </p:nvSpPr>
        <p:spPr>
          <a:xfrm>
            <a:off x="1164878" y="385018"/>
            <a:ext cx="984572" cy="125685"/>
          </a:xfrm>
          <a:prstGeom prst="rect">
            <a:avLst/>
          </a:prstGeom>
          <a:noFill/>
          <a:ln/>
        </p:spPr>
        <p:txBody>
          <a:bodyPr wrap="none" lIns="0" tIns="0" rIns="0" bIns="0" rtlCol="0" anchor="t"/>
          <a:lstStyle/>
          <a:p>
            <a:pPr algn="l" indent="0" marL="0">
              <a:lnSpc>
                <a:spcPct val="116000"/>
              </a:lnSpc>
              <a:buNone/>
            </a:pPr>
            <a:r>
              <a:rPr lang="en-US" sz="700" dirty="0">
                <a:solidFill>
                  <a:srgbClr val="D7D4CC"/>
                </a:solidFill>
                <a:latin typeface="Raleway Medium" pitchFamily="34" charset="0"/>
                <a:ea typeface="Raleway Medium" pitchFamily="34" charset="-122"/>
                <a:cs typeface="Raleway Medium" pitchFamily="34" charset="-120"/>
              </a:rPr>
              <a:t>MARKETING</a:t>
            </a:r>
            <a:endParaRPr lang="en-US" sz="700" dirty="0"/>
          </a:p>
        </p:txBody>
      </p:sp>
      <p:sp>
        <p:nvSpPr>
          <p:cNvPr id="4" name="Text 2"/>
          <p:cNvSpPr/>
          <p:nvPr/>
        </p:nvSpPr>
        <p:spPr>
          <a:xfrm>
            <a:off x="1096938" y="577900"/>
            <a:ext cx="2975372" cy="314771"/>
          </a:xfrm>
          <a:prstGeom prst="rect">
            <a:avLst/>
          </a:prstGeom>
          <a:noFill/>
          <a:ln/>
        </p:spPr>
        <p:txBody>
          <a:bodyPr wrap="none" lIns="0" tIns="0" rIns="0" bIns="0" rtlCol="0" anchor="t"/>
          <a:lstStyle/>
          <a:p>
            <a:pPr algn="l" indent="0" marL="0">
              <a:lnSpc>
                <a:spcPct val="104000"/>
              </a:lnSpc>
              <a:buNone/>
            </a:pPr>
            <a:r>
              <a:rPr lang="en-US" sz="1950" b="1" dirty="0">
                <a:solidFill>
                  <a:srgbClr val="FFE14D"/>
                </a:solidFill>
                <a:latin typeface="Comfortaa Bold" pitchFamily="34" charset="0"/>
                <a:ea typeface="Comfortaa Bold" pitchFamily="34" charset="-122"/>
                <a:cs typeface="Comfortaa Bold" pitchFamily="34" charset="-120"/>
              </a:rPr>
              <a:t>Marketing KPI Tree</a:t>
            </a:r>
            <a:endParaRPr lang="en-US" sz="1950" dirty="0"/>
          </a:p>
        </p:txBody>
      </p:sp>
      <p:sp>
        <p:nvSpPr>
          <p:cNvPr id="5" name="Text 3"/>
          <p:cNvSpPr/>
          <p:nvPr/>
        </p:nvSpPr>
        <p:spPr>
          <a:xfrm>
            <a:off x="1096938" y="1017463"/>
            <a:ext cx="7407325" cy="157237"/>
          </a:xfrm>
          <a:prstGeom prst="rect">
            <a:avLst/>
          </a:prstGeom>
          <a:noFill/>
          <a:ln/>
        </p:spPr>
        <p:txBody>
          <a:bodyPr wrap="none" lIns="0" tIns="0" rIns="0" bIns="0" rtlCol="0" anchor="t"/>
          <a:lstStyle/>
          <a:p>
            <a:pPr algn="l" indent="0" marL="0">
              <a:lnSpc>
                <a:spcPct val="116000"/>
              </a:lnSpc>
              <a:buNone/>
            </a:pPr>
            <a:r>
              <a:rPr lang="en-US" sz="850" b="1" dirty="0">
                <a:solidFill>
                  <a:srgbClr val="D7D4CC"/>
                </a:solidFill>
                <a:latin typeface="Raleway Medium" pitchFamily="34" charset="0"/>
                <a:ea typeface="Raleway Medium" pitchFamily="34" charset="-122"/>
                <a:cs typeface="Raleway Medium" pitchFamily="34" charset="-120"/>
              </a:rPr>
              <a:t>Objective:</a:t>
            </a:r>
            <a:pPr algn="l" indent="0" marL="0">
              <a:lnSpc>
                <a:spcPct val="116000"/>
              </a:lnSpc>
              <a:buNone/>
            </a:pPr>
            <a:r>
              <a:rPr lang="en-US" sz="850" dirty="0">
                <a:solidFill>
                  <a:srgbClr val="D7D4CC"/>
                </a:solidFill>
                <a:latin typeface="Raleway Medium" pitchFamily="34" charset="0"/>
                <a:ea typeface="Raleway Medium" pitchFamily="34" charset="-122"/>
                <a:cs typeface="Raleway Medium" pitchFamily="34" charset="-120"/>
              </a:rPr>
              <a:t> Acquire students efficiently — balancing cost, volume, and quality of acquisition channels.</a:t>
            </a:r>
            <a:endParaRPr lang="en-US" sz="850" dirty="0"/>
          </a:p>
        </p:txBody>
      </p:sp>
      <p:pic>
        <p:nvPicPr>
          <p:cNvPr id="6" name="Image 0" descr="preencoded.png">    </p:cNvPr>
          <p:cNvPicPr>
            <a:picLocks noChangeAspect="1"/>
          </p:cNvPicPr>
          <p:nvPr/>
        </p:nvPicPr>
        <p:blipFill>
          <a:blip r:embed="rId1"/>
          <a:stretch>
            <a:fillRect/>
          </a:stretch>
        </p:blipFill>
        <p:spPr>
          <a:xfrm>
            <a:off x="1096938" y="1361926"/>
            <a:ext cx="3336875" cy="3336875"/>
          </a:xfrm>
          <a:prstGeom prst="rect">
            <a:avLst/>
          </a:prstGeom>
        </p:spPr>
      </p:pic>
      <p:sp>
        <p:nvSpPr>
          <p:cNvPr id="7" name="Text 4"/>
          <p:cNvSpPr/>
          <p:nvPr/>
        </p:nvSpPr>
        <p:spPr>
          <a:xfrm>
            <a:off x="4714949" y="2578968"/>
            <a:ext cx="1716286" cy="157386"/>
          </a:xfrm>
          <a:prstGeom prst="rect">
            <a:avLst/>
          </a:prstGeom>
          <a:noFill/>
          <a:ln/>
        </p:spPr>
        <p:txBody>
          <a:bodyPr wrap="none" lIns="0" tIns="0" rIns="0" bIns="0" rtlCol="0" anchor="t"/>
          <a:lstStyle/>
          <a:p>
            <a:pPr algn="l" indent="0" marL="0">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Key KPIs</a:t>
            </a:r>
            <a:endParaRPr lang="en-US" sz="950" dirty="0"/>
          </a:p>
        </p:txBody>
      </p:sp>
      <p:sp>
        <p:nvSpPr>
          <p:cNvPr id="8" name="Text 5"/>
          <p:cNvSpPr/>
          <p:nvPr/>
        </p:nvSpPr>
        <p:spPr>
          <a:xfrm>
            <a:off x="4714949" y="2819549"/>
            <a:ext cx="3336875" cy="716235"/>
          </a:xfrm>
          <a:prstGeom prst="rect">
            <a:avLst/>
          </a:prstGeom>
          <a:noFill/>
          <a:ln/>
        </p:spPr>
        <p:txBody>
          <a:bodyPr wrap="square" lIns="0" tIns="0" rIns="0" bIns="0" rtlCol="0" anchor="t">
            <a:normAutofit/>
          </a:bodyPr>
          <a:lstStyle/>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CAC</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Customer Acquisition Cost</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Cost Per Lead</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Efficiency of lead generation</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Campaign ROI</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Return on marketing spend</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Referral Share %</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Organic growth contribution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096938" y="351086"/>
            <a:ext cx="782464" cy="193551"/>
          </a:xfrm>
          <a:prstGeom prst="roundRect">
            <a:avLst>
              <a:gd name="adj" fmla="val 70256"/>
            </a:avLst>
          </a:prstGeom>
          <a:solidFill>
            <a:srgbClr val="4D4000"/>
          </a:solidFill>
          <a:ln/>
        </p:spPr>
      </p:sp>
      <p:sp>
        <p:nvSpPr>
          <p:cNvPr id="3" name="Text 1"/>
          <p:cNvSpPr/>
          <p:nvPr/>
        </p:nvSpPr>
        <p:spPr>
          <a:xfrm>
            <a:off x="1164878" y="385018"/>
            <a:ext cx="1103784" cy="125685"/>
          </a:xfrm>
          <a:prstGeom prst="rect">
            <a:avLst/>
          </a:prstGeom>
          <a:noFill/>
          <a:ln/>
        </p:spPr>
        <p:txBody>
          <a:bodyPr wrap="none" lIns="0" tIns="0" rIns="0" bIns="0" rtlCol="0" anchor="t"/>
          <a:lstStyle/>
          <a:p>
            <a:pPr algn="l" indent="0" marL="0">
              <a:lnSpc>
                <a:spcPct val="116000"/>
              </a:lnSpc>
              <a:buNone/>
            </a:pPr>
            <a:r>
              <a:rPr lang="en-US" sz="700" dirty="0">
                <a:solidFill>
                  <a:srgbClr val="D7D4CC"/>
                </a:solidFill>
                <a:latin typeface="Raleway Medium" pitchFamily="34" charset="0"/>
                <a:ea typeface="Raleway Medium" pitchFamily="34" charset="-122"/>
                <a:cs typeface="Raleway Medium" pitchFamily="34" charset="-120"/>
              </a:rPr>
              <a:t>PROFITABILITY</a:t>
            </a:r>
            <a:endParaRPr lang="en-US" sz="700" dirty="0"/>
          </a:p>
        </p:txBody>
      </p:sp>
      <p:sp>
        <p:nvSpPr>
          <p:cNvPr id="4" name="Text 2"/>
          <p:cNvSpPr/>
          <p:nvPr/>
        </p:nvSpPr>
        <p:spPr>
          <a:xfrm>
            <a:off x="1096938" y="577900"/>
            <a:ext cx="3076575" cy="314771"/>
          </a:xfrm>
          <a:prstGeom prst="rect">
            <a:avLst/>
          </a:prstGeom>
          <a:noFill/>
          <a:ln/>
        </p:spPr>
        <p:txBody>
          <a:bodyPr wrap="none" lIns="0" tIns="0" rIns="0" bIns="0" rtlCol="0" anchor="t"/>
          <a:lstStyle/>
          <a:p>
            <a:pPr algn="l" indent="0" marL="0">
              <a:lnSpc>
                <a:spcPct val="104000"/>
              </a:lnSpc>
              <a:buNone/>
            </a:pPr>
            <a:r>
              <a:rPr lang="en-US" sz="1950" b="1" dirty="0">
                <a:solidFill>
                  <a:srgbClr val="FFE14D"/>
                </a:solidFill>
                <a:latin typeface="Comfortaa Bold" pitchFamily="34" charset="0"/>
                <a:ea typeface="Comfortaa Bold" pitchFamily="34" charset="-122"/>
                <a:cs typeface="Comfortaa Bold" pitchFamily="34" charset="-120"/>
              </a:rPr>
              <a:t>Profitability KPI Tree</a:t>
            </a:r>
            <a:endParaRPr lang="en-US" sz="1950" dirty="0"/>
          </a:p>
        </p:txBody>
      </p:sp>
      <p:sp>
        <p:nvSpPr>
          <p:cNvPr id="5" name="Text 3"/>
          <p:cNvSpPr/>
          <p:nvPr/>
        </p:nvSpPr>
        <p:spPr>
          <a:xfrm>
            <a:off x="1096938" y="1017463"/>
            <a:ext cx="7407325" cy="157237"/>
          </a:xfrm>
          <a:prstGeom prst="rect">
            <a:avLst/>
          </a:prstGeom>
          <a:noFill/>
          <a:ln/>
        </p:spPr>
        <p:txBody>
          <a:bodyPr wrap="none" lIns="0" tIns="0" rIns="0" bIns="0" rtlCol="0" anchor="t"/>
          <a:lstStyle/>
          <a:p>
            <a:pPr algn="l" indent="0" marL="0">
              <a:lnSpc>
                <a:spcPct val="116000"/>
              </a:lnSpc>
              <a:buNone/>
            </a:pPr>
            <a:r>
              <a:rPr lang="en-US" sz="850" b="1" dirty="0">
                <a:solidFill>
                  <a:srgbClr val="D7D4CC"/>
                </a:solidFill>
                <a:latin typeface="Raleway Medium" pitchFamily="34" charset="0"/>
                <a:ea typeface="Raleway Medium" pitchFamily="34" charset="-122"/>
                <a:cs typeface="Raleway Medium" pitchFamily="34" charset="-120"/>
              </a:rPr>
              <a:t>Objective:</a:t>
            </a:r>
            <a:pPr algn="l" indent="0" marL="0">
              <a:lnSpc>
                <a:spcPct val="116000"/>
              </a:lnSpc>
              <a:buNone/>
            </a:pPr>
            <a:r>
              <a:rPr lang="en-US" sz="850" dirty="0">
                <a:solidFill>
                  <a:srgbClr val="D7D4CC"/>
                </a:solidFill>
                <a:latin typeface="Raleway Medium" pitchFamily="34" charset="0"/>
                <a:ea typeface="Raleway Medium" pitchFamily="34" charset="-122"/>
                <a:cs typeface="Raleway Medium" pitchFamily="34" charset="-120"/>
              </a:rPr>
              <a:t> Build a profitable, scalable business model — tracking every dollar from revenue to net margin.</a:t>
            </a:r>
            <a:endParaRPr lang="en-US" sz="850" dirty="0"/>
          </a:p>
        </p:txBody>
      </p:sp>
      <p:pic>
        <p:nvPicPr>
          <p:cNvPr id="6" name="Image 0" descr="preencoded.png">    </p:cNvPr>
          <p:cNvPicPr>
            <a:picLocks noChangeAspect="1"/>
          </p:cNvPicPr>
          <p:nvPr/>
        </p:nvPicPr>
        <p:blipFill>
          <a:blip r:embed="rId1"/>
          <a:stretch>
            <a:fillRect/>
          </a:stretch>
        </p:blipFill>
        <p:spPr>
          <a:xfrm>
            <a:off x="1096938" y="1361926"/>
            <a:ext cx="3336875" cy="3336875"/>
          </a:xfrm>
          <a:prstGeom prst="rect">
            <a:avLst/>
          </a:prstGeom>
        </p:spPr>
      </p:pic>
      <p:sp>
        <p:nvSpPr>
          <p:cNvPr id="7" name="Text 4"/>
          <p:cNvSpPr/>
          <p:nvPr/>
        </p:nvSpPr>
        <p:spPr>
          <a:xfrm>
            <a:off x="4714949" y="2485802"/>
            <a:ext cx="1716286" cy="157386"/>
          </a:xfrm>
          <a:prstGeom prst="rect">
            <a:avLst/>
          </a:prstGeom>
          <a:noFill/>
          <a:ln/>
        </p:spPr>
        <p:txBody>
          <a:bodyPr wrap="none" lIns="0" tIns="0" rIns="0" bIns="0" rtlCol="0" anchor="t"/>
          <a:lstStyle/>
          <a:p>
            <a:pPr algn="l" indent="0" marL="0">
              <a:lnSpc>
                <a:spcPct val="104000"/>
              </a:lnSpc>
              <a:buNone/>
            </a:pPr>
            <a:r>
              <a:rPr lang="en-US" sz="950" b="1" dirty="0">
                <a:solidFill>
                  <a:srgbClr val="FFE14D"/>
                </a:solidFill>
                <a:latin typeface="Comfortaa Bold" pitchFamily="34" charset="0"/>
                <a:ea typeface="Comfortaa Bold" pitchFamily="34" charset="-122"/>
                <a:cs typeface="Comfortaa Bold" pitchFamily="34" charset="-120"/>
              </a:rPr>
              <a:t>Key KPIs</a:t>
            </a:r>
            <a:endParaRPr lang="en-US" sz="950" dirty="0"/>
          </a:p>
        </p:txBody>
      </p:sp>
      <p:sp>
        <p:nvSpPr>
          <p:cNvPr id="8" name="Text 5"/>
          <p:cNvSpPr/>
          <p:nvPr/>
        </p:nvSpPr>
        <p:spPr>
          <a:xfrm>
            <a:off x="4714949" y="2726382"/>
            <a:ext cx="3336875" cy="902568"/>
          </a:xfrm>
          <a:prstGeom prst="rect">
            <a:avLst/>
          </a:prstGeom>
          <a:noFill/>
          <a:ln/>
        </p:spPr>
        <p:txBody>
          <a:bodyPr wrap="square" lIns="0" tIns="0" rIns="0" bIns="0" rtlCol="0" anchor="t">
            <a:normAutofit/>
          </a:bodyPr>
          <a:lstStyle/>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Gross Profit</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Revenue minus direct costs</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Net Profit</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After all operating expenses</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Gross Margin %</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Efficiency of core operations</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Net Margin %</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Overall business profitability</a:t>
            </a:r>
            <a:endParaRPr lang="en-US" sz="850" dirty="0"/>
          </a:p>
          <a:p>
            <a:pPr algn="l" marL="342900" indent="-342900">
              <a:lnSpc>
                <a:spcPct val="116000"/>
              </a:lnSpc>
              <a:buSzPct val="100000"/>
              <a:buChar char="•"/>
            </a:pPr>
            <a:r>
              <a:rPr lang="en-US" sz="850" b="1" dirty="0">
                <a:solidFill>
                  <a:srgbClr val="D7D4CC"/>
                </a:solidFill>
                <a:latin typeface="Raleway Medium" pitchFamily="34" charset="0"/>
                <a:ea typeface="Raleway Medium" pitchFamily="34" charset="-122"/>
                <a:cs typeface="Raleway Medium" pitchFamily="34" charset="-120"/>
              </a:rPr>
              <a:t>Break-even Point</a:t>
            </a:r>
            <a:pPr algn="l" marL="342900" indent="-342900">
              <a:lnSpc>
                <a:spcPct val="116000"/>
              </a:lnSpc>
              <a:buSzPct val="100000"/>
              <a:buChar char="•"/>
            </a:pPr>
            <a:r>
              <a:rPr lang="en-US" sz="850" dirty="0">
                <a:solidFill>
                  <a:srgbClr val="D7D4CC"/>
                </a:solidFill>
                <a:latin typeface="Raleway Medium" pitchFamily="34" charset="0"/>
                <a:ea typeface="Raleway Medium" pitchFamily="34" charset="-122"/>
                <a:cs typeface="Raleway Medium" pitchFamily="34" charset="-120"/>
              </a:rPr>
              <a:t> — Revenue threshold for profitability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72529" y="372591"/>
            <a:ext cx="1090315" cy="243036"/>
          </a:xfrm>
          <a:prstGeom prst="roundRect">
            <a:avLst>
              <a:gd name="adj" fmla="val 66665"/>
            </a:avLst>
          </a:prstGeom>
          <a:solidFill>
            <a:srgbClr val="4D4000"/>
          </a:solidFill>
          <a:ln/>
        </p:spPr>
      </p:sp>
      <p:sp>
        <p:nvSpPr>
          <p:cNvPr id="3" name="Text 1"/>
          <p:cNvSpPr/>
          <p:nvPr/>
        </p:nvSpPr>
        <p:spPr>
          <a:xfrm>
            <a:off x="553492" y="413072"/>
            <a:ext cx="1385590" cy="162074"/>
          </a:xfrm>
          <a:prstGeom prst="rect">
            <a:avLst/>
          </a:prstGeom>
          <a:noFill/>
          <a:ln/>
        </p:spPr>
        <p:txBody>
          <a:bodyPr wrap="none" lIns="0" tIns="0" rIns="0" bIns="0" rtlCol="0" anchor="t"/>
          <a:lstStyle/>
          <a:p>
            <a:pPr algn="l" indent="0" marL="0">
              <a:lnSpc>
                <a:spcPct val="125000"/>
              </a:lnSpc>
              <a:buNone/>
            </a:pPr>
            <a:r>
              <a:rPr lang="en-US" sz="850" dirty="0">
                <a:solidFill>
                  <a:srgbClr val="D7D4CC"/>
                </a:solidFill>
                <a:latin typeface="Raleway Medium" pitchFamily="34" charset="0"/>
                <a:ea typeface="Raleway Medium" pitchFamily="34" charset="-122"/>
                <a:cs typeface="Raleway Medium" pitchFamily="34" charset="-120"/>
              </a:rPr>
              <a:t>OWNER SUCCESS</a:t>
            </a:r>
            <a:endParaRPr lang="en-US" sz="850" dirty="0"/>
          </a:p>
        </p:txBody>
      </p:sp>
      <p:sp>
        <p:nvSpPr>
          <p:cNvPr id="4" name="Text 2"/>
          <p:cNvSpPr/>
          <p:nvPr/>
        </p:nvSpPr>
        <p:spPr>
          <a:xfrm>
            <a:off x="472529" y="662880"/>
            <a:ext cx="4171429" cy="375047"/>
          </a:xfrm>
          <a:prstGeom prst="rect">
            <a:avLst/>
          </a:prstGeom>
          <a:noFill/>
          <a:ln/>
        </p:spPr>
        <p:txBody>
          <a:bodyPr wrap="none" lIns="0" tIns="0" rIns="0" bIns="0" rtlCol="0" anchor="t"/>
          <a:lstStyle/>
          <a:p>
            <a:pPr algn="l" indent="0" marL="0">
              <a:lnSpc>
                <a:spcPct val="104000"/>
              </a:lnSpc>
              <a:buNone/>
            </a:pPr>
            <a:r>
              <a:rPr lang="en-US" sz="2350" b="1" dirty="0">
                <a:solidFill>
                  <a:srgbClr val="FFE14D"/>
                </a:solidFill>
                <a:latin typeface="Comfortaa Bold" pitchFamily="34" charset="0"/>
                <a:ea typeface="Comfortaa Bold" pitchFamily="34" charset="-122"/>
                <a:cs typeface="Comfortaa Bold" pitchFamily="34" charset="-120"/>
              </a:rPr>
              <a:t>Owner Success KPI Tree</a:t>
            </a:r>
            <a:endParaRPr lang="en-US" sz="2350" dirty="0"/>
          </a:p>
        </p:txBody>
      </p:sp>
      <p:sp>
        <p:nvSpPr>
          <p:cNvPr id="5" name="Text 3"/>
          <p:cNvSpPr/>
          <p:nvPr/>
        </p:nvSpPr>
        <p:spPr>
          <a:xfrm>
            <a:off x="472529" y="1215107"/>
            <a:ext cx="8656141" cy="202481"/>
          </a:xfrm>
          <a:prstGeom prst="rect">
            <a:avLst/>
          </a:prstGeom>
          <a:noFill/>
          <a:ln/>
        </p:spPr>
        <p:txBody>
          <a:bodyPr wrap="none" lIns="0" tIns="0" rIns="0" bIns="0" rtlCol="0" anchor="t"/>
          <a:lstStyle/>
          <a:p>
            <a:pPr algn="l" indent="0" marL="0">
              <a:lnSpc>
                <a:spcPct val="125000"/>
              </a:lnSpc>
              <a:buNone/>
            </a:pPr>
            <a:r>
              <a:rPr lang="en-US" sz="1050" b="1" dirty="0">
                <a:solidFill>
                  <a:srgbClr val="D7D4CC"/>
                </a:solidFill>
                <a:latin typeface="Raleway Medium" pitchFamily="34" charset="0"/>
                <a:ea typeface="Raleway Medium" pitchFamily="34" charset="-122"/>
                <a:cs typeface="Raleway Medium" pitchFamily="34" charset="-120"/>
              </a:rPr>
              <a:t>Objective:</a:t>
            </a:r>
            <a:pPr algn="l" indent="0" marL="0">
              <a:lnSpc>
                <a:spcPct val="125000"/>
              </a:lnSpc>
              <a:buNone/>
            </a:pPr>
            <a:r>
              <a:rPr lang="en-US" sz="1050" dirty="0">
                <a:solidFill>
                  <a:srgbClr val="D7D4CC"/>
                </a:solidFill>
                <a:latin typeface="Raleway Medium" pitchFamily="34" charset="0"/>
                <a:ea typeface="Raleway Medium" pitchFamily="34" charset="-122"/>
                <a:cs typeface="Raleway Medium" pitchFamily="34" charset="-120"/>
              </a:rPr>
              <a:t> Improve hostel owner retention and satisfaction — because a thriving supply side drives platform growth.</a:t>
            </a:r>
            <a:endParaRPr lang="en-US" sz="1050" dirty="0"/>
          </a:p>
        </p:txBody>
      </p:sp>
      <p:pic>
        <p:nvPicPr>
          <p:cNvPr id="6" name="Image 0" descr="preencoded.png">    </p:cNvPr>
          <p:cNvPicPr>
            <a:picLocks noChangeAspect="1"/>
          </p:cNvPicPr>
          <p:nvPr/>
        </p:nvPicPr>
        <p:blipFill>
          <a:blip r:embed="rId1"/>
          <a:stretch>
            <a:fillRect/>
          </a:stretch>
        </p:blipFill>
        <p:spPr>
          <a:xfrm>
            <a:off x="472529" y="1683395"/>
            <a:ext cx="5213970" cy="2954536"/>
          </a:xfrm>
          <a:prstGeom prst="rect">
            <a:avLst/>
          </a:prstGeom>
        </p:spPr>
      </p:pic>
      <p:sp>
        <p:nvSpPr>
          <p:cNvPr id="7" name="Text 4"/>
          <p:cNvSpPr/>
          <p:nvPr/>
        </p:nvSpPr>
        <p:spPr>
          <a:xfrm>
            <a:off x="6020619" y="1930598"/>
            <a:ext cx="2028230" cy="187523"/>
          </a:xfrm>
          <a:prstGeom prst="rect">
            <a:avLst/>
          </a:prstGeom>
          <a:noFill/>
          <a:ln/>
        </p:spPr>
        <p:txBody>
          <a:bodyPr wrap="none" lIns="0" tIns="0" rIns="0" bIns="0" rtlCol="0" anchor="t"/>
          <a:lstStyle/>
          <a:p>
            <a:pPr algn="l" indent="0" marL="0">
              <a:lnSpc>
                <a:spcPct val="104000"/>
              </a:lnSpc>
              <a:buNone/>
            </a:pPr>
            <a:r>
              <a:rPr lang="en-US" sz="1150" b="1" dirty="0">
                <a:solidFill>
                  <a:srgbClr val="FFE14D"/>
                </a:solidFill>
                <a:latin typeface="Comfortaa Bold" pitchFamily="34" charset="0"/>
                <a:ea typeface="Comfortaa Bold" pitchFamily="34" charset="-122"/>
                <a:cs typeface="Comfortaa Bold" pitchFamily="34" charset="-120"/>
              </a:rPr>
              <a:t>Owner Journey KPIs</a:t>
            </a:r>
            <a:endParaRPr lang="en-US" sz="1150" dirty="0"/>
          </a:p>
        </p:txBody>
      </p:sp>
      <p:sp>
        <p:nvSpPr>
          <p:cNvPr id="8" name="Text 5"/>
          <p:cNvSpPr/>
          <p:nvPr/>
        </p:nvSpPr>
        <p:spPr>
          <a:xfrm>
            <a:off x="6020619" y="2236217"/>
            <a:ext cx="2655540" cy="2231306"/>
          </a:xfrm>
          <a:prstGeom prst="rect">
            <a:avLst/>
          </a:prstGeom>
          <a:noFill/>
          <a:ln/>
        </p:spPr>
        <p:txBody>
          <a:bodyPr wrap="square" lIns="0" tIns="0" rIns="0" bIns="0" rtlCol="0" anchor="t">
            <a:normAutofit/>
          </a:bodyPr>
          <a:lstStyle/>
          <a:p>
            <a:pPr algn="l" marL="342900" indent="-342900">
              <a:lnSpc>
                <a:spcPct val="125000"/>
              </a:lnSpc>
              <a:buSzPct val="100000"/>
              <a:buChar char="•"/>
            </a:pPr>
            <a:r>
              <a:rPr lang="en-US" sz="1050" b="1" dirty="0">
                <a:solidFill>
                  <a:srgbClr val="D7D4CC"/>
                </a:solidFill>
                <a:latin typeface="Raleway Medium" pitchFamily="34" charset="0"/>
                <a:ea typeface="Raleway Medium" pitchFamily="34" charset="-122"/>
                <a:cs typeface="Raleway Medium" pitchFamily="34" charset="-120"/>
              </a:rPr>
              <a:t>Hostels Onboarded</a:t>
            </a:r>
            <a:pPr algn="l" marL="342900" indent="-342900">
              <a:lnSpc>
                <a:spcPct val="1250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 — New supply added</a:t>
            </a:r>
            <a:endParaRPr lang="en-US" sz="1050" dirty="0"/>
          </a:p>
          <a:p>
            <a:pPr algn="l" marL="342900" indent="-342900">
              <a:lnSpc>
                <a:spcPct val="125000"/>
              </a:lnSpc>
              <a:buSzPct val="100000"/>
              <a:buChar char="•"/>
            </a:pPr>
            <a:r>
              <a:rPr lang="en-US" sz="1050" b="1" dirty="0">
                <a:solidFill>
                  <a:srgbClr val="D7D4CC"/>
                </a:solidFill>
                <a:latin typeface="Raleway Medium" pitchFamily="34" charset="0"/>
                <a:ea typeface="Raleway Medium" pitchFamily="34" charset="-122"/>
                <a:cs typeface="Raleway Medium" pitchFamily="34" charset="-120"/>
              </a:rPr>
              <a:t>Active Listings</a:t>
            </a:r>
            <a:pPr algn="l" marL="342900" indent="-342900">
              <a:lnSpc>
                <a:spcPct val="1250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 — Live, bookable inventory</a:t>
            </a:r>
            <a:endParaRPr lang="en-US" sz="1050" dirty="0"/>
          </a:p>
          <a:p>
            <a:pPr algn="l" marL="342900" indent="-342900">
              <a:lnSpc>
                <a:spcPct val="125000"/>
              </a:lnSpc>
              <a:buSzPct val="100000"/>
              <a:buChar char="•"/>
            </a:pPr>
            <a:r>
              <a:rPr lang="en-US" sz="1050" b="1" dirty="0">
                <a:solidFill>
                  <a:srgbClr val="D7D4CC"/>
                </a:solidFill>
                <a:latin typeface="Raleway Medium" pitchFamily="34" charset="0"/>
                <a:ea typeface="Raleway Medium" pitchFamily="34" charset="-122"/>
                <a:cs typeface="Raleway Medium" pitchFamily="34" charset="-120"/>
              </a:rPr>
              <a:t>Student Leads</a:t>
            </a:r>
            <a:pPr algn="l" marL="342900" indent="-342900">
              <a:lnSpc>
                <a:spcPct val="1250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 — Inquiries per hostel</a:t>
            </a:r>
            <a:endParaRPr lang="en-US" sz="1050" dirty="0"/>
          </a:p>
          <a:p>
            <a:pPr algn="l" marL="342900" indent="-342900">
              <a:lnSpc>
                <a:spcPct val="125000"/>
              </a:lnSpc>
              <a:buSzPct val="100000"/>
              <a:buChar char="•"/>
            </a:pPr>
            <a:r>
              <a:rPr lang="en-US" sz="1050" b="1" dirty="0">
                <a:solidFill>
                  <a:srgbClr val="D7D4CC"/>
                </a:solidFill>
                <a:latin typeface="Raleway Medium" pitchFamily="34" charset="0"/>
                <a:ea typeface="Raleway Medium" pitchFamily="34" charset="-122"/>
                <a:cs typeface="Raleway Medium" pitchFamily="34" charset="-120"/>
              </a:rPr>
              <a:t>Bookings</a:t>
            </a:r>
            <a:pPr algn="l" marL="342900" indent="-342900">
              <a:lnSpc>
                <a:spcPct val="1250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 — Confirmed reservations</a:t>
            </a:r>
            <a:endParaRPr lang="en-US" sz="1050" dirty="0"/>
          </a:p>
          <a:p>
            <a:pPr algn="l" marL="342900" indent="-342900">
              <a:lnSpc>
                <a:spcPct val="125000"/>
              </a:lnSpc>
              <a:buSzPct val="100000"/>
              <a:buChar char="•"/>
            </a:pPr>
            <a:r>
              <a:rPr lang="en-US" sz="1050" b="1" dirty="0">
                <a:solidFill>
                  <a:srgbClr val="D7D4CC"/>
                </a:solidFill>
                <a:latin typeface="Raleway Medium" pitchFamily="34" charset="0"/>
                <a:ea typeface="Raleway Medium" pitchFamily="34" charset="-122"/>
                <a:cs typeface="Raleway Medium" pitchFamily="34" charset="-120"/>
              </a:rPr>
              <a:t>Revenue Generated</a:t>
            </a:r>
            <a:pPr algn="l" marL="342900" indent="-342900">
              <a:lnSpc>
                <a:spcPct val="1250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 — Owner earnings via platform</a:t>
            </a:r>
            <a:endParaRPr lang="en-US" sz="1050" dirty="0"/>
          </a:p>
          <a:p>
            <a:pPr algn="l" marL="342900" indent="-342900">
              <a:lnSpc>
                <a:spcPct val="125000"/>
              </a:lnSpc>
              <a:buSzPct val="100000"/>
              <a:buChar char="•"/>
            </a:pPr>
            <a:r>
              <a:rPr lang="en-US" sz="1050" b="1" dirty="0">
                <a:solidFill>
                  <a:srgbClr val="D7D4CC"/>
                </a:solidFill>
                <a:latin typeface="Raleway Medium" pitchFamily="34" charset="0"/>
                <a:ea typeface="Raleway Medium" pitchFamily="34" charset="-122"/>
                <a:cs typeface="Raleway Medium" pitchFamily="34" charset="-120"/>
              </a:rPr>
              <a:t>Owner Satisfaction</a:t>
            </a:r>
            <a:pPr algn="l" marL="342900" indent="-342900">
              <a:lnSpc>
                <a:spcPct val="125000"/>
              </a:lnSpc>
              <a:buSzPct val="100000"/>
              <a:buChar char="•"/>
            </a:pPr>
            <a:r>
              <a:rPr lang="en-US" sz="1050" dirty="0">
                <a:solidFill>
                  <a:srgbClr val="D7D4CC"/>
                </a:solidFill>
                <a:latin typeface="Raleway Medium" pitchFamily="34" charset="0"/>
                <a:ea typeface="Raleway Medium" pitchFamily="34" charset="-122"/>
                <a:cs typeface="Raleway Medium" pitchFamily="34" charset="-120"/>
              </a:rPr>
              <a:t> — Retention and NPS signal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75109" y="399083"/>
            <a:ext cx="1288852" cy="209699"/>
          </a:xfrm>
          <a:prstGeom prst="roundRect">
            <a:avLst>
              <a:gd name="adj" fmla="val 68985"/>
            </a:avLst>
          </a:prstGeom>
          <a:solidFill>
            <a:srgbClr val="4D4000"/>
          </a:solidFill>
          <a:ln/>
        </p:spPr>
      </p:sp>
      <p:sp>
        <p:nvSpPr>
          <p:cNvPr id="3" name="Text 1"/>
          <p:cNvSpPr/>
          <p:nvPr/>
        </p:nvSpPr>
        <p:spPr>
          <a:xfrm>
            <a:off x="947440" y="435248"/>
            <a:ext cx="1601391" cy="137368"/>
          </a:xfrm>
          <a:prstGeom prst="rect">
            <a:avLst/>
          </a:prstGeom>
          <a:noFill/>
          <a:ln/>
        </p:spPr>
        <p:txBody>
          <a:bodyPr wrap="none" lIns="0" tIns="0" rIns="0" bIns="0" rtlCol="0" anchor="t"/>
          <a:lstStyle/>
          <a:p>
            <a:pPr algn="l" indent="0" marL="0">
              <a:lnSpc>
                <a:spcPct val="119000"/>
              </a:lnSpc>
              <a:buNone/>
            </a:pPr>
            <a:r>
              <a:rPr lang="en-US" sz="750" dirty="0">
                <a:solidFill>
                  <a:srgbClr val="D7D4CC"/>
                </a:solidFill>
                <a:latin typeface="Raleway Medium" pitchFamily="34" charset="0"/>
                <a:ea typeface="Raleway Medium" pitchFamily="34" charset="-122"/>
                <a:cs typeface="Raleway Medium" pitchFamily="34" charset="-120"/>
              </a:rPr>
              <a:t>EXPANSION &amp; STRATEGY</a:t>
            </a:r>
            <a:endParaRPr lang="en-US" sz="750" dirty="0"/>
          </a:p>
        </p:txBody>
      </p:sp>
      <p:sp>
        <p:nvSpPr>
          <p:cNvPr id="4" name="Text 2"/>
          <p:cNvSpPr/>
          <p:nvPr/>
        </p:nvSpPr>
        <p:spPr>
          <a:xfrm>
            <a:off x="875109" y="646435"/>
            <a:ext cx="5714033" cy="334863"/>
          </a:xfrm>
          <a:prstGeom prst="rect">
            <a:avLst/>
          </a:prstGeom>
          <a:noFill/>
          <a:ln/>
        </p:spPr>
        <p:txBody>
          <a:bodyPr wrap="none" lIns="0" tIns="0" rIns="0" bIns="0" rtlCol="0" anchor="t"/>
          <a:lstStyle/>
          <a:p>
            <a:pPr algn="l" indent="0" marL="0">
              <a:lnSpc>
                <a:spcPct val="104000"/>
              </a:lnSpc>
              <a:buNone/>
            </a:pPr>
            <a:r>
              <a:rPr lang="en-US" sz="2100" b="1" dirty="0">
                <a:solidFill>
                  <a:srgbClr val="FFE14D"/>
                </a:solidFill>
                <a:latin typeface="Comfortaa Bold" pitchFamily="34" charset="0"/>
                <a:ea typeface="Comfortaa Bold" pitchFamily="34" charset="-122"/>
                <a:cs typeface="Comfortaa Bold" pitchFamily="34" charset="-120"/>
              </a:rPr>
              <a:t>Expansion KPIs &amp; Strategic Alignment</a:t>
            </a:r>
            <a:endParaRPr lang="en-US" sz="2100" dirty="0"/>
          </a:p>
        </p:txBody>
      </p:sp>
      <p:sp>
        <p:nvSpPr>
          <p:cNvPr id="5" name="Text 3"/>
          <p:cNvSpPr/>
          <p:nvPr/>
        </p:nvSpPr>
        <p:spPr>
          <a:xfrm>
            <a:off x="875109" y="1216670"/>
            <a:ext cx="1796653" cy="167432"/>
          </a:xfrm>
          <a:prstGeom prst="rect">
            <a:avLst/>
          </a:prstGeom>
          <a:noFill/>
          <a:ln/>
        </p:spPr>
        <p:txBody>
          <a:bodyPr wrap="none" lIns="0" tIns="0" rIns="0" bIns="0" rtlCol="0" anchor="t"/>
          <a:lstStyle/>
          <a:p>
            <a:pPr algn="l" indent="0" marL="0">
              <a:lnSpc>
                <a:spcPct val="104000"/>
              </a:lnSpc>
              <a:buNone/>
            </a:pPr>
            <a:r>
              <a:rPr lang="en-US" sz="1050" b="1" dirty="0">
                <a:solidFill>
                  <a:srgbClr val="FFE14D"/>
                </a:solidFill>
                <a:latin typeface="Comfortaa Bold" pitchFamily="34" charset="0"/>
                <a:ea typeface="Comfortaa Bold" pitchFamily="34" charset="-122"/>
                <a:cs typeface="Comfortaa Bold" pitchFamily="34" charset="-120"/>
              </a:rPr>
              <a:t>Expansion KPIs</a:t>
            </a:r>
            <a:endParaRPr lang="en-US" sz="1050" dirty="0"/>
          </a:p>
        </p:txBody>
      </p:sp>
      <p:sp>
        <p:nvSpPr>
          <p:cNvPr id="6" name="Text 4"/>
          <p:cNvSpPr/>
          <p:nvPr/>
        </p:nvSpPr>
        <p:spPr>
          <a:xfrm>
            <a:off x="875109" y="1478235"/>
            <a:ext cx="4007048" cy="171748"/>
          </a:xfrm>
          <a:prstGeom prst="rect">
            <a:avLst/>
          </a:prstGeom>
          <a:noFill/>
          <a:ln/>
        </p:spPr>
        <p:txBody>
          <a:bodyPr wrap="none" lIns="0" tIns="0" rIns="0" bIns="0" rtlCol="0" anchor="t"/>
          <a:lstStyle/>
          <a:p>
            <a:pPr algn="l" indent="0" marL="0">
              <a:lnSpc>
                <a:spcPct val="119000"/>
              </a:lnSpc>
              <a:buNone/>
            </a:pPr>
            <a:r>
              <a:rPr lang="en-US" sz="900" b="1" dirty="0">
                <a:solidFill>
                  <a:srgbClr val="D7D4CC"/>
                </a:solidFill>
                <a:latin typeface="Raleway Medium" pitchFamily="34" charset="0"/>
                <a:ea typeface="Raleway Medium" pitchFamily="34" charset="-122"/>
                <a:cs typeface="Raleway Medium" pitchFamily="34" charset="-120"/>
              </a:rPr>
              <a:t>Objective:</a:t>
            </a:r>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 Expand across Kerala and later India.</a:t>
            </a:r>
            <a:endParaRPr lang="en-US" sz="900" dirty="0"/>
          </a:p>
        </p:txBody>
      </p:sp>
      <p:sp>
        <p:nvSpPr>
          <p:cNvPr id="7" name="Text 5"/>
          <p:cNvSpPr/>
          <p:nvPr/>
        </p:nvSpPr>
        <p:spPr>
          <a:xfrm>
            <a:off x="875109" y="1734741"/>
            <a:ext cx="3549848" cy="957411"/>
          </a:xfrm>
          <a:prstGeom prst="rect">
            <a:avLst/>
          </a:prstGeom>
          <a:noFill/>
          <a:ln/>
        </p:spPr>
        <p:txBody>
          <a:bodyPr wrap="square" lIns="0" tIns="0" rIns="0" bIns="0" rtlCol="0" anchor="t">
            <a:normAutofit/>
          </a:bodyPr>
          <a:lstStyle/>
          <a:p>
            <a:pPr algn="l" marL="342900" indent="-342900">
              <a:lnSpc>
                <a:spcPct val="119000"/>
              </a:lnSpc>
              <a:buSzPct val="100000"/>
              <a:buChar char="•"/>
            </a:pPr>
            <a:r>
              <a:rPr lang="en-US" sz="900" b="1" dirty="0">
                <a:solidFill>
                  <a:srgbClr val="D7D4CC"/>
                </a:solidFill>
                <a:latin typeface="Raleway Medium" pitchFamily="34" charset="0"/>
                <a:ea typeface="Raleway Medium" pitchFamily="34" charset="-122"/>
                <a:cs typeface="Raleway Medium" pitchFamily="34" charset="-120"/>
              </a:rPr>
              <a:t>District Coverage</a:t>
            </a:r>
            <a:pPr algn="l" marL="342900" indent="-342900">
              <a:lnSpc>
                <a:spcPct val="119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 — Geographic reach</a:t>
            </a:r>
            <a:endParaRPr lang="en-US" sz="900" dirty="0"/>
          </a:p>
          <a:p>
            <a:pPr algn="l" marL="342900" indent="-342900">
              <a:lnSpc>
                <a:spcPct val="119000"/>
              </a:lnSpc>
              <a:buSzPct val="100000"/>
              <a:buChar char="•"/>
            </a:pPr>
            <a:r>
              <a:rPr lang="en-US" sz="900" b="1" dirty="0">
                <a:solidFill>
                  <a:srgbClr val="D7D4CC"/>
                </a:solidFill>
                <a:latin typeface="Raleway Medium" pitchFamily="34" charset="0"/>
                <a:ea typeface="Raleway Medium" pitchFamily="34" charset="-122"/>
                <a:cs typeface="Raleway Medium" pitchFamily="34" charset="-120"/>
              </a:rPr>
              <a:t>Market Penetration</a:t>
            </a:r>
            <a:pPr algn="l" marL="342900" indent="-342900">
              <a:lnSpc>
                <a:spcPct val="119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 — Share of student population</a:t>
            </a:r>
            <a:endParaRPr lang="en-US" sz="900" dirty="0"/>
          </a:p>
          <a:p>
            <a:pPr algn="l" marL="342900" indent="-342900">
              <a:lnSpc>
                <a:spcPct val="119000"/>
              </a:lnSpc>
              <a:buSzPct val="100000"/>
              <a:buChar char="•"/>
            </a:pPr>
            <a:r>
              <a:rPr lang="en-US" sz="900" b="1" dirty="0">
                <a:solidFill>
                  <a:srgbClr val="D7D4CC"/>
                </a:solidFill>
                <a:latin typeface="Raleway Medium" pitchFamily="34" charset="0"/>
                <a:ea typeface="Raleway Medium" pitchFamily="34" charset="-122"/>
                <a:cs typeface="Raleway Medium" pitchFamily="34" charset="-120"/>
              </a:rPr>
              <a:t>New District Launches</a:t>
            </a:r>
            <a:pPr algn="l" marL="342900" indent="-342900">
              <a:lnSpc>
                <a:spcPct val="119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 — Active expansion velocity</a:t>
            </a:r>
            <a:endParaRPr lang="en-US" sz="900" dirty="0"/>
          </a:p>
          <a:p>
            <a:pPr algn="l" marL="342900" indent="-342900">
              <a:lnSpc>
                <a:spcPct val="119000"/>
              </a:lnSpc>
              <a:buSzPct val="100000"/>
              <a:buChar char="•"/>
            </a:pPr>
            <a:r>
              <a:rPr lang="en-US" sz="900" b="1" dirty="0">
                <a:solidFill>
                  <a:srgbClr val="D7D4CC"/>
                </a:solidFill>
                <a:latin typeface="Raleway Medium" pitchFamily="34" charset="0"/>
                <a:ea typeface="Raleway Medium" pitchFamily="34" charset="-122"/>
                <a:cs typeface="Raleway Medium" pitchFamily="34" charset="-120"/>
              </a:rPr>
              <a:t>Expansion Score</a:t>
            </a:r>
            <a:pPr algn="l" marL="342900" indent="-342900">
              <a:lnSpc>
                <a:spcPct val="119000"/>
              </a:lnSpc>
              <a:buSzPct val="100000"/>
              <a:buChar char="•"/>
            </a:pPr>
            <a:r>
              <a:rPr lang="en-US" sz="900" dirty="0">
                <a:solidFill>
                  <a:srgbClr val="D7D4CC"/>
                </a:solidFill>
                <a:latin typeface="Raleway Medium" pitchFamily="34" charset="0"/>
                <a:ea typeface="Raleway Medium" pitchFamily="34" charset="-122"/>
                <a:cs typeface="Raleway Medium" pitchFamily="34" charset="-120"/>
              </a:rPr>
              <a:t> — Composite demand vs. competition metric</a:t>
            </a:r>
            <a:endParaRPr lang="en-US" sz="900" dirty="0"/>
          </a:p>
        </p:txBody>
      </p:sp>
      <p:sp>
        <p:nvSpPr>
          <p:cNvPr id="8" name="Text 6"/>
          <p:cNvSpPr/>
          <p:nvPr/>
        </p:nvSpPr>
        <p:spPr>
          <a:xfrm>
            <a:off x="4723805" y="1216670"/>
            <a:ext cx="2623914" cy="167432"/>
          </a:xfrm>
          <a:prstGeom prst="rect">
            <a:avLst/>
          </a:prstGeom>
          <a:noFill/>
          <a:ln/>
        </p:spPr>
        <p:txBody>
          <a:bodyPr wrap="none" lIns="0" tIns="0" rIns="0" bIns="0" rtlCol="0" anchor="t"/>
          <a:lstStyle/>
          <a:p>
            <a:pPr algn="l" indent="0" marL="0">
              <a:lnSpc>
                <a:spcPct val="104000"/>
              </a:lnSpc>
              <a:buNone/>
            </a:pPr>
            <a:r>
              <a:rPr lang="en-US" sz="1050" b="1" dirty="0">
                <a:solidFill>
                  <a:srgbClr val="FFE14D"/>
                </a:solidFill>
                <a:latin typeface="Comfortaa Bold" pitchFamily="34" charset="0"/>
                <a:ea typeface="Comfortaa Bold" pitchFamily="34" charset="-122"/>
                <a:cs typeface="Comfortaa Bold" pitchFamily="34" charset="-120"/>
              </a:rPr>
              <a:t>Strategic Goal → KPI Alignment</a:t>
            </a:r>
            <a:endParaRPr lang="en-US" sz="1050" dirty="0"/>
          </a:p>
        </p:txBody>
      </p:sp>
      <p:sp>
        <p:nvSpPr>
          <p:cNvPr id="9" name="Shape 7"/>
          <p:cNvSpPr/>
          <p:nvPr/>
        </p:nvSpPr>
        <p:spPr>
          <a:xfrm>
            <a:off x="4723805" y="1489993"/>
            <a:ext cx="3549848" cy="2535138"/>
          </a:xfrm>
          <a:prstGeom prst="roundRect">
            <a:avLst>
              <a:gd name="adj" fmla="val 7133"/>
            </a:avLst>
          </a:prstGeom>
          <a:noFill/>
          <a:ln w="4763">
            <a:solidFill>
              <a:srgbClr val="FFFFFF">
                <a:alpha val="24000"/>
              </a:srgbClr>
            </a:solidFill>
            <a:prstDash val="solid"/>
          </a:ln>
        </p:spPr>
      </p:sp>
      <p:sp>
        <p:nvSpPr>
          <p:cNvPr id="10" name="Shape 8"/>
          <p:cNvSpPr/>
          <p:nvPr/>
        </p:nvSpPr>
        <p:spPr>
          <a:xfrm>
            <a:off x="4728567" y="1494755"/>
            <a:ext cx="3540323" cy="294233"/>
          </a:xfrm>
          <a:prstGeom prst="rect">
            <a:avLst/>
          </a:prstGeom>
          <a:solidFill>
            <a:srgbClr val="FFFFFF">
              <a:alpha val="4000"/>
            </a:srgbClr>
          </a:solidFill>
          <a:ln/>
        </p:spPr>
      </p:sp>
      <p:sp>
        <p:nvSpPr>
          <p:cNvPr id="11" name="Text 9"/>
          <p:cNvSpPr/>
          <p:nvPr/>
        </p:nvSpPr>
        <p:spPr>
          <a:xfrm>
            <a:off x="4849192" y="1555998"/>
            <a:ext cx="2160836" cy="171748"/>
          </a:xfrm>
          <a:prstGeom prst="rect">
            <a:avLst/>
          </a:prstGeom>
          <a:noFill/>
          <a:ln/>
        </p:spPr>
        <p:txBody>
          <a:bodyPr wrap="none" lIns="0" tIns="0" rIns="0" bIns="0" rtlCol="0" anchor="t"/>
          <a:lstStyle/>
          <a:p>
            <a:pPr algn="l" indent="0" marL="0">
              <a:lnSpc>
                <a:spcPct val="119000"/>
              </a:lnSpc>
              <a:buNone/>
            </a:pPr>
            <a:r>
              <a:rPr lang="en-US" sz="900" b="1" dirty="0">
                <a:solidFill>
                  <a:srgbClr val="D7D4CC"/>
                </a:solidFill>
                <a:latin typeface="Raleway Medium" pitchFamily="34" charset="0"/>
                <a:ea typeface="Raleway Medium" pitchFamily="34" charset="-122"/>
                <a:cs typeface="Raleway Medium" pitchFamily="34" charset="-120"/>
              </a:rPr>
              <a:t>Strategic Goal</a:t>
            </a:r>
            <a:endParaRPr lang="en-US" sz="900" dirty="0"/>
          </a:p>
        </p:txBody>
      </p:sp>
      <p:sp>
        <p:nvSpPr>
          <p:cNvPr id="12" name="Text 10"/>
          <p:cNvSpPr/>
          <p:nvPr/>
        </p:nvSpPr>
        <p:spPr>
          <a:xfrm>
            <a:off x="6798692" y="1555998"/>
            <a:ext cx="1806848" cy="171748"/>
          </a:xfrm>
          <a:prstGeom prst="rect">
            <a:avLst/>
          </a:prstGeom>
          <a:noFill/>
          <a:ln/>
        </p:spPr>
        <p:txBody>
          <a:bodyPr wrap="none" lIns="0" tIns="0" rIns="0" bIns="0" rtlCol="0" anchor="t"/>
          <a:lstStyle/>
          <a:p>
            <a:pPr algn="l" indent="0" marL="0">
              <a:lnSpc>
                <a:spcPct val="119000"/>
              </a:lnSpc>
              <a:buNone/>
            </a:pPr>
            <a:r>
              <a:rPr lang="en-US" sz="900" b="1" dirty="0">
                <a:solidFill>
                  <a:srgbClr val="D7D4CC"/>
                </a:solidFill>
                <a:latin typeface="Raleway Medium" pitchFamily="34" charset="0"/>
                <a:ea typeface="Raleway Medium" pitchFamily="34" charset="-122"/>
                <a:cs typeface="Raleway Medium" pitchFamily="34" charset="-120"/>
              </a:rPr>
              <a:t>Primary KPI</a:t>
            </a:r>
            <a:endParaRPr lang="en-US" sz="900" dirty="0"/>
          </a:p>
        </p:txBody>
      </p:sp>
      <p:sp>
        <p:nvSpPr>
          <p:cNvPr id="13" name="Shape 11"/>
          <p:cNvSpPr/>
          <p:nvPr/>
        </p:nvSpPr>
        <p:spPr>
          <a:xfrm>
            <a:off x="4728567" y="1788988"/>
            <a:ext cx="3540323" cy="294233"/>
          </a:xfrm>
          <a:prstGeom prst="rect">
            <a:avLst/>
          </a:prstGeom>
          <a:solidFill>
            <a:srgbClr val="000000">
              <a:alpha val="4000"/>
            </a:srgbClr>
          </a:solidFill>
          <a:ln/>
        </p:spPr>
      </p:sp>
      <p:sp>
        <p:nvSpPr>
          <p:cNvPr id="14" name="Text 12"/>
          <p:cNvSpPr/>
          <p:nvPr/>
        </p:nvSpPr>
        <p:spPr>
          <a:xfrm>
            <a:off x="4849192" y="1850231"/>
            <a:ext cx="2160836"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Increase Students</a:t>
            </a:r>
            <a:endParaRPr lang="en-US" sz="900" dirty="0"/>
          </a:p>
        </p:txBody>
      </p:sp>
      <p:sp>
        <p:nvSpPr>
          <p:cNvPr id="15" name="Text 13"/>
          <p:cNvSpPr/>
          <p:nvPr/>
        </p:nvSpPr>
        <p:spPr>
          <a:xfrm>
            <a:off x="6798692" y="1850231"/>
            <a:ext cx="1806848"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Registrations, MAU</a:t>
            </a:r>
            <a:endParaRPr lang="en-US" sz="900" dirty="0"/>
          </a:p>
        </p:txBody>
      </p:sp>
      <p:sp>
        <p:nvSpPr>
          <p:cNvPr id="16" name="Shape 14"/>
          <p:cNvSpPr/>
          <p:nvPr/>
        </p:nvSpPr>
        <p:spPr>
          <a:xfrm>
            <a:off x="4728567" y="2083222"/>
            <a:ext cx="3540323" cy="294233"/>
          </a:xfrm>
          <a:prstGeom prst="rect">
            <a:avLst/>
          </a:prstGeom>
          <a:solidFill>
            <a:srgbClr val="FFFFFF">
              <a:alpha val="4000"/>
            </a:srgbClr>
          </a:solidFill>
          <a:ln/>
        </p:spPr>
      </p:sp>
      <p:sp>
        <p:nvSpPr>
          <p:cNvPr id="17" name="Text 15"/>
          <p:cNvSpPr/>
          <p:nvPr/>
        </p:nvSpPr>
        <p:spPr>
          <a:xfrm>
            <a:off x="4849192" y="2144464"/>
            <a:ext cx="2160836"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Increase Bookings</a:t>
            </a:r>
            <a:endParaRPr lang="en-US" sz="900" dirty="0"/>
          </a:p>
        </p:txBody>
      </p:sp>
      <p:sp>
        <p:nvSpPr>
          <p:cNvPr id="18" name="Text 16"/>
          <p:cNvSpPr/>
          <p:nvPr/>
        </p:nvSpPr>
        <p:spPr>
          <a:xfrm>
            <a:off x="6798692" y="2144464"/>
            <a:ext cx="1806848"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Booking Conversion</a:t>
            </a:r>
            <a:endParaRPr lang="en-US" sz="900" dirty="0"/>
          </a:p>
        </p:txBody>
      </p:sp>
      <p:sp>
        <p:nvSpPr>
          <p:cNvPr id="19" name="Shape 17"/>
          <p:cNvSpPr/>
          <p:nvPr/>
        </p:nvSpPr>
        <p:spPr>
          <a:xfrm>
            <a:off x="4728567" y="2377455"/>
            <a:ext cx="3540323" cy="294233"/>
          </a:xfrm>
          <a:prstGeom prst="rect">
            <a:avLst/>
          </a:prstGeom>
          <a:solidFill>
            <a:srgbClr val="000000">
              <a:alpha val="4000"/>
            </a:srgbClr>
          </a:solidFill>
          <a:ln/>
        </p:spPr>
      </p:sp>
      <p:sp>
        <p:nvSpPr>
          <p:cNvPr id="20" name="Text 18"/>
          <p:cNvSpPr/>
          <p:nvPr/>
        </p:nvSpPr>
        <p:spPr>
          <a:xfrm>
            <a:off x="4849192" y="2438698"/>
            <a:ext cx="2160836"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Increase Revenue</a:t>
            </a:r>
            <a:endParaRPr lang="en-US" sz="900" dirty="0"/>
          </a:p>
        </p:txBody>
      </p:sp>
      <p:sp>
        <p:nvSpPr>
          <p:cNvPr id="21" name="Text 19"/>
          <p:cNvSpPr/>
          <p:nvPr/>
        </p:nvSpPr>
        <p:spPr>
          <a:xfrm>
            <a:off x="6798692" y="2438698"/>
            <a:ext cx="1806848"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Revenue Growth %</a:t>
            </a:r>
            <a:endParaRPr lang="en-US" sz="900" dirty="0"/>
          </a:p>
        </p:txBody>
      </p:sp>
      <p:sp>
        <p:nvSpPr>
          <p:cNvPr id="22" name="Shape 20"/>
          <p:cNvSpPr/>
          <p:nvPr/>
        </p:nvSpPr>
        <p:spPr>
          <a:xfrm>
            <a:off x="4728567" y="2671688"/>
            <a:ext cx="3540323" cy="294233"/>
          </a:xfrm>
          <a:prstGeom prst="rect">
            <a:avLst/>
          </a:prstGeom>
          <a:solidFill>
            <a:srgbClr val="FFFFFF">
              <a:alpha val="4000"/>
            </a:srgbClr>
          </a:solidFill>
          <a:ln/>
        </p:spPr>
      </p:sp>
      <p:sp>
        <p:nvSpPr>
          <p:cNvPr id="23" name="Text 21"/>
          <p:cNvSpPr/>
          <p:nvPr/>
        </p:nvSpPr>
        <p:spPr>
          <a:xfrm>
            <a:off x="4849192" y="2732931"/>
            <a:ext cx="2160836"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Improve Profitability</a:t>
            </a:r>
            <a:endParaRPr lang="en-US" sz="900" dirty="0"/>
          </a:p>
        </p:txBody>
      </p:sp>
      <p:sp>
        <p:nvSpPr>
          <p:cNvPr id="24" name="Text 22"/>
          <p:cNvSpPr/>
          <p:nvPr/>
        </p:nvSpPr>
        <p:spPr>
          <a:xfrm>
            <a:off x="6798692" y="2732931"/>
            <a:ext cx="1806848"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Net Profit Margin</a:t>
            </a:r>
            <a:endParaRPr lang="en-US" sz="900" dirty="0"/>
          </a:p>
        </p:txBody>
      </p:sp>
      <p:sp>
        <p:nvSpPr>
          <p:cNvPr id="25" name="Shape 23"/>
          <p:cNvSpPr/>
          <p:nvPr/>
        </p:nvSpPr>
        <p:spPr>
          <a:xfrm>
            <a:off x="4728567" y="2965921"/>
            <a:ext cx="3540323" cy="294233"/>
          </a:xfrm>
          <a:prstGeom prst="rect">
            <a:avLst/>
          </a:prstGeom>
          <a:solidFill>
            <a:srgbClr val="000000">
              <a:alpha val="4000"/>
            </a:srgbClr>
          </a:solidFill>
          <a:ln/>
        </p:spPr>
      </p:sp>
      <p:sp>
        <p:nvSpPr>
          <p:cNvPr id="26" name="Text 24"/>
          <p:cNvSpPr/>
          <p:nvPr/>
        </p:nvSpPr>
        <p:spPr>
          <a:xfrm>
            <a:off x="4849192" y="3027164"/>
            <a:ext cx="2160836"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Increase Occupancy</a:t>
            </a:r>
            <a:endParaRPr lang="en-US" sz="900" dirty="0"/>
          </a:p>
        </p:txBody>
      </p:sp>
      <p:sp>
        <p:nvSpPr>
          <p:cNvPr id="27" name="Text 25"/>
          <p:cNvSpPr/>
          <p:nvPr/>
        </p:nvSpPr>
        <p:spPr>
          <a:xfrm>
            <a:off x="6798692" y="3027164"/>
            <a:ext cx="1806848"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Occupancy Rate</a:t>
            </a:r>
            <a:endParaRPr lang="en-US" sz="900" dirty="0"/>
          </a:p>
        </p:txBody>
      </p:sp>
      <p:sp>
        <p:nvSpPr>
          <p:cNvPr id="28" name="Shape 26"/>
          <p:cNvSpPr/>
          <p:nvPr/>
        </p:nvSpPr>
        <p:spPr>
          <a:xfrm>
            <a:off x="4728567" y="3260154"/>
            <a:ext cx="3540323" cy="294233"/>
          </a:xfrm>
          <a:prstGeom prst="rect">
            <a:avLst/>
          </a:prstGeom>
          <a:solidFill>
            <a:srgbClr val="FFFFFF">
              <a:alpha val="4000"/>
            </a:srgbClr>
          </a:solidFill>
          <a:ln/>
        </p:spPr>
      </p:sp>
      <p:sp>
        <p:nvSpPr>
          <p:cNvPr id="29" name="Text 27"/>
          <p:cNvSpPr/>
          <p:nvPr/>
        </p:nvSpPr>
        <p:spPr>
          <a:xfrm>
            <a:off x="4849192" y="3321397"/>
            <a:ext cx="2160836"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Expand Market</a:t>
            </a:r>
            <a:endParaRPr lang="en-US" sz="900" dirty="0"/>
          </a:p>
        </p:txBody>
      </p:sp>
      <p:sp>
        <p:nvSpPr>
          <p:cNvPr id="30" name="Text 28"/>
          <p:cNvSpPr/>
          <p:nvPr/>
        </p:nvSpPr>
        <p:spPr>
          <a:xfrm>
            <a:off x="6798692" y="3321397"/>
            <a:ext cx="1806848"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District Coverage</a:t>
            </a:r>
            <a:endParaRPr lang="en-US" sz="900" dirty="0"/>
          </a:p>
        </p:txBody>
      </p:sp>
      <p:sp>
        <p:nvSpPr>
          <p:cNvPr id="31" name="Shape 29"/>
          <p:cNvSpPr/>
          <p:nvPr/>
        </p:nvSpPr>
        <p:spPr>
          <a:xfrm>
            <a:off x="4728567" y="3554388"/>
            <a:ext cx="3540323" cy="465981"/>
          </a:xfrm>
          <a:prstGeom prst="rect">
            <a:avLst/>
          </a:prstGeom>
          <a:solidFill>
            <a:srgbClr val="000000">
              <a:alpha val="4000"/>
            </a:srgbClr>
          </a:solidFill>
          <a:ln/>
        </p:spPr>
      </p:sp>
      <p:sp>
        <p:nvSpPr>
          <p:cNvPr id="32" name="Text 30"/>
          <p:cNvSpPr/>
          <p:nvPr/>
        </p:nvSpPr>
        <p:spPr>
          <a:xfrm>
            <a:off x="4849192" y="3615630"/>
            <a:ext cx="2160836" cy="171748"/>
          </a:xfrm>
          <a:prstGeom prst="rect">
            <a:avLst/>
          </a:prstGeom>
          <a:noFill/>
          <a:ln/>
        </p:spPr>
        <p:txBody>
          <a:bodyPr wrap="none" lIns="0" tIns="0" rIns="0" bIns="0" rtlCol="0" anchor="t"/>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Improve Retention</a:t>
            </a:r>
            <a:endParaRPr lang="en-US" sz="900" dirty="0"/>
          </a:p>
        </p:txBody>
      </p:sp>
      <p:sp>
        <p:nvSpPr>
          <p:cNvPr id="33" name="Text 31"/>
          <p:cNvSpPr/>
          <p:nvPr/>
        </p:nvSpPr>
        <p:spPr>
          <a:xfrm>
            <a:off x="6798692" y="3615630"/>
            <a:ext cx="1349648" cy="343495"/>
          </a:xfrm>
          <a:prstGeom prst="rect">
            <a:avLst/>
          </a:prstGeom>
          <a:noFill/>
          <a:ln/>
        </p:spPr>
        <p:txBody>
          <a:bodyPr wrap="square" lIns="0" tIns="0" rIns="0" bIns="0" rtlCol="0" anchor="t">
            <a:normAutofit/>
          </a:bodyPr>
          <a:lstStyle/>
          <a:p>
            <a:pPr algn="l" indent="0" marL="0">
              <a:lnSpc>
                <a:spcPct val="119000"/>
              </a:lnSpc>
              <a:buNone/>
            </a:pPr>
            <a:r>
              <a:rPr lang="en-US" sz="900" dirty="0">
                <a:solidFill>
                  <a:srgbClr val="D7D4CC"/>
                </a:solidFill>
                <a:latin typeface="Raleway Medium" pitchFamily="34" charset="0"/>
                <a:ea typeface="Raleway Medium" pitchFamily="34" charset="-122"/>
                <a:cs typeface="Raleway Medium" pitchFamily="34" charset="-120"/>
              </a:rPr>
              <a:t>Referral &amp; Retention Rate</a:t>
            </a:r>
            <a:endParaRPr lang="en-US" sz="900" dirty="0"/>
          </a:p>
        </p:txBody>
      </p:sp>
      <p:sp>
        <p:nvSpPr>
          <p:cNvPr id="34" name="Shape 32"/>
          <p:cNvSpPr/>
          <p:nvPr/>
        </p:nvSpPr>
        <p:spPr>
          <a:xfrm>
            <a:off x="875109" y="4236913"/>
            <a:ext cx="7393781" cy="401538"/>
          </a:xfrm>
          <a:prstGeom prst="roundRect">
            <a:avLst>
              <a:gd name="adj" fmla="val 45033"/>
            </a:avLst>
          </a:prstGeom>
          <a:solidFill>
            <a:srgbClr val="183A13"/>
          </a:solidFill>
          <a:ln/>
        </p:spPr>
      </p:sp>
      <p:pic>
        <p:nvPicPr>
          <p:cNvPr id="35" name="Image 0" descr="preencoded.png">    </p:cNvPr>
          <p:cNvPicPr>
            <a:picLocks noChangeAspect="1"/>
          </p:cNvPicPr>
          <p:nvPr/>
        </p:nvPicPr>
        <p:blipFill>
          <a:blip r:embed="rId1"/>
          <a:stretch>
            <a:fillRect/>
          </a:stretch>
        </p:blipFill>
        <p:spPr>
          <a:xfrm>
            <a:off x="995660" y="4401145"/>
            <a:ext cx="150688" cy="120551"/>
          </a:xfrm>
          <a:prstGeom prst="rect">
            <a:avLst/>
          </a:prstGeom>
        </p:spPr>
      </p:pic>
      <p:sp>
        <p:nvSpPr>
          <p:cNvPr id="36" name="Text 33"/>
          <p:cNvSpPr/>
          <p:nvPr/>
        </p:nvSpPr>
        <p:spPr>
          <a:xfrm>
            <a:off x="1266899" y="4351809"/>
            <a:ext cx="7338640" cy="171748"/>
          </a:xfrm>
          <a:prstGeom prst="rect">
            <a:avLst/>
          </a:prstGeom>
          <a:noFill/>
          <a:ln/>
        </p:spPr>
        <p:txBody>
          <a:bodyPr wrap="none" lIns="0" tIns="0" rIns="0" bIns="0" rtlCol="0" anchor="t"/>
          <a:lstStyle/>
          <a:p>
            <a:pPr algn="l" indent="0" marL="0">
              <a:lnSpc>
                <a:spcPct val="119000"/>
              </a:lnSpc>
              <a:buNone/>
            </a:pPr>
            <a:r>
              <a:rPr lang="en-US" sz="900" b="1" dirty="0">
                <a:solidFill>
                  <a:srgbClr val="FFFFFF"/>
                </a:solidFill>
                <a:latin typeface="Raleway Medium" pitchFamily="34" charset="0"/>
                <a:ea typeface="Raleway Medium" pitchFamily="34" charset="-122"/>
                <a:cs typeface="Raleway Medium" pitchFamily="34" charset="-120"/>
              </a:rPr>
              <a:t>Core Success Formula:</a:t>
            </a:r>
            <a:pPr algn="l" indent="0" marL="0">
              <a:lnSpc>
                <a:spcPct val="119000"/>
              </a:lnSpc>
              <a:buNone/>
            </a:pPr>
            <a:r>
              <a:rPr lang="en-US" sz="900" dirty="0">
                <a:solidFill>
                  <a:srgbClr val="FFFFFF"/>
                </a:solidFill>
                <a:latin typeface="Raleway Medium" pitchFamily="34" charset="0"/>
                <a:ea typeface="Raleway Medium" pitchFamily="34" charset="-122"/>
                <a:cs typeface="Raleway Medium" pitchFamily="34" charset="-120"/>
              </a:rPr>
              <a:t> More Students → More Bookings → More Revenue → Higher Profitability → Faster Expansion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2026-06-07T10:27:32Z</dcterms:created>
  <dcterms:modified xsi:type="dcterms:W3CDTF">2026-06-07T10:27:32Z</dcterms:modified>
</cp:coreProperties>
</file>