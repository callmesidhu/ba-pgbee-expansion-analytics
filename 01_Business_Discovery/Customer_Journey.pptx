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Comfortaa Bold"/>
      <p:regular r:id="rId15"/>
    </p:embeddedFont>
    <p:embeddedFont>
      <p:font typeface="Raleway Medium"/>
      <p:regular r:id="rId16"/>
    </p:embeddedFont>
    <p:embeddedFont>
      <p:font typeface="Raleway Bold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360363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PgBee Customer Journey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69023" y="2449041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Understanding the student accommodation experience — from first search to long-term loyalty.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9023" y="3116387"/>
            <a:ext cx="2613645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6" name="Text 3"/>
          <p:cNvSpPr/>
          <p:nvPr/>
        </p:nvSpPr>
        <p:spPr>
          <a:xfrm>
            <a:off x="4061594" y="3162672"/>
            <a:ext cx="288570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PGBEE BUSINESS GROWTH &amp; ANALYTICS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69023" y="3483546"/>
            <a:ext cx="2381473" cy="299591"/>
          </a:xfrm>
          <a:prstGeom prst="roundRect">
            <a:avLst>
              <a:gd name="adj" fmla="val 61806"/>
            </a:avLst>
          </a:prstGeom>
          <a:noFill/>
          <a:ln w="4763">
            <a:solidFill>
              <a:srgbClr val="FFE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6356" y="3534594"/>
            <a:ext cx="264400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PREPARED BY SIDHARTH ·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818406"/>
            <a:ext cx="3421707" cy="19389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42879" y="629766"/>
            <a:ext cx="991567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435450" y="676052"/>
            <a:ext cx="1263625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342879" y="981521"/>
            <a:ext cx="426578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 Is a Customer Journey?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342879" y="1993032"/>
            <a:ext cx="4265786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customer journey maps the complete experience a student has while using PgBee — from discovering the platform to booking and beyond. It reveals behavior, pain points, and opportunities at every touchpoint.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973" y="3293046"/>
            <a:ext cx="3973860" cy="13942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0483" y="346635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Primary Persona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70483" y="3773239"/>
            <a:ext cx="3551039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Budget-conscious student seeking verified, trustworthy accommodation with a fast booking process.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043" y="3293046"/>
            <a:ext cx="3973934" cy="13942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79553" y="346635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Core Objective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879553" y="3773239"/>
            <a:ext cx="355111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Understand student behavior, identify friction, and surface opportunities for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88455" y="286866"/>
            <a:ext cx="643830" cy="153219"/>
          </a:xfrm>
          <a:prstGeom prst="roundRect">
            <a:avLst>
              <a:gd name="adj" fmla="val 73643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744861" y="315069"/>
            <a:ext cx="988219" cy="9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JOURNEY MAP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688455" y="463004"/>
            <a:ext cx="3611984" cy="26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End-to-End Student Journey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88455" y="810146"/>
            <a:ext cx="5767090" cy="24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journey spans nine stages — from recognizing a housing need to becoming a loyal PgBee advocate. Each stage is an opportunity to earn trust and reduce friction.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455" y="1116732"/>
            <a:ext cx="5767090" cy="3218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88455" y="4399955"/>
            <a:ext cx="5767090" cy="392162"/>
          </a:xfrm>
          <a:prstGeom prst="roundRect">
            <a:avLst>
              <a:gd name="adj" fmla="val 35966"/>
            </a:avLst>
          </a:prstGeom>
          <a:solidFill>
            <a:srgbClr val="4D40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40" y="4520803"/>
            <a:ext cx="117500" cy="939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93925" y="4474964"/>
            <a:ext cx="5367635" cy="24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Insight: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The journey doesn't end at booking. Post-booking satisfaction drives referrals, reviews, and long-term platform growth.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6313" y="430560"/>
            <a:ext cx="616669" cy="266105"/>
          </a:xfrm>
          <a:prstGeom prst="roundRect">
            <a:avLst>
              <a:gd name="adj" fmla="val 65235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593080" y="473943"/>
            <a:ext cx="900336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6313" y="750912"/>
            <a:ext cx="496259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Awareness: Discover PgBee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6313" y="1356122"/>
            <a:ext cx="2283396" cy="1610618"/>
          </a:xfrm>
          <a:prstGeom prst="roundRect">
            <a:avLst>
              <a:gd name="adj" fmla="val 13473"/>
            </a:avLst>
          </a:prstGeom>
          <a:solidFill>
            <a:srgbClr val="46464A"/>
          </a:solidFill>
          <a:ln/>
        </p:spPr>
      </p:sp>
      <p:sp>
        <p:nvSpPr>
          <p:cNvPr id="7" name="Text 4"/>
          <p:cNvSpPr/>
          <p:nvPr/>
        </p:nvSpPr>
        <p:spPr>
          <a:xfrm>
            <a:off x="650974" y="1500783"/>
            <a:ext cx="185558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How Students Find Us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0974" y="1783035"/>
            <a:ext cx="1994074" cy="1039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Online search &amp; SEO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Friend referrals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Social media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College partnerships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5291" y="1356122"/>
            <a:ext cx="2283396" cy="1610618"/>
          </a:xfrm>
          <a:prstGeom prst="roundRect">
            <a:avLst>
              <a:gd name="adj" fmla="val 13473"/>
            </a:avLst>
          </a:prstGeom>
          <a:solidFill>
            <a:srgbClr val="46464A"/>
          </a:solidFill>
          <a:ln/>
        </p:spPr>
      </p:sp>
      <p:sp>
        <p:nvSpPr>
          <p:cNvPr id="10" name="Text 7"/>
          <p:cNvSpPr/>
          <p:nvPr/>
        </p:nvSpPr>
        <p:spPr>
          <a:xfrm>
            <a:off x="3069952" y="1500783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Student Questions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69952" y="1783035"/>
            <a:ext cx="1994074" cy="76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Is this platform reliable?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Are hostels verified?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Can I trust the listings?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6313" y="3102322"/>
            <a:ext cx="4702373" cy="1610618"/>
          </a:xfrm>
          <a:prstGeom prst="roundRect">
            <a:avLst>
              <a:gd name="adj" fmla="val 13473"/>
            </a:avLst>
          </a:prstGeom>
          <a:solidFill>
            <a:srgbClr val="46464A"/>
          </a:solidFill>
          <a:ln/>
        </p:spPr>
      </p:sp>
      <p:sp>
        <p:nvSpPr>
          <p:cNvPr id="13" name="Text 10"/>
          <p:cNvSpPr/>
          <p:nvPr/>
        </p:nvSpPr>
        <p:spPr>
          <a:xfrm>
            <a:off x="650974" y="3246983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Opportunities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0974" y="3529236"/>
            <a:ext cx="4413052" cy="1039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SEO &amp; content marketing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Referral incentive programs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Verified badge system</a:t>
            </a:r>
            <a:endParaRPr lang="en-US" sz="11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College ambassador network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2970" y="363438"/>
            <a:ext cx="500955" cy="198909"/>
          </a:xfrm>
          <a:prstGeom prst="roundRect">
            <a:avLst>
              <a:gd name="adj" fmla="val 69818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2398" y="398115"/>
            <a:ext cx="819299" cy="12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22970" y="597024"/>
            <a:ext cx="501900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Consideration: Search &amp; Compare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70" y="1146274"/>
            <a:ext cx="3407792" cy="1931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7852" y="1235050"/>
            <a:ext cx="17430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What Students Do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17852" y="1482551"/>
            <a:ext cx="3407792" cy="485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Students search, filter, and compare hostels based on price, location, safety, and facilities — looking for the best fit within their budget.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7852" y="2055316"/>
            <a:ext cx="17430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Decision Factors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17852" y="2250728"/>
            <a:ext cx="17430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Key Pain Points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17852" y="2498229"/>
            <a:ext cx="3407792" cy="5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Insufficient hostel details and photos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 verified reviews or ratings</a:t>
            </a:r>
            <a:endParaRPr lang="en-US" sz="90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Limited filtering options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22970" y="3272582"/>
            <a:ext cx="3505572" cy="347142"/>
          </a:xfrm>
          <a:prstGeom prst="roundRect">
            <a:avLst>
              <a:gd name="adj" fmla="val 480061"/>
            </a:avLst>
          </a:prstGeom>
          <a:solidFill>
            <a:srgbClr val="4646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8952" y="3359348"/>
            <a:ext cx="173534" cy="1735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38684" y="3706490"/>
            <a:ext cx="1285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5309" y="3272582"/>
            <a:ext cx="3505646" cy="347142"/>
          </a:xfrm>
          <a:prstGeom prst="roundRect">
            <a:avLst>
              <a:gd name="adj" fmla="val 480061"/>
            </a:avLst>
          </a:prstGeom>
          <a:solidFill>
            <a:srgbClr val="4646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1365" y="3359348"/>
            <a:ext cx="173534" cy="1735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1023" y="3706490"/>
            <a:ext cx="1285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1022970" y="4069705"/>
            <a:ext cx="3505572" cy="347142"/>
          </a:xfrm>
          <a:prstGeom prst="roundRect">
            <a:avLst>
              <a:gd name="adj" fmla="val 480061"/>
            </a:avLst>
          </a:prstGeom>
          <a:solidFill>
            <a:srgbClr val="4646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8952" y="4156472"/>
            <a:ext cx="173534" cy="1735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38684" y="4503613"/>
            <a:ext cx="1285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Safety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15309" y="4069705"/>
            <a:ext cx="3505646" cy="347142"/>
          </a:xfrm>
          <a:prstGeom prst="roundRect">
            <a:avLst>
              <a:gd name="adj" fmla="val 480061"/>
            </a:avLst>
          </a:prstGeom>
          <a:solidFill>
            <a:srgbClr val="4646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1365" y="4156472"/>
            <a:ext cx="173534" cy="1735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31023" y="4503613"/>
            <a:ext cx="1285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Reviews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1142" y="390302"/>
            <a:ext cx="532730" cy="215057"/>
          </a:xfrm>
          <a:prstGeom prst="roundRect">
            <a:avLst>
              <a:gd name="adj" fmla="val 68612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874886" y="427137"/>
            <a:ext cx="842442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1142" y="644500"/>
            <a:ext cx="3209999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Booking &amp; Payment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801142" y="1133029"/>
            <a:ext cx="7541642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Students are excited but cautious. A smooth, transparent booking experience is critical to converting interest into confirmed reservations.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142" y="1596554"/>
            <a:ext cx="3721819" cy="12119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88233" y="1688753"/>
            <a:ext cx="14748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38361" y="2088356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Select Hostel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38361" y="2317924"/>
            <a:ext cx="3447380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Student chooses their preferred option after comparing listings.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890" y="1596554"/>
            <a:ext cx="3721894" cy="12119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8055" y="1688753"/>
            <a:ext cx="14748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8110" y="2088356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Confirm Booking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58110" y="2317924"/>
            <a:ext cx="3447455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Instant confirmation builds trust and reduces anxiety.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142" y="2906390"/>
            <a:ext cx="3721819" cy="10352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88233" y="2998589"/>
            <a:ext cx="14748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938361" y="3398193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Complete Payment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938361" y="3627760"/>
            <a:ext cx="3447380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Secure, transparent checkout with no hidden charges.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0890" y="2906390"/>
            <a:ext cx="3721894" cy="10352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8055" y="2998589"/>
            <a:ext cx="147489" cy="184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758110" y="3398193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Track Status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758110" y="3627760"/>
            <a:ext cx="3447455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Real-time booking status visibility through confirmation.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01142" y="4051846"/>
            <a:ext cx="7541642" cy="591145"/>
          </a:xfrm>
          <a:prstGeom prst="roundRect">
            <a:avLst>
              <a:gd name="adj" fmla="val 31201"/>
            </a:avLst>
          </a:prstGeom>
          <a:solidFill>
            <a:srgbClr val="4B3F0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074" y="4216971"/>
            <a:ext cx="153665" cy="1229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00671" y="4170759"/>
            <a:ext cx="7019181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Pain Points to Address: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Payment failures, hidden charges, and booking uncertainty are the top drop-off triggers at this stage.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38" y="408756"/>
            <a:ext cx="855315" cy="248617"/>
          </a:xfrm>
          <a:prstGeom prst="roundRect">
            <a:avLst>
              <a:gd name="adj" fmla="val 66332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563389" y="449982"/>
            <a:ext cx="1147614" cy="16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STAGES 4 &amp;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938" y="706264"/>
            <a:ext cx="3659163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Move-In &amp; Retention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38" y="1891531"/>
            <a:ext cx="3923407" cy="2223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417" y="1393924"/>
            <a:ext cx="2716634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4: Move-In Experience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44417" y="1707133"/>
            <a:ext cx="3923407" cy="623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first physical interaction with the hostel sets the tone for the entire stay. Gaps between listing and reality erode trust fast.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417" y="2440781"/>
            <a:ext cx="3923407" cy="874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Pain Points: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Communication gaps, listing mismatches, move-in issues</a:t>
            </a:r>
            <a:endParaRPr lang="en-US" sz="105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Opportunities: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Owner messaging tools, check-in support, feedback collection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44417" y="3437260"/>
            <a:ext cx="2736205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5: Retention &amp; Referral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44417" y="3750469"/>
            <a:ext cx="3923407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Happy students become PgBee's best growth channel. Turning users into advocates is the ultimate business goal.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44417" y="4276279"/>
            <a:ext cx="3923407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Opportunities:</a:t>
            </a:r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Referral rewards, loyalty programs, review incentives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249" y="367457"/>
            <a:ext cx="1320403" cy="220563"/>
          </a:xfrm>
          <a:prstGeom prst="roundRect">
            <a:avLst>
              <a:gd name="adj" fmla="val 68211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802407" y="405036"/>
            <a:ext cx="1627287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INSIGHTS &amp; 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27249" y="628724"/>
            <a:ext cx="653921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Pain Points &amp; Strategic Recommendations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27249" y="1129754"/>
            <a:ext cx="7689503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Each stage has clear friction points — and clear opportunities. Prioritizing these improvements will directly impact conversion, retention, and referral growth.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27249" y="1607939"/>
            <a:ext cx="7689503" cy="2204070"/>
          </a:xfrm>
          <a:prstGeom prst="roundRect">
            <a:avLst>
              <a:gd name="adj" fmla="val 853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011" y="1612702"/>
            <a:ext cx="7679978" cy="3135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7399" y="1678558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95761" y="1678558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Pain Point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67722" y="1678558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Priority Action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2011" y="1926208"/>
            <a:ext cx="7679978" cy="3135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57399" y="1992064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Awareness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95761" y="1992064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Lack of trust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67722" y="1992064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Verified badges &amp; college partnerships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2011" y="2239714"/>
            <a:ext cx="7679978" cy="3135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57399" y="2305571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95761" y="2305571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Limited information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67722" y="2305571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Richer listings with photos &amp; amenities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2011" y="2553221"/>
            <a:ext cx="7679978" cy="3135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7399" y="2619077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95761" y="2619077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 ratings/reviews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67722" y="2619077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Verified review system &amp; ratings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2011" y="2866727"/>
            <a:ext cx="7679978" cy="3135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57399" y="2932584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Booking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95761" y="2932584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Payment concerns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67722" y="2932584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Transparent pricing &amp; secure checkout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2011" y="3180234"/>
            <a:ext cx="7679978" cy="31350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57399" y="3246090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Move-In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95761" y="3246090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Communication gaps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67722" y="3246090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In-app owner messaging &amp; check-in support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2011" y="3493740"/>
            <a:ext cx="7679978" cy="31350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57399" y="3559597"/>
            <a:ext cx="174017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Retention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95761" y="3559597"/>
            <a:ext cx="3273772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Low engagement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67722" y="3559597"/>
            <a:ext cx="3276154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Referral rewards &amp; loyalty programs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7249" y="3926607"/>
            <a:ext cx="7689503" cy="849437"/>
          </a:xfrm>
          <a:prstGeom prst="roundRect">
            <a:avLst>
              <a:gd name="adj" fmla="val 22139"/>
            </a:avLst>
          </a:prstGeom>
          <a:solidFill>
            <a:srgbClr val="46464A"/>
          </a:solidFill>
          <a:ln/>
        </p:spPr>
      </p:sp>
      <p:sp>
        <p:nvSpPr>
          <p:cNvPr id="36" name="Shape 34"/>
          <p:cNvSpPr/>
          <p:nvPr/>
        </p:nvSpPr>
        <p:spPr>
          <a:xfrm>
            <a:off x="727249" y="3926607"/>
            <a:ext cx="2563118" cy="849437"/>
          </a:xfrm>
          <a:prstGeom prst="roundRect">
            <a:avLst>
              <a:gd name="adj" fmla="val 22139"/>
            </a:avLst>
          </a:prstGeom>
          <a:solidFill>
            <a:srgbClr val="46464A"/>
          </a:solidFill>
          <a:ln/>
        </p:spPr>
      </p:sp>
      <p:sp>
        <p:nvSpPr>
          <p:cNvPr id="37" name="Text 35"/>
          <p:cNvSpPr/>
          <p:nvPr/>
        </p:nvSpPr>
        <p:spPr>
          <a:xfrm>
            <a:off x="852562" y="4051920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Short-Term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2562" y="4287143"/>
            <a:ext cx="2312491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Fix payment flow, add reviews, improve listing details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0367" y="3926607"/>
            <a:ext cx="2563192" cy="849437"/>
          </a:xfrm>
          <a:prstGeom prst="rect">
            <a:avLst/>
          </a:prstGeom>
          <a:solidFill>
            <a:srgbClr val="46464A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0367" y="3926607"/>
            <a:ext cx="14288" cy="849437"/>
          </a:xfrm>
          <a:prstGeom prst="roundRect">
            <a:avLst>
              <a:gd name="adj" fmla="val 1316202"/>
            </a:avLst>
          </a:prstGeom>
          <a:solidFill>
            <a:srgbClr val="5F5F63"/>
          </a:solidFill>
          <a:ln/>
        </p:spPr>
      </p:sp>
      <p:sp>
        <p:nvSpPr>
          <p:cNvPr id="41" name="Text 39"/>
          <p:cNvSpPr/>
          <p:nvPr/>
        </p:nvSpPr>
        <p:spPr>
          <a:xfrm>
            <a:off x="3415680" y="4051920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Mid-Term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15680" y="4287143"/>
            <a:ext cx="231256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Launch referral program, college partnerships, virtual tours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3559" y="3926607"/>
            <a:ext cx="2563192" cy="849437"/>
          </a:xfrm>
          <a:prstGeom prst="rect">
            <a:avLst/>
          </a:prstGeom>
          <a:solidFill>
            <a:srgbClr val="46464A"/>
          </a:solidFill>
          <a:ln/>
        </p:spPr>
      </p:sp>
      <p:sp>
        <p:nvSpPr>
          <p:cNvPr id="44" name="Shape 42"/>
          <p:cNvSpPr/>
          <p:nvPr/>
        </p:nvSpPr>
        <p:spPr>
          <a:xfrm>
            <a:off x="5853559" y="3926607"/>
            <a:ext cx="14288" cy="849437"/>
          </a:xfrm>
          <a:prstGeom prst="roundRect">
            <a:avLst>
              <a:gd name="adj" fmla="val 1316202"/>
            </a:avLst>
          </a:prstGeom>
          <a:solidFill>
            <a:srgbClr val="5F5F63"/>
          </a:solidFill>
          <a:ln/>
        </p:spPr>
      </p:sp>
      <p:sp>
        <p:nvSpPr>
          <p:cNvPr id="45" name="Text 43"/>
          <p:cNvSpPr/>
          <p:nvPr/>
        </p:nvSpPr>
        <p:spPr>
          <a:xfrm>
            <a:off x="5978872" y="4051920"/>
            <a:ext cx="139303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Long-Term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78872" y="4287143"/>
            <a:ext cx="2312566" cy="363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Build loyalty ecosystem, owner tools, post-booking support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2026-06-05T18:43:17Z</dcterms:created>
  <dcterms:modified xsi:type="dcterms:W3CDTF">2026-06-05T18:43:17Z</dcterms:modified>
</cp:coreProperties>
</file>