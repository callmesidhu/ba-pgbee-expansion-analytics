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Comfortaa Bold"/>
      <p:regular r:id="rId13"/>
    </p:embeddedFont>
    <p:embeddedFont>
      <p:font typeface="Raleway Medium"/>
      <p:regular r:id="rId14"/>
    </p:embeddedFont>
    <p:embeddedFont>
      <p:font typeface="Raleway Bold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image" Target="../media/image-6-14.png"/><Relationship Id="rId15" Type="http://schemas.openxmlformats.org/officeDocument/2006/relationships/image" Target="../media/image-6-15.svg"/><Relationship Id="rId16" Type="http://schemas.openxmlformats.org/officeDocument/2006/relationships/image" Target="../media/image-6-16.png"/><Relationship Id="rId17" Type="http://schemas.openxmlformats.org/officeDocument/2006/relationships/image" Target="../media/image-6-17.sv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7.xml"/><Relationship Id="rId2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6086" y="1660327"/>
            <a:ext cx="1563351" cy="394395"/>
          </a:xfrm>
          <a:prstGeom prst="roundRect">
            <a:avLst>
              <a:gd name="adj" fmla="val 63834"/>
            </a:avLst>
          </a:prstGeom>
          <a:solidFill>
            <a:srgbClr val="4D4000"/>
          </a:solidFill>
          <a:ln/>
        </p:spPr>
      </p:sp>
      <p:sp>
        <p:nvSpPr>
          <p:cNvPr id="4" name="Text 1"/>
          <p:cNvSpPr/>
          <p:nvPr/>
        </p:nvSpPr>
        <p:spPr>
          <a:xfrm>
            <a:off x="5431892" y="1723231"/>
            <a:ext cx="1921323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PROJECT PGBEE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306086" y="2138561"/>
            <a:ext cx="6151409" cy="11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PgBee Stakeholder Analysis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5306086" y="3618607"/>
            <a:ext cx="6151409" cy="157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Understanding key stakeholders in the PgBee ecosystem — mapping needs, influence, and engagement strategies to drive business growth, profitability, and expansion.</a:t>
            </a:r>
            <a:endParaRPr lang="en-US" sz="1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50" i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Prepared by Sidharth · June 2026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300262"/>
            <a:ext cx="7173535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Who Are the Stakeholders?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2302570"/>
            <a:ext cx="10723294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Stakeholders are individuals or groups who </a:t>
            </a:r>
            <a:pPr algn="l" indent="0" marL="0">
              <a:lnSpc>
                <a:spcPct val="1330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influence or are affected by</a:t>
            </a:r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PgBee's success. Understanding their needs, expectations, and influence levels is essential for strategic decision-making.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83193" y="3210024"/>
            <a:ext cx="5407783" cy="2347615"/>
          </a:xfrm>
          <a:prstGeom prst="roundRect">
            <a:avLst>
              <a:gd name="adj" fmla="val 21448"/>
            </a:avLst>
          </a:prstGeom>
          <a:solidFill>
            <a:srgbClr val="FFE14D"/>
          </a:solidFill>
          <a:ln/>
        </p:spPr>
      </p:sp>
      <p:sp>
        <p:nvSpPr>
          <p:cNvPr id="5" name="Text 3"/>
          <p:cNvSpPr/>
          <p:nvPr/>
        </p:nvSpPr>
        <p:spPr>
          <a:xfrm>
            <a:off x="792936" y="3419773"/>
            <a:ext cx="322621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Primary Stakeholders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2936" y="3920927"/>
            <a:ext cx="4988296" cy="1563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Students</a:t>
            </a:r>
            <a:endParaRPr lang="en-US" sz="16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Hostel Owners</a:t>
            </a:r>
            <a:endParaRPr lang="en-US" sz="16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PgBee Management</a:t>
            </a:r>
            <a:endParaRPr lang="en-US" sz="16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Admin Team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358076" y="3419773"/>
            <a:ext cx="359926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Secondary Stakeholders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58076" y="3920927"/>
            <a:ext cx="5105768" cy="1563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Parents</a:t>
            </a:r>
            <a:endParaRPr lang="en-US" sz="16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Educational Institutions</a:t>
            </a:r>
            <a:endParaRPr lang="en-US" sz="16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Payment Gateway Partners</a:t>
            </a:r>
            <a:endParaRPr lang="en-US" sz="16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Local Businesses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6222" y="422672"/>
            <a:ext cx="5475845" cy="409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Stakeholder Ecosystem Map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6222" y="1039812"/>
            <a:ext cx="11159251" cy="402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PgBee acts as the </a:t>
            </a:r>
            <a:pPr algn="l"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central platform</a:t>
            </a:r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connecting all stakeholders — from students searching for accommodation to institutions, payment partners, and local businesses. Every group plays a role in the ecosystem's health and growth.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222" y="1558528"/>
            <a:ext cx="8737381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87077"/>
            <a:ext cx="6351329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Stakeholder Needs Analysis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34200" y="1385491"/>
            <a:ext cx="11332879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Each stakeholder group has distinct expectations. Meeting these needs drives platform quality, trust, and revenue.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4200" y="1819771"/>
            <a:ext cx="10723294" cy="3220740"/>
          </a:xfrm>
          <a:prstGeom prst="roundRect">
            <a:avLst>
              <a:gd name="adj" fmla="val 8305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550" y="1826121"/>
            <a:ext cx="10710595" cy="4582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9040" y="1923355"/>
            <a:ext cx="2391906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Stakeholder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64294" y="1923355"/>
            <a:ext cx="4530810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Core Need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48453" y="1923355"/>
            <a:ext cx="453398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Value Expected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550" y="2284412"/>
            <a:ext cx="10710595" cy="4582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9040" y="2381647"/>
            <a:ext cx="2391906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Students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4294" y="2381647"/>
            <a:ext cx="4530810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Affordable hostels, easy booking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48453" y="2381647"/>
            <a:ext cx="453398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Safe, verified accommodation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0550" y="2742704"/>
            <a:ext cx="10710595" cy="4582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9040" y="2839938"/>
            <a:ext cx="2391906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Hostel Owners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64294" y="2839938"/>
            <a:ext cx="4530810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Higher occupancy, more bookings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48453" y="2839938"/>
            <a:ext cx="453398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Revenue growth, lead generation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0550" y="3200995"/>
            <a:ext cx="10710595" cy="4582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9040" y="3298230"/>
            <a:ext cx="2391906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Admin Team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64294" y="3298230"/>
            <a:ext cx="4530810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Easy verification workflows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48453" y="3298230"/>
            <a:ext cx="453398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Platform quality, efficiency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550" y="3659287"/>
            <a:ext cx="10710595" cy="4582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9040" y="3756521"/>
            <a:ext cx="2391906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Management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64294" y="3756521"/>
            <a:ext cx="4530810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Business growth, revenue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48453" y="3756521"/>
            <a:ext cx="453398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Scalable operations, KPIs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0550" y="4117578"/>
            <a:ext cx="10710595" cy="4582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19040" y="4214813"/>
            <a:ext cx="2391906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Parents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064294" y="4214813"/>
            <a:ext cx="4530810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Student safety, trusted platform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48453" y="4214813"/>
            <a:ext cx="453398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Verified listings, peace of mind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0550" y="4575870"/>
            <a:ext cx="10710595" cy="4582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19040" y="4673104"/>
            <a:ext cx="2391906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Colleges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064294" y="4673104"/>
            <a:ext cx="4530810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Student accommodation support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48453" y="4673104"/>
            <a:ext cx="453398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Better student experience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4200" y="5210969"/>
            <a:ext cx="10723294" cy="889397"/>
          </a:xfrm>
          <a:prstGeom prst="roundRect">
            <a:avLst>
              <a:gd name="adj" fmla="val 30076"/>
            </a:avLst>
          </a:prstGeom>
          <a:solidFill>
            <a:srgbClr val="4D4000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492" y="5455543"/>
            <a:ext cx="222840" cy="17829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313623" y="5391845"/>
            <a:ext cx="9965580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Key Insight:</a:t>
            </a:r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Students and Hostel Owners are the most critical stakeholders — their satisfaction directly drives platform adoption and revenue.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100" y="288429"/>
            <a:ext cx="312332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Power vs. Interest Matrix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367100" y="611783"/>
            <a:ext cx="11824595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Prioritizing stakeholders by their </a:t>
            </a:r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level of power</a:t>
            </a:r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and </a:t>
            </a:r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degree of interest</a:t>
            </a:r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helps PgBee allocate engagement resources effectively and avoid overlooking critical voices.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00" y="755948"/>
            <a:ext cx="8737381" cy="4876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7100" y="5675313"/>
            <a:ext cx="11457495" cy="1290638"/>
          </a:xfrm>
          <a:prstGeom prst="roundRect">
            <a:avLst>
              <a:gd name="adj" fmla="val 10363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73450" y="5681663"/>
            <a:ext cx="11444795" cy="15974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62546" y="5710734"/>
            <a:ext cx="6150615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Stakeholder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188119" y="5710734"/>
            <a:ext cx="3286241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Power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9049317" y="5710734"/>
            <a:ext cx="3142378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Interest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373450" y="5841405"/>
            <a:ext cx="11444795" cy="15974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62546" y="5870476"/>
            <a:ext cx="6150615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Students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188119" y="5870476"/>
            <a:ext cx="3286241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Medium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9049317" y="5870476"/>
            <a:ext cx="3142378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73450" y="6001147"/>
            <a:ext cx="11444795" cy="15974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62546" y="6030218"/>
            <a:ext cx="6150615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Hostel Owners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188119" y="6030218"/>
            <a:ext cx="3286241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9049317" y="6030218"/>
            <a:ext cx="3142378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73450" y="6160889"/>
            <a:ext cx="11444795" cy="15974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62546" y="6189960"/>
            <a:ext cx="6150615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Management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188119" y="6189960"/>
            <a:ext cx="3286241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9049317" y="6189960"/>
            <a:ext cx="3142378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373450" y="6320631"/>
            <a:ext cx="11444795" cy="15974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62546" y="6349702"/>
            <a:ext cx="6150615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Admin Team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188119" y="6349702"/>
            <a:ext cx="3286241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Medium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9049317" y="6349702"/>
            <a:ext cx="3142378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373450" y="6480373"/>
            <a:ext cx="11444795" cy="15974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462546" y="6509445"/>
            <a:ext cx="6150615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Parents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188119" y="6509445"/>
            <a:ext cx="3286241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Low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9049317" y="6509445"/>
            <a:ext cx="3142378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Medium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373450" y="6640116"/>
            <a:ext cx="11444795" cy="15974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462546" y="6669187"/>
            <a:ext cx="6150615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Colleges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188119" y="6669187"/>
            <a:ext cx="3286241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9049317" y="6669187"/>
            <a:ext cx="3142378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Medium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373450" y="6799858"/>
            <a:ext cx="11444795" cy="15974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462546" y="6828929"/>
            <a:ext cx="6150615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Payment Partners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188119" y="6828929"/>
            <a:ext cx="3286241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Medium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9049317" y="6828929"/>
            <a:ext cx="3142378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Medium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780752"/>
            <a:ext cx="6071043" cy="37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Stakeholder Engagement Strategy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5306086" y="1292423"/>
            <a:ext cx="6151409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Targeted actions for each stakeholder group ensure PgBee builds trust, drives adoption, and sustains growth.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6086" y="1751905"/>
            <a:ext cx="6151409" cy="81815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5589" y="2058690"/>
            <a:ext cx="204485" cy="2044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959127" y="1907282"/>
            <a:ext cx="15151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Students</a:t>
            </a:r>
            <a:endParaRPr lang="en-US" sz="1150" dirty="0"/>
          </a:p>
        </p:txBody>
      </p:sp>
      <p:sp>
        <p:nvSpPr>
          <p:cNvPr id="8" name="Text 3"/>
          <p:cNvSpPr/>
          <p:nvPr/>
        </p:nvSpPr>
        <p:spPr>
          <a:xfrm>
            <a:off x="5959127" y="2149773"/>
            <a:ext cx="534299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Mobile app improvements, faster booking, and reviews &amp; ratings</a:t>
            </a:r>
            <a:endParaRPr lang="en-US" sz="10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6086" y="2658666"/>
            <a:ext cx="6151409" cy="818158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95589" y="2965450"/>
            <a:ext cx="204485" cy="20449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959127" y="2814042"/>
            <a:ext cx="15151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Hostel Owners</a:t>
            </a:r>
            <a:endParaRPr lang="en-US" sz="1150" dirty="0"/>
          </a:p>
        </p:txBody>
      </p:sp>
      <p:sp>
        <p:nvSpPr>
          <p:cNvPr id="12" name="Text 5"/>
          <p:cNvSpPr/>
          <p:nvPr/>
        </p:nvSpPr>
        <p:spPr>
          <a:xfrm>
            <a:off x="5959127" y="3056533"/>
            <a:ext cx="534299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Increased visibility, occupancy reports, and premium plans</a:t>
            </a:r>
            <a:endParaRPr lang="en-US" sz="10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06086" y="3565426"/>
            <a:ext cx="6151409" cy="818158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95589" y="3872210"/>
            <a:ext cx="204485" cy="20449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959127" y="3720802"/>
            <a:ext cx="15151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16" name="Text 7"/>
          <p:cNvSpPr/>
          <p:nvPr/>
        </p:nvSpPr>
        <p:spPr>
          <a:xfrm>
            <a:off x="5959127" y="3963293"/>
            <a:ext cx="534299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KPI dashboards, revenue reporting, and growth analytics</a:t>
            </a:r>
            <a:endParaRPr lang="en-US" sz="10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06086" y="4472186"/>
            <a:ext cx="6151409" cy="818158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495589" y="4778970"/>
            <a:ext cx="204485" cy="20449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959127" y="4627563"/>
            <a:ext cx="15151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Parents &amp; Colleges</a:t>
            </a:r>
            <a:endParaRPr lang="en-US" sz="1150" dirty="0"/>
          </a:p>
        </p:txBody>
      </p:sp>
      <p:sp>
        <p:nvSpPr>
          <p:cNvPr id="20" name="Text 9"/>
          <p:cNvSpPr/>
          <p:nvPr/>
        </p:nvSpPr>
        <p:spPr>
          <a:xfrm>
            <a:off x="5959127" y="4870053"/>
            <a:ext cx="534299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Verified hostels, safety assurance, and partnership programs</a:t>
            </a:r>
            <a:endParaRPr lang="en-US" sz="1050" dirty="0"/>
          </a:p>
        </p:txBody>
      </p:sp>
      <p:sp>
        <p:nvSpPr>
          <p:cNvPr id="21" name="Shape 10"/>
          <p:cNvSpPr/>
          <p:nvPr/>
        </p:nvSpPr>
        <p:spPr>
          <a:xfrm>
            <a:off x="5306086" y="5390059"/>
            <a:ext cx="6151409" cy="587375"/>
          </a:xfrm>
          <a:prstGeom prst="roundRect">
            <a:avLst>
              <a:gd name="adj" fmla="val 34825"/>
            </a:avLst>
          </a:prstGeom>
          <a:solidFill>
            <a:srgbClr val="183A13"/>
          </a:solidFill>
          <a:ln/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42409" y="5568057"/>
            <a:ext cx="170454" cy="136327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749186" y="5503863"/>
            <a:ext cx="5571986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Business success depends on: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Student acquisition · Hostel onboarding · Revenue growth · Stakeholder satisfaction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2026-06-05T18:27:19Z</dcterms:created>
  <dcterms:modified xsi:type="dcterms:W3CDTF">2026-06-05T18:27:19Z</dcterms:modified>
</cp:coreProperties>
</file>