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Comfortaa Bold"/>
      <p:regular r:id="rId17"/>
    </p:embeddedFont>
    <p:embeddedFont>
      <p:font typeface="Raleway Medium"/>
      <p:regular r:id="rId18"/>
    </p:embeddedFont>
    <p:embeddedFont>
      <p:font typeface="Raleway Bold"/>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slideLayout" Target="../slideLayouts/slideLayout4.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image" Target="../media/image-6-17.png"/><Relationship Id="rId18" Type="http://schemas.openxmlformats.org/officeDocument/2006/relationships/image" Target="../media/image-6-18.svg"/><Relationship Id="rId19" Type="http://schemas.openxmlformats.org/officeDocument/2006/relationships/image" Target="../media/image-6-19.png"/><Relationship Id="rId20" Type="http://schemas.openxmlformats.org/officeDocument/2006/relationships/image" Target="../media/image-6-20.svg"/><Relationship Id="rId21" Type="http://schemas.openxmlformats.org/officeDocument/2006/relationships/slideLayout" Target="../slideLayouts/slideLayout7.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image" Target="../media/image-8-14.svg"/><Relationship Id="rId15" Type="http://schemas.openxmlformats.org/officeDocument/2006/relationships/slideLayout" Target="../slideLayouts/slideLayout9.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image" Target="../media/image-9-17.png"/><Relationship Id="rId18" Type="http://schemas.openxmlformats.org/officeDocument/2006/relationships/image" Target="../media/image-9-18.svg"/><Relationship Id="rId19" Type="http://schemas.openxmlformats.org/officeDocument/2006/relationships/slideLayout" Target="../slideLayouts/slideLayout10.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79664" y="1544017"/>
            <a:ext cx="4613672" cy="76497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FFE14D"/>
                </a:solidFill>
                <a:latin typeface="Comfortaa Bold" pitchFamily="34" charset="0"/>
                <a:ea typeface="Comfortaa Bold" pitchFamily="34" charset="-122"/>
                <a:cs typeface="Comfortaa Bold" pitchFamily="34" charset="-120"/>
              </a:rPr>
              <a:t>PgBee Competitor SWOT Analysis</a:t>
            </a:r>
            <a:endParaRPr lang="en-US" sz="2400" dirty="0"/>
          </a:p>
        </p:txBody>
      </p:sp>
      <p:sp>
        <p:nvSpPr>
          <p:cNvPr id="4" name="Text 1"/>
          <p:cNvSpPr/>
          <p:nvPr/>
        </p:nvSpPr>
        <p:spPr>
          <a:xfrm>
            <a:off x="3979664" y="2515493"/>
            <a:ext cx="4613672" cy="660797"/>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D7D4CC"/>
                </a:solidFill>
                <a:latin typeface="Raleway Medium" pitchFamily="34" charset="0"/>
                <a:ea typeface="Raleway Medium" pitchFamily="34" charset="-122"/>
                <a:cs typeface="Raleway Medium" pitchFamily="34" charset="-120"/>
              </a:rPr>
              <a:t>Business Analysis Project – Module 3</a:t>
            </a:r>
            <a:endParaRPr lang="en-US" sz="1050" dirty="0"/>
          </a:p>
          <a:p>
            <a:pPr algn="l" indent="0" marL="0">
              <a:lnSpc>
                <a:spcPct val="133000"/>
              </a:lnSpc>
              <a:buNone/>
            </a:pPr>
            <a:r>
              <a:rPr lang="en-US" sz="1050" dirty="0">
                <a:solidFill>
                  <a:srgbClr val="D7D4CC"/>
                </a:solidFill>
                <a:latin typeface="Raleway Medium" pitchFamily="34" charset="0"/>
                <a:ea typeface="Raleway Medium" pitchFamily="34" charset="-122"/>
                <a:cs typeface="Raleway Medium" pitchFamily="34" charset="-120"/>
              </a:rPr>
              <a:t>Prepared For: PgBee Business Growth, Profitability &amp; Expansion Analytics</a:t>
            </a:r>
            <a:endParaRPr lang="en-US" sz="1050" dirty="0"/>
          </a:p>
        </p:txBody>
      </p:sp>
      <p:sp>
        <p:nvSpPr>
          <p:cNvPr id="5" name="Shape 2"/>
          <p:cNvSpPr/>
          <p:nvPr/>
        </p:nvSpPr>
        <p:spPr>
          <a:xfrm>
            <a:off x="3979664" y="3335908"/>
            <a:ext cx="2015133" cy="258812"/>
          </a:xfrm>
          <a:prstGeom prst="roundRect">
            <a:avLst>
              <a:gd name="adj" fmla="val 63838"/>
            </a:avLst>
          </a:prstGeom>
          <a:solidFill>
            <a:srgbClr val="4D4000"/>
          </a:solidFill>
          <a:ln/>
        </p:spPr>
      </p:sp>
      <p:sp>
        <p:nvSpPr>
          <p:cNvPr id="6" name="Text 3"/>
          <p:cNvSpPr/>
          <p:nvPr/>
        </p:nvSpPr>
        <p:spPr>
          <a:xfrm>
            <a:off x="4062264" y="3377208"/>
            <a:ext cx="2307134" cy="176213"/>
          </a:xfrm>
          <a:prstGeom prst="rect">
            <a:avLst/>
          </a:prstGeom>
          <a:noFill/>
          <a:ln/>
        </p:spPr>
        <p:txBody>
          <a:bodyPr wrap="none" lIns="0" tIns="0" rIns="0" bIns="0" rtlCol="0" anchor="t"/>
          <a:lstStyle/>
          <a:p>
            <a:pPr algn="l" indent="0" marL="0">
              <a:lnSpc>
                <a:spcPct val="133000"/>
              </a:lnSpc>
              <a:buNone/>
            </a:pPr>
            <a:r>
              <a:rPr lang="en-US" sz="850" dirty="0">
                <a:solidFill>
                  <a:srgbClr val="D7D4CC"/>
                </a:solidFill>
                <a:latin typeface="Raleway Medium" pitchFamily="34" charset="0"/>
                <a:ea typeface="Raleway Medium" pitchFamily="34" charset="-122"/>
                <a:cs typeface="Raleway Medium" pitchFamily="34" charset="-120"/>
              </a:rPr>
              <a:t>STRATEGIC INTELLIGENCE REPORT</a:t>
            </a:r>
            <a:endParaRPr lang="en-US" sz="850" dirty="0"/>
          </a:p>
        </p:txBody>
      </p:sp>
      <p:sp>
        <p:nvSpPr>
          <p:cNvPr id="7" name="Shape 4"/>
          <p:cNvSpPr/>
          <p:nvPr/>
        </p:nvSpPr>
        <p:spPr>
          <a:xfrm>
            <a:off x="6063630" y="3331146"/>
            <a:ext cx="1577206" cy="268337"/>
          </a:xfrm>
          <a:prstGeom prst="roundRect">
            <a:avLst>
              <a:gd name="adj" fmla="val 61572"/>
            </a:avLst>
          </a:prstGeom>
          <a:noFill/>
          <a:ln w="4763">
            <a:solidFill>
              <a:srgbClr val="FFE14D"/>
            </a:solidFill>
            <a:prstDash val="solid"/>
          </a:ln>
        </p:spPr>
      </p:sp>
      <p:sp>
        <p:nvSpPr>
          <p:cNvPr id="8" name="Text 5"/>
          <p:cNvSpPr/>
          <p:nvPr/>
        </p:nvSpPr>
        <p:spPr>
          <a:xfrm>
            <a:off x="6150992" y="3377208"/>
            <a:ext cx="1859682" cy="176213"/>
          </a:xfrm>
          <a:prstGeom prst="rect">
            <a:avLst/>
          </a:prstGeom>
          <a:noFill/>
          <a:ln/>
        </p:spPr>
        <p:txBody>
          <a:bodyPr wrap="none" lIns="0" tIns="0" rIns="0" bIns="0" rtlCol="0" anchor="t"/>
          <a:lstStyle/>
          <a:p>
            <a:pPr algn="l" indent="0" marL="0">
              <a:lnSpc>
                <a:spcPct val="133000"/>
              </a:lnSpc>
              <a:buNone/>
            </a:pPr>
            <a:r>
              <a:rPr lang="en-US" sz="850" dirty="0">
                <a:solidFill>
                  <a:srgbClr val="FFE14D"/>
                </a:solidFill>
                <a:latin typeface="Raleway Medium" pitchFamily="34" charset="0"/>
                <a:ea typeface="Raleway Medium" pitchFamily="34" charset="-122"/>
                <a:cs typeface="Raleway Medium" pitchFamily="34" charset="-120"/>
              </a:rPr>
              <a:t>COMPETITIVE LANDSCAPE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3273" y="453256"/>
            <a:ext cx="3254053" cy="328613"/>
          </a:xfrm>
          <a:prstGeom prst="rect">
            <a:avLst/>
          </a:prstGeom>
          <a:noFill/>
          <a:ln/>
        </p:spPr>
        <p:txBody>
          <a:bodyPr wrap="none" lIns="0" tIns="0" rIns="0" bIns="0" rtlCol="0" anchor="t"/>
          <a:lstStyle/>
          <a:p>
            <a:pPr algn="l" indent="0" marL="0">
              <a:lnSpc>
                <a:spcPct val="104000"/>
              </a:lnSpc>
              <a:buNone/>
            </a:pPr>
            <a:r>
              <a:rPr lang="en-US" sz="2050" b="1" dirty="0">
                <a:solidFill>
                  <a:srgbClr val="FFE14D"/>
                </a:solidFill>
                <a:latin typeface="Comfortaa Bold" pitchFamily="34" charset="0"/>
                <a:ea typeface="Comfortaa Bold" pitchFamily="34" charset="-122"/>
                <a:cs typeface="Comfortaa Bold" pitchFamily="34" charset="-120"/>
              </a:rPr>
              <a:t>Why SWOT Analysis?</a:t>
            </a:r>
            <a:endParaRPr lang="en-US" sz="2050" dirty="0"/>
          </a:p>
        </p:txBody>
      </p:sp>
      <p:sp>
        <p:nvSpPr>
          <p:cNvPr id="3" name="Text 1"/>
          <p:cNvSpPr/>
          <p:nvPr/>
        </p:nvSpPr>
        <p:spPr>
          <a:xfrm>
            <a:off x="473273" y="985168"/>
            <a:ext cx="8197453" cy="527968"/>
          </a:xfrm>
          <a:prstGeom prst="rect">
            <a:avLst/>
          </a:prstGeom>
          <a:noFill/>
          <a:ln/>
        </p:spPr>
        <p:txBody>
          <a:bodyPr wrap="square" lIns="0" tIns="0" rIns="0" bIns="0" rtlCol="0" anchor="t">
            <a:normAutofit/>
          </a:bodyPr>
          <a:lstStyle/>
          <a:p>
            <a:pPr algn="l" indent="0" marL="0">
              <a:lnSpc>
                <a:spcPct val="124000"/>
              </a:lnSpc>
              <a:buNone/>
            </a:pPr>
            <a:r>
              <a:rPr lang="en-US" sz="900" dirty="0">
                <a:solidFill>
                  <a:srgbClr val="D7D4CC"/>
                </a:solidFill>
                <a:latin typeface="Raleway Medium" pitchFamily="34" charset="0"/>
                <a:ea typeface="Raleway Medium" pitchFamily="34" charset="-122"/>
                <a:cs typeface="Raleway Medium" pitchFamily="34" charset="-120"/>
              </a:rPr>
              <a:t>A SWOT analysis provides a structured framework for evaluating PgBee's strategic position by examining internal capabilities alongside external market forces. For a student accommodation platform operating in a competitive and rapidly evolving market, this exercise is critical for identifying where to invest, what to defend, and how to grow sustainably.</a:t>
            </a:r>
            <a:endParaRPr lang="en-US" sz="900" dirty="0"/>
          </a:p>
        </p:txBody>
      </p:sp>
      <p:sp>
        <p:nvSpPr>
          <p:cNvPr id="4" name="Shape 2"/>
          <p:cNvSpPr/>
          <p:nvPr/>
        </p:nvSpPr>
        <p:spPr>
          <a:xfrm>
            <a:off x="388144" y="1627510"/>
            <a:ext cx="4124697" cy="1958429"/>
          </a:xfrm>
          <a:prstGeom prst="roundRect">
            <a:avLst>
              <a:gd name="adj" fmla="val 14500"/>
            </a:avLst>
          </a:prstGeom>
          <a:solidFill>
            <a:srgbClr val="FFE14D"/>
          </a:solidFill>
          <a:ln/>
        </p:spPr>
      </p:sp>
      <p:sp>
        <p:nvSpPr>
          <p:cNvPr id="5" name="Text 3"/>
          <p:cNvSpPr/>
          <p:nvPr/>
        </p:nvSpPr>
        <p:spPr>
          <a:xfrm>
            <a:off x="506462" y="1729160"/>
            <a:ext cx="1771873" cy="164306"/>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Comfortaa Bold" pitchFamily="34" charset="0"/>
                <a:ea typeface="Comfortaa Bold" pitchFamily="34" charset="-122"/>
                <a:cs typeface="Comfortaa Bold" pitchFamily="34" charset="-120"/>
              </a:rPr>
              <a:t>Internal Lens</a:t>
            </a:r>
            <a:endParaRPr lang="en-US" sz="1000" dirty="0"/>
          </a:p>
        </p:txBody>
      </p:sp>
      <p:sp>
        <p:nvSpPr>
          <p:cNvPr id="6" name="Text 4"/>
          <p:cNvSpPr/>
          <p:nvPr/>
        </p:nvSpPr>
        <p:spPr>
          <a:xfrm>
            <a:off x="506462" y="1995115"/>
            <a:ext cx="3888060" cy="1499369"/>
          </a:xfrm>
          <a:prstGeom prst="rect">
            <a:avLst/>
          </a:prstGeom>
          <a:noFill/>
          <a:ln/>
        </p:spPr>
        <p:txBody>
          <a:bodyPr wrap="square" lIns="0" tIns="0" rIns="0" bIns="0" rtlCol="0" anchor="t">
            <a:normAutofit/>
          </a:bodyPr>
          <a:lstStyle/>
          <a:p>
            <a:pPr algn="l" indent="0" marL="0">
              <a:lnSpc>
                <a:spcPct val="124000"/>
              </a:lnSpc>
              <a:buNone/>
            </a:pPr>
            <a:r>
              <a:rPr lang="en-US" sz="900" b="1" dirty="0">
                <a:solidFill>
                  <a:srgbClr val="000000"/>
                </a:solidFill>
                <a:latin typeface="Raleway Medium" pitchFamily="34" charset="0"/>
                <a:ea typeface="Raleway Medium" pitchFamily="34" charset="-122"/>
                <a:cs typeface="Raleway Medium" pitchFamily="34" charset="-120"/>
              </a:rPr>
              <a:t>Strengths</a:t>
            </a:r>
            <a:pPr algn="l" indent="0" marL="0">
              <a:lnSpc>
                <a:spcPct val="124000"/>
              </a:lnSpc>
              <a:spcAft>
                <a:spcPts val="700"/>
              </a:spcAft>
              <a:buNone/>
            </a:pPr>
            <a:r>
              <a:rPr lang="en-US" sz="900" dirty="0">
                <a:solidFill>
                  <a:srgbClr val="000000"/>
                </a:solidFill>
                <a:latin typeface="Raleway Medium" pitchFamily="34" charset="0"/>
                <a:ea typeface="Raleway Medium" pitchFamily="34" charset="-122"/>
                <a:cs typeface="Raleway Medium" pitchFamily="34" charset="-120"/>
              </a:rPr>
              <a:t> — What PgBee does exceptionally well and should leverage aggressively to capture market share. These are the competitive advantages that differentiate PgBee from national players and should form the foundation of all go-to-market messaging.</a:t>
            </a:r>
            <a:endParaRPr lang="en-US" sz="900" dirty="0"/>
          </a:p>
          <a:p>
            <a:pPr algn="l" indent="0" marL="0">
              <a:lnSpc>
                <a:spcPct val="124000"/>
              </a:lnSpc>
              <a:buNone/>
            </a:pPr>
            <a:r>
              <a:rPr lang="en-US" sz="900" b="1" dirty="0">
                <a:solidFill>
                  <a:srgbClr val="000000"/>
                </a:solidFill>
                <a:latin typeface="Raleway Medium" pitchFamily="34" charset="0"/>
                <a:ea typeface="Raleway Medium" pitchFamily="34" charset="-122"/>
                <a:cs typeface="Raleway Medium" pitchFamily="34" charset="-120"/>
              </a:rPr>
              <a:t>Weaknesses</a:t>
            </a:r>
            <a:pPr algn="l" indent="0" marL="0">
              <a:lnSpc>
                <a:spcPct val="124000"/>
              </a:lnSpc>
              <a:buNone/>
            </a:pPr>
            <a:r>
              <a:rPr lang="en-US" sz="900" dirty="0">
                <a:solidFill>
                  <a:srgbClr val="000000"/>
                </a:solidFill>
                <a:latin typeface="Raleway Medium" pitchFamily="34" charset="0"/>
                <a:ea typeface="Raleway Medium" pitchFamily="34" charset="-122"/>
                <a:cs typeface="Raleway Medium" pitchFamily="34" charset="-120"/>
              </a:rPr>
              <a:t> — Internal limitations that constrain growth and must be addressed through targeted investment, process improvement, or strategic partnerships. Understanding these gaps is essential before scaling operations.</a:t>
            </a:r>
            <a:endParaRPr lang="en-US" sz="900" dirty="0"/>
          </a:p>
        </p:txBody>
      </p:sp>
      <p:sp>
        <p:nvSpPr>
          <p:cNvPr id="7" name="Text 5"/>
          <p:cNvSpPr/>
          <p:nvPr/>
        </p:nvSpPr>
        <p:spPr>
          <a:xfrm>
            <a:off x="4721051" y="1729160"/>
            <a:ext cx="1771873" cy="164306"/>
          </a:xfrm>
          <a:prstGeom prst="rect">
            <a:avLst/>
          </a:prstGeom>
          <a:noFill/>
          <a:ln/>
        </p:spPr>
        <p:txBody>
          <a:bodyPr wrap="none" lIns="0" tIns="0" rIns="0" bIns="0" rtlCol="0" anchor="t"/>
          <a:lstStyle/>
          <a:p>
            <a:pPr algn="l"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External Lens</a:t>
            </a:r>
            <a:endParaRPr lang="en-US" sz="1000" dirty="0"/>
          </a:p>
        </p:txBody>
      </p:sp>
      <p:sp>
        <p:nvSpPr>
          <p:cNvPr id="8" name="Text 6"/>
          <p:cNvSpPr/>
          <p:nvPr/>
        </p:nvSpPr>
        <p:spPr>
          <a:xfrm>
            <a:off x="4721051" y="1995115"/>
            <a:ext cx="3954438" cy="1499369"/>
          </a:xfrm>
          <a:prstGeom prst="rect">
            <a:avLst/>
          </a:prstGeom>
          <a:noFill/>
          <a:ln/>
        </p:spPr>
        <p:txBody>
          <a:bodyPr wrap="square" lIns="0" tIns="0" rIns="0" bIns="0" rtlCol="0" anchor="t">
            <a:normAutofit/>
          </a:bodyPr>
          <a:lstStyle/>
          <a:p>
            <a:pPr algn="l" indent="0" marL="0">
              <a:lnSpc>
                <a:spcPct val="124000"/>
              </a:lnSpc>
              <a:buNone/>
            </a:pPr>
            <a:r>
              <a:rPr lang="en-US" sz="900" b="1" dirty="0">
                <a:solidFill>
                  <a:srgbClr val="D7D4CC"/>
                </a:solidFill>
                <a:latin typeface="Raleway Medium" pitchFamily="34" charset="0"/>
                <a:ea typeface="Raleway Medium" pitchFamily="34" charset="-122"/>
                <a:cs typeface="Raleway Medium" pitchFamily="34" charset="-120"/>
              </a:rPr>
              <a:t>Opportunities</a:t>
            </a:r>
            <a:pPr algn="l" indent="0" marL="0">
              <a:lnSpc>
                <a:spcPct val="124000"/>
              </a:lnSpc>
              <a:spcAft>
                <a:spcPts val="700"/>
              </a:spcAft>
              <a:buNone/>
            </a:pPr>
            <a:r>
              <a:rPr lang="en-US" sz="900" dirty="0">
                <a:solidFill>
                  <a:srgbClr val="D7D4CC"/>
                </a:solidFill>
                <a:latin typeface="Raleway Medium" pitchFamily="34" charset="0"/>
                <a:ea typeface="Raleway Medium" pitchFamily="34" charset="-122"/>
                <a:cs typeface="Raleway Medium" pitchFamily="34" charset="-120"/>
              </a:rPr>
              <a:t> — Market trends, underserved segments, and emerging revenue channels that PgBee can capitalize on to accelerate growth and diversify income. These represent the highest-impact areas for near-term strategic focus.</a:t>
            </a:r>
            <a:endParaRPr lang="en-US" sz="900" dirty="0"/>
          </a:p>
          <a:p>
            <a:pPr algn="l" indent="0" marL="0">
              <a:lnSpc>
                <a:spcPct val="124000"/>
              </a:lnSpc>
              <a:buNone/>
            </a:pPr>
            <a:r>
              <a:rPr lang="en-US" sz="900" b="1" dirty="0">
                <a:solidFill>
                  <a:srgbClr val="D7D4CC"/>
                </a:solidFill>
                <a:latin typeface="Raleway Medium" pitchFamily="34" charset="0"/>
                <a:ea typeface="Raleway Medium" pitchFamily="34" charset="-122"/>
                <a:cs typeface="Raleway Medium" pitchFamily="34" charset="-120"/>
              </a:rPr>
              <a:t>Threats</a:t>
            </a:r>
            <a:pPr algn="l" indent="0" marL="0">
              <a:lnSpc>
                <a:spcPct val="124000"/>
              </a:lnSpc>
              <a:buNone/>
            </a:pPr>
            <a:r>
              <a:rPr lang="en-US" sz="900" dirty="0">
                <a:solidFill>
                  <a:srgbClr val="D7D4CC"/>
                </a:solidFill>
                <a:latin typeface="Raleway Medium" pitchFamily="34" charset="0"/>
                <a:ea typeface="Raleway Medium" pitchFamily="34" charset="-122"/>
                <a:cs typeface="Raleway Medium" pitchFamily="34" charset="-120"/>
              </a:rPr>
              <a:t> — Competitive pressures, economic headwinds, and industry risks that could erode PgBee's market position if left unaddressed. Proactive threat monitoring enables faster, more informed decision-making.</a:t>
            </a:r>
            <a:endParaRPr lang="en-US" sz="900" dirty="0"/>
          </a:p>
        </p:txBody>
      </p:sp>
      <p:sp>
        <p:nvSpPr>
          <p:cNvPr id="9" name="Shape 7"/>
          <p:cNvSpPr/>
          <p:nvPr/>
        </p:nvSpPr>
        <p:spPr>
          <a:xfrm>
            <a:off x="473273" y="3700314"/>
            <a:ext cx="2664693" cy="989856"/>
          </a:xfrm>
          <a:prstGeom prst="roundRect">
            <a:avLst>
              <a:gd name="adj" fmla="val 17930"/>
            </a:avLst>
          </a:prstGeom>
          <a:solidFill>
            <a:srgbClr val="46464A"/>
          </a:solidFill>
          <a:ln/>
        </p:spPr>
      </p:sp>
      <p:sp>
        <p:nvSpPr>
          <p:cNvPr id="10" name="Text 8"/>
          <p:cNvSpPr/>
          <p:nvPr/>
        </p:nvSpPr>
        <p:spPr>
          <a:xfrm>
            <a:off x="591592" y="3818632"/>
            <a:ext cx="1796876" cy="164306"/>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 Competitive Advantage</a:t>
            </a:r>
            <a:endParaRPr lang="en-US" sz="1000" dirty="0"/>
          </a:p>
        </p:txBody>
      </p:sp>
      <p:sp>
        <p:nvSpPr>
          <p:cNvPr id="11" name="Text 9"/>
          <p:cNvSpPr/>
          <p:nvPr/>
        </p:nvSpPr>
        <p:spPr>
          <a:xfrm>
            <a:off x="591592" y="4043883"/>
            <a:ext cx="2428056" cy="527968"/>
          </a:xfrm>
          <a:prstGeom prst="rect">
            <a:avLst/>
          </a:prstGeom>
          <a:noFill/>
          <a:ln/>
        </p:spPr>
        <p:txBody>
          <a:bodyPr wrap="square" lIns="0" tIns="0" rIns="0" bIns="0" rtlCol="0" anchor="t">
            <a:normAutofit/>
          </a:bodyPr>
          <a:lstStyle/>
          <a:p>
            <a:pPr algn="l" indent="0" marL="0">
              <a:lnSpc>
                <a:spcPct val="124000"/>
              </a:lnSpc>
              <a:buNone/>
            </a:pPr>
            <a:r>
              <a:rPr lang="en-US" sz="900" dirty="0">
                <a:solidFill>
                  <a:srgbClr val="D7D4CC"/>
                </a:solidFill>
                <a:latin typeface="Raleway Medium" pitchFamily="34" charset="0"/>
                <a:ea typeface="Raleway Medium" pitchFamily="34" charset="-122"/>
                <a:cs typeface="Raleway Medium" pitchFamily="34" charset="-120"/>
              </a:rPr>
              <a:t>Identify what makes PgBee uniquely positioned to win in student accommodation.</a:t>
            </a:r>
            <a:endParaRPr lang="en-US" sz="900" dirty="0"/>
          </a:p>
        </p:txBody>
      </p:sp>
      <p:sp>
        <p:nvSpPr>
          <p:cNvPr id="12" name="Shape 10"/>
          <p:cNvSpPr/>
          <p:nvPr/>
        </p:nvSpPr>
        <p:spPr>
          <a:xfrm>
            <a:off x="3239616" y="3700314"/>
            <a:ext cx="2664693" cy="989856"/>
          </a:xfrm>
          <a:prstGeom prst="roundRect">
            <a:avLst>
              <a:gd name="adj" fmla="val 17930"/>
            </a:avLst>
          </a:prstGeom>
          <a:solidFill>
            <a:srgbClr val="46464A"/>
          </a:solidFill>
          <a:ln/>
        </p:spPr>
      </p:sp>
      <p:sp>
        <p:nvSpPr>
          <p:cNvPr id="13" name="Text 11"/>
          <p:cNvSpPr/>
          <p:nvPr/>
        </p:nvSpPr>
        <p:spPr>
          <a:xfrm>
            <a:off x="3357935" y="3818632"/>
            <a:ext cx="1323529" cy="164306"/>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 Strategic Clarity</a:t>
            </a:r>
            <a:endParaRPr lang="en-US" sz="1000" dirty="0"/>
          </a:p>
        </p:txBody>
      </p:sp>
      <p:sp>
        <p:nvSpPr>
          <p:cNvPr id="14" name="Text 12"/>
          <p:cNvSpPr/>
          <p:nvPr/>
        </p:nvSpPr>
        <p:spPr>
          <a:xfrm>
            <a:off x="3357935" y="4043883"/>
            <a:ext cx="2428056" cy="351979"/>
          </a:xfrm>
          <a:prstGeom prst="rect">
            <a:avLst/>
          </a:prstGeom>
          <a:noFill/>
          <a:ln/>
        </p:spPr>
        <p:txBody>
          <a:bodyPr wrap="square" lIns="0" tIns="0" rIns="0" bIns="0" rtlCol="0" anchor="t">
            <a:normAutofit/>
          </a:bodyPr>
          <a:lstStyle/>
          <a:p>
            <a:pPr algn="l" indent="0" marL="0">
              <a:lnSpc>
                <a:spcPct val="124000"/>
              </a:lnSpc>
              <a:buNone/>
            </a:pPr>
            <a:r>
              <a:rPr lang="en-US" sz="900" dirty="0">
                <a:solidFill>
                  <a:srgbClr val="D7D4CC"/>
                </a:solidFill>
                <a:latin typeface="Raleway Medium" pitchFamily="34" charset="0"/>
                <a:ea typeface="Raleway Medium" pitchFamily="34" charset="-122"/>
                <a:cs typeface="Raleway Medium" pitchFamily="34" charset="-120"/>
              </a:rPr>
              <a:t>Align leadership on priority areas for investment and resource allocation.</a:t>
            </a:r>
            <a:endParaRPr lang="en-US" sz="900" dirty="0"/>
          </a:p>
        </p:txBody>
      </p:sp>
      <p:sp>
        <p:nvSpPr>
          <p:cNvPr id="15" name="Shape 13"/>
          <p:cNvSpPr/>
          <p:nvPr/>
        </p:nvSpPr>
        <p:spPr>
          <a:xfrm>
            <a:off x="6005959" y="3700314"/>
            <a:ext cx="2664693" cy="989856"/>
          </a:xfrm>
          <a:prstGeom prst="roundRect">
            <a:avLst>
              <a:gd name="adj" fmla="val 17930"/>
            </a:avLst>
          </a:prstGeom>
          <a:solidFill>
            <a:srgbClr val="46464A"/>
          </a:solidFill>
          <a:ln/>
        </p:spPr>
      </p:sp>
      <p:sp>
        <p:nvSpPr>
          <p:cNvPr id="16" name="Text 14"/>
          <p:cNvSpPr/>
          <p:nvPr/>
        </p:nvSpPr>
        <p:spPr>
          <a:xfrm>
            <a:off x="6124277" y="3818632"/>
            <a:ext cx="1314673" cy="164306"/>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 Gap Analysis</a:t>
            </a:r>
            <a:endParaRPr lang="en-US" sz="1000" dirty="0"/>
          </a:p>
        </p:txBody>
      </p:sp>
      <p:sp>
        <p:nvSpPr>
          <p:cNvPr id="17" name="Text 15"/>
          <p:cNvSpPr/>
          <p:nvPr/>
        </p:nvSpPr>
        <p:spPr>
          <a:xfrm>
            <a:off x="6124277" y="4043883"/>
            <a:ext cx="2428056" cy="351979"/>
          </a:xfrm>
          <a:prstGeom prst="rect">
            <a:avLst/>
          </a:prstGeom>
          <a:noFill/>
          <a:ln/>
        </p:spPr>
        <p:txBody>
          <a:bodyPr wrap="square" lIns="0" tIns="0" rIns="0" bIns="0" rtlCol="0" anchor="t">
            <a:normAutofit/>
          </a:bodyPr>
          <a:lstStyle/>
          <a:p>
            <a:pPr algn="l" indent="0" marL="0">
              <a:lnSpc>
                <a:spcPct val="124000"/>
              </a:lnSpc>
              <a:buNone/>
            </a:pPr>
            <a:r>
              <a:rPr lang="en-US" sz="900" dirty="0">
                <a:solidFill>
                  <a:srgbClr val="D7D4CC"/>
                </a:solidFill>
                <a:latin typeface="Raleway Medium" pitchFamily="34" charset="0"/>
                <a:ea typeface="Raleway Medium" pitchFamily="34" charset="-122"/>
                <a:cs typeface="Raleway Medium" pitchFamily="34" charset="-120"/>
              </a:rPr>
              <a:t>Surface internal weaknesses and external threats before competitors exploit them.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0509" y="339700"/>
            <a:ext cx="3038773" cy="322659"/>
          </a:xfrm>
          <a:prstGeom prst="rect">
            <a:avLst/>
          </a:prstGeom>
          <a:noFill/>
          <a:ln/>
        </p:spPr>
        <p:txBody>
          <a:bodyPr wrap="none" lIns="0" tIns="0" rIns="0" bIns="0" rtlCol="0" anchor="t"/>
          <a:lstStyle/>
          <a:p>
            <a:pPr algn="l" indent="0" marL="0">
              <a:lnSpc>
                <a:spcPct val="104000"/>
              </a:lnSpc>
              <a:buNone/>
            </a:pPr>
            <a:r>
              <a:rPr lang="en-US" sz="2000" b="1" dirty="0">
                <a:solidFill>
                  <a:srgbClr val="FFE14D"/>
                </a:solidFill>
                <a:latin typeface="Comfortaa Bold" pitchFamily="34" charset="0"/>
                <a:ea typeface="Comfortaa Bold" pitchFamily="34" charset="-122"/>
                <a:cs typeface="Comfortaa Bold" pitchFamily="34" charset="-120"/>
              </a:rPr>
              <a:t>What is PgBee?</a:t>
            </a:r>
            <a:endParaRPr lang="en-US" sz="2000" dirty="0"/>
          </a:p>
        </p:txBody>
      </p:sp>
      <p:sp>
        <p:nvSpPr>
          <p:cNvPr id="3" name="Text 1"/>
          <p:cNvSpPr/>
          <p:nvPr/>
        </p:nvSpPr>
        <p:spPr>
          <a:xfrm>
            <a:off x="500509" y="858366"/>
            <a:ext cx="8142982" cy="51390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PgBee is a purpose-built student accommodation platform connecting students with verified hostels and PGs across Kerala. Unlike general rental platforms, PgBee is designed specifically around the student journey — from discovery to move-in — with dedicated tools for students, hostel owners, and administrators. This focused approach positions PgBee as a category leader in hyper-local student housing.</a:t>
            </a:r>
            <a:endParaRPr lang="en-US" sz="900" dirty="0"/>
          </a:p>
        </p:txBody>
      </p:sp>
      <p:sp>
        <p:nvSpPr>
          <p:cNvPr id="4" name="Text 2"/>
          <p:cNvSpPr/>
          <p:nvPr/>
        </p:nvSpPr>
        <p:spPr>
          <a:xfrm>
            <a:off x="500509" y="1580480"/>
            <a:ext cx="1782291" cy="161330"/>
          </a:xfrm>
          <a:prstGeom prst="rect">
            <a:avLst/>
          </a:prstGeom>
          <a:noFill/>
          <a:ln/>
        </p:spPr>
        <p:txBody>
          <a:bodyPr wrap="none" lIns="0" tIns="0" rIns="0" bIns="0" rtlCol="0" anchor="t"/>
          <a:lstStyle/>
          <a:p>
            <a:pPr algn="l"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Platform Ecosystem</a:t>
            </a:r>
            <a:endParaRPr lang="en-US" sz="10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6221" y="1852017"/>
            <a:ext cx="1930152" cy="1376735"/>
          </a:xfrm>
          <a:prstGeom prst="rect">
            <a:avLst/>
          </a:prstGeom>
        </p:spPr>
      </p:pic>
      <p:sp>
        <p:nvSpPr>
          <p:cNvPr id="6" name="Text 3"/>
          <p:cNvSpPr/>
          <p:nvPr/>
        </p:nvSpPr>
        <p:spPr>
          <a:xfrm>
            <a:off x="673819" y="1982465"/>
            <a:ext cx="1345332"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Student Mobile App</a:t>
            </a:r>
            <a:endParaRPr lang="en-US" sz="1000" dirty="0"/>
          </a:p>
        </p:txBody>
      </p:sp>
      <p:sp>
        <p:nvSpPr>
          <p:cNvPr id="7" name="Text 4"/>
          <p:cNvSpPr/>
          <p:nvPr/>
        </p:nvSpPr>
        <p:spPr>
          <a:xfrm>
            <a:off x="673819" y="2241798"/>
            <a:ext cx="1612106" cy="856506"/>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Accommodation search, verified listings, booking, and in-app communication — all designed for student workflows.</a:t>
            </a:r>
            <a:endParaRPr lang="en-US" sz="9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00089" y="1852017"/>
            <a:ext cx="1930226" cy="1376735"/>
          </a:xfrm>
          <a:prstGeom prst="rect">
            <a:avLst/>
          </a:prstGeom>
        </p:spPr>
      </p:pic>
      <p:sp>
        <p:nvSpPr>
          <p:cNvPr id="9" name="Text 5"/>
          <p:cNvSpPr/>
          <p:nvPr/>
        </p:nvSpPr>
        <p:spPr>
          <a:xfrm>
            <a:off x="2687687" y="1982465"/>
            <a:ext cx="1290786"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Owner Mobile App</a:t>
            </a:r>
            <a:endParaRPr lang="en-US" sz="1000" dirty="0"/>
          </a:p>
        </p:txBody>
      </p:sp>
      <p:sp>
        <p:nvSpPr>
          <p:cNvPr id="10" name="Text 6"/>
          <p:cNvSpPr/>
          <p:nvPr/>
        </p:nvSpPr>
        <p:spPr>
          <a:xfrm>
            <a:off x="2687687" y="2241798"/>
            <a:ext cx="1612181" cy="856506"/>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Dedicated hostel management tool for owners to onboard properties, manage inventory, and track occupancy.</a:t>
            </a:r>
            <a:endParaRPr lang="en-US" sz="9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6221" y="3326755"/>
            <a:ext cx="1930152" cy="1366763"/>
          </a:xfrm>
          <a:prstGeom prst="rect">
            <a:avLst/>
          </a:prstGeom>
        </p:spPr>
      </p:pic>
      <p:sp>
        <p:nvSpPr>
          <p:cNvPr id="12" name="Text 7"/>
          <p:cNvSpPr/>
          <p:nvPr/>
        </p:nvSpPr>
        <p:spPr>
          <a:xfrm>
            <a:off x="673819" y="3457203"/>
            <a:ext cx="1290786"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Website Platform</a:t>
            </a:r>
            <a:endParaRPr lang="en-US" sz="1000" dirty="0"/>
          </a:p>
        </p:txBody>
      </p:sp>
      <p:sp>
        <p:nvSpPr>
          <p:cNvPr id="13" name="Text 8"/>
          <p:cNvSpPr/>
          <p:nvPr/>
        </p:nvSpPr>
        <p:spPr>
          <a:xfrm>
            <a:off x="673819" y="3716536"/>
            <a:ext cx="1612106" cy="685205"/>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Web-based discovery and booking interface for broader reach and SEO-driven student acquisition.</a:t>
            </a:r>
            <a:endParaRPr lang="en-US" sz="9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00089" y="3326755"/>
            <a:ext cx="1930226" cy="1366763"/>
          </a:xfrm>
          <a:prstGeom prst="rect">
            <a:avLst/>
          </a:prstGeom>
        </p:spPr>
      </p:pic>
      <p:sp>
        <p:nvSpPr>
          <p:cNvPr id="15" name="Text 9"/>
          <p:cNvSpPr/>
          <p:nvPr/>
        </p:nvSpPr>
        <p:spPr>
          <a:xfrm>
            <a:off x="2687687" y="3457203"/>
            <a:ext cx="1612181" cy="322659"/>
          </a:xfrm>
          <a:prstGeom prst="rect">
            <a:avLst/>
          </a:prstGeom>
          <a:noFill/>
          <a:ln/>
        </p:spPr>
        <p:txBody>
          <a:bodyPr wrap="square" lIns="0" tIns="0" rIns="0" bIns="0" rtlCol="0" anchor="t">
            <a:normAutofit/>
          </a:bodyPr>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Admin Verification System</a:t>
            </a:r>
            <a:endParaRPr lang="en-US" sz="1000" dirty="0"/>
          </a:p>
        </p:txBody>
      </p:sp>
      <p:sp>
        <p:nvSpPr>
          <p:cNvPr id="16" name="Text 10"/>
          <p:cNvSpPr/>
          <p:nvPr/>
        </p:nvSpPr>
        <p:spPr>
          <a:xfrm>
            <a:off x="2687687" y="3877866"/>
            <a:ext cx="1612181" cy="685205"/>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Internal quality control layer ensuring all listings meet PgBee's trust and safety standards before going live.</a:t>
            </a:r>
            <a:endParaRPr lang="en-US" sz="900" dirty="0"/>
          </a:p>
        </p:txBody>
      </p:sp>
      <p:sp>
        <p:nvSpPr>
          <p:cNvPr id="17" name="Text 11"/>
          <p:cNvSpPr/>
          <p:nvPr/>
        </p:nvSpPr>
        <p:spPr>
          <a:xfrm>
            <a:off x="4718447" y="1580480"/>
            <a:ext cx="2102123" cy="161330"/>
          </a:xfrm>
          <a:prstGeom prst="rect">
            <a:avLst/>
          </a:prstGeom>
          <a:noFill/>
          <a:ln/>
        </p:spPr>
        <p:txBody>
          <a:bodyPr wrap="none" lIns="0" tIns="0" rIns="0" bIns="0" rtlCol="0" anchor="t"/>
          <a:lstStyle/>
          <a:p>
            <a:pPr algn="l"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Target Market Segments</a:t>
            </a:r>
            <a:endParaRPr lang="en-US" sz="10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18447" y="1852017"/>
            <a:ext cx="290364" cy="290364"/>
          </a:xfrm>
          <a:prstGeom prst="rect">
            <a:avLst/>
          </a:prstGeom>
        </p:spPr>
      </p:pic>
      <p:sp>
        <p:nvSpPr>
          <p:cNvPr id="19" name="Text 12"/>
          <p:cNvSpPr/>
          <p:nvPr/>
        </p:nvSpPr>
        <p:spPr>
          <a:xfrm>
            <a:off x="4718447" y="2264866"/>
            <a:ext cx="1290786"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College Students</a:t>
            </a:r>
            <a:endParaRPr lang="en-US" sz="1000" dirty="0"/>
          </a:p>
        </p:txBody>
      </p:sp>
      <p:sp>
        <p:nvSpPr>
          <p:cNvPr id="20" name="Text 13"/>
          <p:cNvSpPr/>
          <p:nvPr/>
        </p:nvSpPr>
        <p:spPr>
          <a:xfrm>
            <a:off x="4718447" y="2524199"/>
            <a:ext cx="1903661" cy="51390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Primary users seeking affordable, verified accommodation near educational institutions.</a:t>
            </a:r>
            <a:endParaRPr lang="en-US" sz="9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44593" y="1852017"/>
            <a:ext cx="290364" cy="290364"/>
          </a:xfrm>
          <a:prstGeom prst="rect">
            <a:avLst/>
          </a:prstGeom>
        </p:spPr>
      </p:pic>
      <p:sp>
        <p:nvSpPr>
          <p:cNvPr id="22" name="Text 14"/>
          <p:cNvSpPr/>
          <p:nvPr/>
        </p:nvSpPr>
        <p:spPr>
          <a:xfrm>
            <a:off x="6744593" y="2264866"/>
            <a:ext cx="1290786"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Hostel Owners</a:t>
            </a:r>
            <a:endParaRPr lang="en-US" sz="1000" dirty="0"/>
          </a:p>
        </p:txBody>
      </p:sp>
      <p:sp>
        <p:nvSpPr>
          <p:cNvPr id="23" name="Text 15"/>
          <p:cNvSpPr/>
          <p:nvPr/>
        </p:nvSpPr>
        <p:spPr>
          <a:xfrm>
            <a:off x="6744593" y="2524199"/>
            <a:ext cx="1903661" cy="51390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Property owners looking for a dedicated channel to reach student tenants efficiently.</a:t>
            </a:r>
            <a:endParaRPr lang="en-US" sz="90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18447" y="3234110"/>
            <a:ext cx="290364" cy="290364"/>
          </a:xfrm>
          <a:prstGeom prst="rect">
            <a:avLst/>
          </a:prstGeom>
        </p:spPr>
      </p:pic>
      <p:sp>
        <p:nvSpPr>
          <p:cNvPr id="25" name="Text 16"/>
          <p:cNvSpPr/>
          <p:nvPr/>
        </p:nvSpPr>
        <p:spPr>
          <a:xfrm>
            <a:off x="4718447" y="3646959"/>
            <a:ext cx="1626766"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Educational Institutions</a:t>
            </a:r>
            <a:endParaRPr lang="en-US" sz="1000" dirty="0"/>
          </a:p>
        </p:txBody>
      </p:sp>
      <p:sp>
        <p:nvSpPr>
          <p:cNvPr id="26" name="Text 17"/>
          <p:cNvSpPr/>
          <p:nvPr/>
        </p:nvSpPr>
        <p:spPr>
          <a:xfrm>
            <a:off x="4718447" y="3906292"/>
            <a:ext cx="1903661" cy="51390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Future segment — colleges seeking official accommodation partners for student onboarding.</a:t>
            </a:r>
            <a:endParaRPr lang="en-US" sz="900" dirty="0"/>
          </a:p>
        </p:txBody>
      </p:sp>
      <p:pic>
        <p:nvPicPr>
          <p:cNvPr id="2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744593" y="3234110"/>
            <a:ext cx="290364" cy="290364"/>
          </a:xfrm>
          <a:prstGeom prst="rect">
            <a:avLst/>
          </a:prstGeom>
        </p:spPr>
      </p:pic>
      <p:sp>
        <p:nvSpPr>
          <p:cNvPr id="28" name="Text 18"/>
          <p:cNvSpPr/>
          <p:nvPr/>
        </p:nvSpPr>
        <p:spPr>
          <a:xfrm>
            <a:off x="6744593" y="3646959"/>
            <a:ext cx="1627808" cy="161330"/>
          </a:xfrm>
          <a:prstGeom prst="rect">
            <a:avLst/>
          </a:prstGeom>
          <a:noFill/>
          <a:ln/>
        </p:spPr>
        <p:txBody>
          <a:bodyPr wrap="none" lIns="0" tIns="0" rIns="0" bIns="0" rtlCol="0" anchor="t"/>
          <a:lstStyle/>
          <a:p>
            <a:pPr algn="l" indent="0" marL="0">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Local Business Partners</a:t>
            </a:r>
            <a:endParaRPr lang="en-US" sz="1000" dirty="0"/>
          </a:p>
        </p:txBody>
      </p:sp>
      <p:sp>
        <p:nvSpPr>
          <p:cNvPr id="29" name="Text 19"/>
          <p:cNvSpPr/>
          <p:nvPr/>
        </p:nvSpPr>
        <p:spPr>
          <a:xfrm>
            <a:off x="6744593" y="3906292"/>
            <a:ext cx="1903661" cy="51390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7D4CC"/>
                </a:solidFill>
                <a:latin typeface="Raleway Medium" pitchFamily="34" charset="0"/>
                <a:ea typeface="Raleway Medium" pitchFamily="34" charset="-122"/>
                <a:cs typeface="Raleway Medium" pitchFamily="34" charset="-120"/>
              </a:rPr>
              <a:t>Future segment — service providers (laundry, food, moving) seeking student market access.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2035" y="354583"/>
            <a:ext cx="3721968" cy="298772"/>
          </a:xfrm>
          <a:prstGeom prst="rect">
            <a:avLst/>
          </a:prstGeom>
          <a:noFill/>
          <a:ln/>
        </p:spPr>
        <p:txBody>
          <a:bodyPr wrap="none" lIns="0" tIns="0" rIns="0" bIns="0" rtlCol="0" anchor="t"/>
          <a:lstStyle/>
          <a:p>
            <a:pPr algn="l" indent="0" marL="0">
              <a:lnSpc>
                <a:spcPct val="104000"/>
              </a:lnSpc>
              <a:buNone/>
            </a:pPr>
            <a:r>
              <a:rPr lang="en-US" sz="1850" b="1" dirty="0">
                <a:solidFill>
                  <a:srgbClr val="FFE14D"/>
                </a:solidFill>
                <a:latin typeface="Comfortaa Bold" pitchFamily="34" charset="0"/>
                <a:ea typeface="Comfortaa Bold" pitchFamily="34" charset="-122"/>
                <a:cs typeface="Comfortaa Bold" pitchFamily="34" charset="-120"/>
              </a:rPr>
              <a:t>PgBee's Internal Strengths</a:t>
            </a:r>
            <a:endParaRPr lang="en-US" sz="1850" dirty="0"/>
          </a:p>
        </p:txBody>
      </p:sp>
      <p:sp>
        <p:nvSpPr>
          <p:cNvPr id="3" name="Text 1"/>
          <p:cNvSpPr/>
          <p:nvPr/>
        </p:nvSpPr>
        <p:spPr>
          <a:xfrm>
            <a:off x="802035" y="821382"/>
            <a:ext cx="7539856" cy="306586"/>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PgBee's competitive advantages are rooted in deep local expertise, a purpose-built product ecosystem, and a trust-first approach to student accommodation. These strengths are difficult for national competitors to replicate quickly and form the foundation of PgBee's go-to-market strategy.</a:t>
            </a:r>
            <a:endParaRPr lang="en-US" sz="800" dirty="0"/>
          </a:p>
        </p:txBody>
      </p:sp>
      <p:sp>
        <p:nvSpPr>
          <p:cNvPr id="4" name="Shape 2"/>
          <p:cNvSpPr/>
          <p:nvPr/>
        </p:nvSpPr>
        <p:spPr>
          <a:xfrm>
            <a:off x="802035" y="1222474"/>
            <a:ext cx="2457227" cy="2047801"/>
          </a:xfrm>
          <a:prstGeom prst="roundRect">
            <a:avLst>
              <a:gd name="adj" fmla="val 7879"/>
            </a:avLst>
          </a:prstGeom>
          <a:solidFill>
            <a:srgbClr val="46464A"/>
          </a:solidFill>
          <a:ln/>
        </p:spPr>
      </p:sp>
      <p:sp>
        <p:nvSpPr>
          <p:cNvPr id="5" name="Shape 3"/>
          <p:cNvSpPr/>
          <p:nvPr/>
        </p:nvSpPr>
        <p:spPr>
          <a:xfrm>
            <a:off x="909563" y="1330003"/>
            <a:ext cx="322659" cy="322659"/>
          </a:xfrm>
          <a:prstGeom prst="roundRect">
            <a:avLst>
              <a:gd name="adj" fmla="val 17710426"/>
            </a:avLst>
          </a:prstGeom>
          <a:solidFill>
            <a:srgbClr val="FFE14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8265" y="1418704"/>
            <a:ext cx="145182" cy="145182"/>
          </a:xfrm>
          <a:prstGeom prst="rect">
            <a:avLst/>
          </a:prstGeom>
        </p:spPr>
      </p:pic>
      <p:sp>
        <p:nvSpPr>
          <p:cNvPr id="7" name="Text 4"/>
          <p:cNvSpPr/>
          <p:nvPr/>
        </p:nvSpPr>
        <p:spPr>
          <a:xfrm>
            <a:off x="909563" y="1736675"/>
            <a:ext cx="1214884" cy="149349"/>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Strong Local Focus</a:t>
            </a:r>
            <a:endParaRPr lang="en-US" sz="900" dirty="0"/>
          </a:p>
        </p:txBody>
      </p:sp>
      <p:sp>
        <p:nvSpPr>
          <p:cNvPr id="8" name="Text 5"/>
          <p:cNvSpPr/>
          <p:nvPr/>
        </p:nvSpPr>
        <p:spPr>
          <a:xfrm>
            <a:off x="909563" y="1936403"/>
            <a:ext cx="2242170" cy="1226344"/>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PgBee is a Kerala-first platform with deep district-level market knowledge, relationships with local hostel owners, and an understanding of student migration patterns that national competitors simply cannot match. This hyper-local expertise enables faster onboarding, better listing quality, and stronger community trust.</a:t>
            </a:r>
            <a:endParaRPr lang="en-US" sz="800" dirty="0"/>
          </a:p>
        </p:txBody>
      </p:sp>
      <p:sp>
        <p:nvSpPr>
          <p:cNvPr id="9" name="Shape 6"/>
          <p:cNvSpPr/>
          <p:nvPr/>
        </p:nvSpPr>
        <p:spPr>
          <a:xfrm>
            <a:off x="3343275" y="1222474"/>
            <a:ext cx="2457301" cy="2047801"/>
          </a:xfrm>
          <a:prstGeom prst="roundRect">
            <a:avLst>
              <a:gd name="adj" fmla="val 7879"/>
            </a:avLst>
          </a:prstGeom>
          <a:solidFill>
            <a:srgbClr val="46464A"/>
          </a:solidFill>
          <a:ln/>
        </p:spPr>
      </p:sp>
      <p:sp>
        <p:nvSpPr>
          <p:cNvPr id="10" name="Shape 7"/>
          <p:cNvSpPr/>
          <p:nvPr/>
        </p:nvSpPr>
        <p:spPr>
          <a:xfrm>
            <a:off x="3450803" y="1330003"/>
            <a:ext cx="322659" cy="322659"/>
          </a:xfrm>
          <a:prstGeom prst="roundRect">
            <a:avLst>
              <a:gd name="adj" fmla="val 17710426"/>
            </a:avLst>
          </a:prstGeom>
          <a:solidFill>
            <a:srgbClr val="FFE14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39505" y="1418704"/>
            <a:ext cx="145182" cy="145182"/>
          </a:xfrm>
          <a:prstGeom prst="rect">
            <a:avLst/>
          </a:prstGeom>
        </p:spPr>
      </p:pic>
      <p:sp>
        <p:nvSpPr>
          <p:cNvPr id="12" name="Text 8"/>
          <p:cNvSpPr/>
          <p:nvPr/>
        </p:nvSpPr>
        <p:spPr>
          <a:xfrm>
            <a:off x="3450803" y="1736675"/>
            <a:ext cx="1561877" cy="149349"/>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Student-Centric Platform</a:t>
            </a:r>
            <a:endParaRPr lang="en-US" sz="900" dirty="0"/>
          </a:p>
        </p:txBody>
      </p:sp>
      <p:sp>
        <p:nvSpPr>
          <p:cNvPr id="13" name="Text 9"/>
          <p:cNvSpPr/>
          <p:nvPr/>
        </p:nvSpPr>
        <p:spPr>
          <a:xfrm>
            <a:off x="3450803" y="1936403"/>
            <a:ext cx="2242245" cy="1073051"/>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Every feature — from search filters to booking flows — is designed specifically for student needs. This focused user experience reduces friction, improves conversion, and builds loyalty among a demographic that values simplicity and affordability above all else.</a:t>
            </a:r>
            <a:endParaRPr lang="en-US" sz="800" dirty="0"/>
          </a:p>
        </p:txBody>
      </p:sp>
      <p:sp>
        <p:nvSpPr>
          <p:cNvPr id="14" name="Shape 10"/>
          <p:cNvSpPr/>
          <p:nvPr/>
        </p:nvSpPr>
        <p:spPr>
          <a:xfrm>
            <a:off x="5884590" y="1222474"/>
            <a:ext cx="2457301" cy="2047801"/>
          </a:xfrm>
          <a:prstGeom prst="roundRect">
            <a:avLst>
              <a:gd name="adj" fmla="val 7879"/>
            </a:avLst>
          </a:prstGeom>
          <a:solidFill>
            <a:srgbClr val="46464A"/>
          </a:solidFill>
          <a:ln/>
        </p:spPr>
      </p:sp>
      <p:sp>
        <p:nvSpPr>
          <p:cNvPr id="15" name="Shape 11"/>
          <p:cNvSpPr/>
          <p:nvPr/>
        </p:nvSpPr>
        <p:spPr>
          <a:xfrm>
            <a:off x="5992118" y="1330003"/>
            <a:ext cx="322659" cy="322659"/>
          </a:xfrm>
          <a:prstGeom prst="roundRect">
            <a:avLst>
              <a:gd name="adj" fmla="val 17710426"/>
            </a:avLst>
          </a:prstGeom>
          <a:solidFill>
            <a:srgbClr val="FFE14D"/>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820" y="1418704"/>
            <a:ext cx="145182" cy="145182"/>
          </a:xfrm>
          <a:prstGeom prst="rect">
            <a:avLst/>
          </a:prstGeom>
        </p:spPr>
      </p:pic>
      <p:sp>
        <p:nvSpPr>
          <p:cNvPr id="17" name="Text 12"/>
          <p:cNvSpPr/>
          <p:nvPr/>
        </p:nvSpPr>
        <p:spPr>
          <a:xfrm>
            <a:off x="5992118" y="1736675"/>
            <a:ext cx="1195164" cy="149349"/>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Owner Ecosystem</a:t>
            </a:r>
            <a:endParaRPr lang="en-US" sz="900" dirty="0"/>
          </a:p>
        </p:txBody>
      </p:sp>
      <p:sp>
        <p:nvSpPr>
          <p:cNvPr id="18" name="Text 13"/>
          <p:cNvSpPr/>
          <p:nvPr/>
        </p:nvSpPr>
        <p:spPr>
          <a:xfrm>
            <a:off x="5992118" y="1936403"/>
            <a:ext cx="2242245" cy="1073051"/>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The dedicated Owner App gives hostel operators a direct channel for onboarding, inventory management, and tenant communication. This two-sided marketplace approach creates network effects that strengthen as more owners join the platform.</a:t>
            </a:r>
            <a:endParaRPr lang="en-US" sz="800" dirty="0"/>
          </a:p>
        </p:txBody>
      </p:sp>
      <p:sp>
        <p:nvSpPr>
          <p:cNvPr id="19" name="Shape 14"/>
          <p:cNvSpPr/>
          <p:nvPr/>
        </p:nvSpPr>
        <p:spPr>
          <a:xfrm>
            <a:off x="802035" y="3354288"/>
            <a:ext cx="3727921" cy="1434629"/>
          </a:xfrm>
          <a:prstGeom prst="roundRect">
            <a:avLst>
              <a:gd name="adj" fmla="val 11247"/>
            </a:avLst>
          </a:prstGeom>
          <a:solidFill>
            <a:srgbClr val="46464A"/>
          </a:solidFill>
          <a:ln/>
        </p:spPr>
      </p:sp>
      <p:sp>
        <p:nvSpPr>
          <p:cNvPr id="20" name="Shape 15"/>
          <p:cNvSpPr/>
          <p:nvPr/>
        </p:nvSpPr>
        <p:spPr>
          <a:xfrm>
            <a:off x="909563" y="3461817"/>
            <a:ext cx="322659" cy="322659"/>
          </a:xfrm>
          <a:prstGeom prst="roundRect">
            <a:avLst>
              <a:gd name="adj" fmla="val 17710426"/>
            </a:avLst>
          </a:prstGeom>
          <a:solidFill>
            <a:srgbClr val="FFE14D"/>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265" y="3550518"/>
            <a:ext cx="145182" cy="145182"/>
          </a:xfrm>
          <a:prstGeom prst="rect">
            <a:avLst/>
          </a:prstGeom>
        </p:spPr>
      </p:pic>
      <p:sp>
        <p:nvSpPr>
          <p:cNvPr id="22" name="Text 16"/>
          <p:cNvSpPr/>
          <p:nvPr/>
        </p:nvSpPr>
        <p:spPr>
          <a:xfrm>
            <a:off x="909563" y="3868489"/>
            <a:ext cx="1195164" cy="149349"/>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Verified Listings</a:t>
            </a:r>
            <a:endParaRPr lang="en-US" sz="900" dirty="0"/>
          </a:p>
        </p:txBody>
      </p:sp>
      <p:sp>
        <p:nvSpPr>
          <p:cNvPr id="23" name="Text 17"/>
          <p:cNvSpPr/>
          <p:nvPr/>
        </p:nvSpPr>
        <p:spPr>
          <a:xfrm>
            <a:off x="909563" y="4068217"/>
            <a:ext cx="3512865" cy="613172"/>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PgBee's admin verification process ensures every listing meets quality and safety standards before going live. This builds student trust, reduces complaints, and differentiates PgBee from unverified platforms like OLX where listing quality is inconsistent.</a:t>
            </a:r>
            <a:endParaRPr lang="en-US" sz="800" dirty="0"/>
          </a:p>
        </p:txBody>
      </p:sp>
      <p:sp>
        <p:nvSpPr>
          <p:cNvPr id="24" name="Shape 18"/>
          <p:cNvSpPr/>
          <p:nvPr/>
        </p:nvSpPr>
        <p:spPr>
          <a:xfrm>
            <a:off x="4613970" y="3354288"/>
            <a:ext cx="3727921" cy="1434629"/>
          </a:xfrm>
          <a:prstGeom prst="roundRect">
            <a:avLst>
              <a:gd name="adj" fmla="val 11247"/>
            </a:avLst>
          </a:prstGeom>
          <a:solidFill>
            <a:srgbClr val="46464A"/>
          </a:solidFill>
          <a:ln/>
        </p:spPr>
      </p:sp>
      <p:sp>
        <p:nvSpPr>
          <p:cNvPr id="25" name="Shape 19"/>
          <p:cNvSpPr/>
          <p:nvPr/>
        </p:nvSpPr>
        <p:spPr>
          <a:xfrm>
            <a:off x="4721498" y="3461817"/>
            <a:ext cx="322659" cy="322659"/>
          </a:xfrm>
          <a:prstGeom prst="roundRect">
            <a:avLst>
              <a:gd name="adj" fmla="val 17710426"/>
            </a:avLst>
          </a:prstGeom>
          <a:solidFill>
            <a:srgbClr val="FFE14D"/>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10199" y="3550518"/>
            <a:ext cx="145182" cy="145182"/>
          </a:xfrm>
          <a:prstGeom prst="rect">
            <a:avLst/>
          </a:prstGeom>
        </p:spPr>
      </p:pic>
      <p:sp>
        <p:nvSpPr>
          <p:cNvPr id="27" name="Text 20"/>
          <p:cNvSpPr/>
          <p:nvPr/>
        </p:nvSpPr>
        <p:spPr>
          <a:xfrm>
            <a:off x="4721498" y="3868489"/>
            <a:ext cx="1602135" cy="149349"/>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B Points Referral Program</a:t>
            </a:r>
            <a:endParaRPr lang="en-US" sz="900" dirty="0"/>
          </a:p>
        </p:txBody>
      </p:sp>
      <p:sp>
        <p:nvSpPr>
          <p:cNvPr id="28" name="Text 21"/>
          <p:cNvSpPr/>
          <p:nvPr/>
        </p:nvSpPr>
        <p:spPr>
          <a:xfrm>
            <a:off x="4721498" y="4068217"/>
            <a:ext cx="3512865" cy="613172"/>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D7D4CC"/>
                </a:solidFill>
                <a:latin typeface="Raleway Medium" pitchFamily="34" charset="0"/>
                <a:ea typeface="Raleway Medium" pitchFamily="34" charset="-122"/>
                <a:cs typeface="Raleway Medium" pitchFamily="34" charset="-120"/>
              </a:rPr>
              <a:t>The B Points referral system creates a low-cost, high-impact customer acquisition channel. Students are incentivized to invite peers, generating organic growth that scales without proportional marketing spend — a critical advantage for an early-stage platform.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1272" y="333821"/>
            <a:ext cx="6498580" cy="310753"/>
          </a:xfrm>
          <a:prstGeom prst="rect">
            <a:avLst/>
          </a:prstGeom>
          <a:noFill/>
          <a:ln/>
        </p:spPr>
        <p:txBody>
          <a:bodyPr wrap="none" lIns="0" tIns="0" rIns="0" bIns="0" rtlCol="0" anchor="t"/>
          <a:lstStyle/>
          <a:p>
            <a:pPr algn="l" indent="0" marL="0">
              <a:lnSpc>
                <a:spcPct val="104000"/>
              </a:lnSpc>
              <a:buNone/>
            </a:pPr>
            <a:r>
              <a:rPr lang="en-US" sz="1950" b="1" dirty="0">
                <a:solidFill>
                  <a:srgbClr val="FFE14D"/>
                </a:solidFill>
                <a:latin typeface="Comfortaa Bold" pitchFamily="34" charset="0"/>
                <a:ea typeface="Comfortaa Bold" pitchFamily="34" charset="-122"/>
                <a:cs typeface="Comfortaa Bold" pitchFamily="34" charset="-120"/>
              </a:rPr>
              <a:t>Strengths vs. Competitors: Where PgBee Leads</a:t>
            </a:r>
            <a:endParaRPr lang="en-US" sz="1950" dirty="0"/>
          </a:p>
        </p:txBody>
      </p:sp>
      <p:sp>
        <p:nvSpPr>
          <p:cNvPr id="3" name="Text 1"/>
          <p:cNvSpPr/>
          <p:nvPr/>
        </p:nvSpPr>
        <p:spPr>
          <a:xfrm>
            <a:off x="651272" y="826294"/>
            <a:ext cx="7841456" cy="486445"/>
          </a:xfrm>
          <a:prstGeom prst="rect">
            <a:avLst/>
          </a:prstGeom>
          <a:noFill/>
          <a:ln/>
        </p:spPr>
        <p:txBody>
          <a:bodyPr wrap="square" lIns="0" tIns="0" rIns="0" bIns="0" rtlCol="0" anchor="t">
            <a:normAutofit/>
          </a:bodyPr>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A capability comparison across key dimensions reveals that PgBee holds meaningful advantages in hyper-local expertise, owner tools, and referral-driven acquisition — areas where national competitors are either absent or underinvested. This matrix highlights where PgBee's differentiation is strongest and where it should focus its messaging.</a:t>
            </a:r>
            <a:endParaRPr lang="en-US" sz="850" dirty="0"/>
          </a:p>
        </p:txBody>
      </p:sp>
      <p:sp>
        <p:nvSpPr>
          <p:cNvPr id="4" name="Shape 2"/>
          <p:cNvSpPr/>
          <p:nvPr/>
        </p:nvSpPr>
        <p:spPr>
          <a:xfrm>
            <a:off x="651272" y="1414983"/>
            <a:ext cx="7841456" cy="1693218"/>
          </a:xfrm>
          <a:prstGeom prst="roundRect">
            <a:avLst>
              <a:gd name="adj" fmla="val 9910"/>
            </a:avLst>
          </a:prstGeom>
          <a:noFill/>
          <a:ln w="4763">
            <a:solidFill>
              <a:srgbClr val="FFFFFF">
                <a:alpha val="24000"/>
              </a:srgbClr>
            </a:solidFill>
            <a:prstDash val="solid"/>
          </a:ln>
        </p:spPr>
      </p:sp>
      <p:sp>
        <p:nvSpPr>
          <p:cNvPr id="5" name="Shape 3"/>
          <p:cNvSpPr/>
          <p:nvPr/>
        </p:nvSpPr>
        <p:spPr>
          <a:xfrm>
            <a:off x="656034" y="1419746"/>
            <a:ext cx="7831931" cy="280615"/>
          </a:xfrm>
          <a:prstGeom prst="rect">
            <a:avLst/>
          </a:prstGeom>
          <a:solidFill>
            <a:srgbClr val="FFFFFF">
              <a:alpha val="4000"/>
            </a:srgbClr>
          </a:solidFill>
          <a:ln/>
        </p:spPr>
      </p:sp>
      <p:sp>
        <p:nvSpPr>
          <p:cNvPr id="6" name="Text 4"/>
          <p:cNvSpPr/>
          <p:nvPr/>
        </p:nvSpPr>
        <p:spPr>
          <a:xfrm>
            <a:off x="768102" y="1478979"/>
            <a:ext cx="2424038" cy="162148"/>
          </a:xfrm>
          <a:prstGeom prst="rect">
            <a:avLst/>
          </a:prstGeom>
          <a:noFill/>
          <a:ln/>
        </p:spPr>
        <p:txBody>
          <a:bodyPr wrap="none" lIns="0" tIns="0" rIns="0" bIns="0" rtlCol="0" anchor="t"/>
          <a:lstStyle/>
          <a:p>
            <a:pPr algn="l" indent="0" marL="0">
              <a:lnSpc>
                <a:spcPct val="121000"/>
              </a:lnSpc>
              <a:buNone/>
            </a:pPr>
            <a:r>
              <a:rPr lang="en-US" sz="850" b="1" dirty="0">
                <a:solidFill>
                  <a:srgbClr val="D7D4CC"/>
                </a:solidFill>
                <a:latin typeface="Raleway Medium" pitchFamily="34" charset="0"/>
                <a:ea typeface="Raleway Medium" pitchFamily="34" charset="-122"/>
                <a:cs typeface="Raleway Medium" pitchFamily="34" charset="-120"/>
              </a:rPr>
              <a:t>Capability</a:t>
            </a:r>
            <a:endParaRPr lang="en-US" sz="850" dirty="0"/>
          </a:p>
        </p:txBody>
      </p:sp>
      <p:sp>
        <p:nvSpPr>
          <p:cNvPr id="7" name="Text 5"/>
          <p:cNvSpPr/>
          <p:nvPr/>
        </p:nvSpPr>
        <p:spPr>
          <a:xfrm>
            <a:off x="2963391" y="1478979"/>
            <a:ext cx="1638449" cy="162148"/>
          </a:xfrm>
          <a:prstGeom prst="rect">
            <a:avLst/>
          </a:prstGeom>
          <a:noFill/>
          <a:ln/>
        </p:spPr>
        <p:txBody>
          <a:bodyPr wrap="none" lIns="0" tIns="0" rIns="0" bIns="0" rtlCol="0" anchor="t"/>
          <a:lstStyle/>
          <a:p>
            <a:pPr algn="l" indent="0" marL="0">
              <a:lnSpc>
                <a:spcPct val="121000"/>
              </a:lnSpc>
              <a:buNone/>
            </a:pPr>
            <a:r>
              <a:rPr lang="en-US" sz="850" b="1" dirty="0">
                <a:solidFill>
                  <a:srgbClr val="D7D4CC"/>
                </a:solidFill>
                <a:latin typeface="Raleway Medium" pitchFamily="34" charset="0"/>
                <a:ea typeface="Raleway Medium" pitchFamily="34" charset="-122"/>
                <a:cs typeface="Raleway Medium" pitchFamily="34" charset="-120"/>
              </a:rPr>
              <a:t>PgBee</a:t>
            </a:r>
            <a:endParaRPr lang="en-US" sz="850" dirty="0"/>
          </a:p>
        </p:txBody>
      </p:sp>
      <p:sp>
        <p:nvSpPr>
          <p:cNvPr id="8" name="Text 6"/>
          <p:cNvSpPr/>
          <p:nvPr/>
        </p:nvSpPr>
        <p:spPr>
          <a:xfrm>
            <a:off x="4373091" y="1478979"/>
            <a:ext cx="1638449" cy="162148"/>
          </a:xfrm>
          <a:prstGeom prst="rect">
            <a:avLst/>
          </a:prstGeom>
          <a:noFill/>
          <a:ln/>
        </p:spPr>
        <p:txBody>
          <a:bodyPr wrap="none" lIns="0" tIns="0" rIns="0" bIns="0" rtlCol="0" anchor="t"/>
          <a:lstStyle/>
          <a:p>
            <a:pPr algn="l" indent="0" marL="0">
              <a:lnSpc>
                <a:spcPct val="121000"/>
              </a:lnSpc>
              <a:buNone/>
            </a:pPr>
            <a:r>
              <a:rPr lang="en-US" sz="850" b="1" dirty="0">
                <a:solidFill>
                  <a:srgbClr val="D7D4CC"/>
                </a:solidFill>
                <a:latin typeface="Raleway Medium" pitchFamily="34" charset="0"/>
                <a:ea typeface="Raleway Medium" pitchFamily="34" charset="-122"/>
                <a:cs typeface="Raleway Medium" pitchFamily="34" charset="-120"/>
              </a:rPr>
              <a:t>Amber</a:t>
            </a:r>
            <a:endParaRPr lang="en-US" sz="850" dirty="0"/>
          </a:p>
        </p:txBody>
      </p:sp>
      <p:sp>
        <p:nvSpPr>
          <p:cNvPr id="9" name="Text 7"/>
          <p:cNvSpPr/>
          <p:nvPr/>
        </p:nvSpPr>
        <p:spPr>
          <a:xfrm>
            <a:off x="5782791" y="1478979"/>
            <a:ext cx="1638449" cy="162148"/>
          </a:xfrm>
          <a:prstGeom prst="rect">
            <a:avLst/>
          </a:prstGeom>
          <a:noFill/>
          <a:ln/>
        </p:spPr>
        <p:txBody>
          <a:bodyPr wrap="none" lIns="0" tIns="0" rIns="0" bIns="0" rtlCol="0" anchor="t"/>
          <a:lstStyle/>
          <a:p>
            <a:pPr algn="l" indent="0" marL="0">
              <a:lnSpc>
                <a:spcPct val="121000"/>
              </a:lnSpc>
              <a:buNone/>
            </a:pPr>
            <a:r>
              <a:rPr lang="en-US" sz="850" b="1" dirty="0">
                <a:solidFill>
                  <a:srgbClr val="D7D4CC"/>
                </a:solidFill>
                <a:latin typeface="Raleway Medium" pitchFamily="34" charset="0"/>
                <a:ea typeface="Raleway Medium" pitchFamily="34" charset="-122"/>
                <a:cs typeface="Raleway Medium" pitchFamily="34" charset="-120"/>
              </a:rPr>
              <a:t>Stanza</a:t>
            </a:r>
            <a:endParaRPr lang="en-US" sz="850" dirty="0"/>
          </a:p>
        </p:txBody>
      </p:sp>
      <p:sp>
        <p:nvSpPr>
          <p:cNvPr id="10" name="Text 8"/>
          <p:cNvSpPr/>
          <p:nvPr/>
        </p:nvSpPr>
        <p:spPr>
          <a:xfrm>
            <a:off x="7192491" y="1478979"/>
            <a:ext cx="1640830" cy="162148"/>
          </a:xfrm>
          <a:prstGeom prst="rect">
            <a:avLst/>
          </a:prstGeom>
          <a:noFill/>
          <a:ln/>
        </p:spPr>
        <p:txBody>
          <a:bodyPr wrap="none" lIns="0" tIns="0" rIns="0" bIns="0" rtlCol="0" anchor="t"/>
          <a:lstStyle/>
          <a:p>
            <a:pPr algn="l" indent="0" marL="0">
              <a:lnSpc>
                <a:spcPct val="121000"/>
              </a:lnSpc>
              <a:buNone/>
            </a:pPr>
            <a:r>
              <a:rPr lang="en-US" sz="850" b="1" dirty="0">
                <a:solidFill>
                  <a:srgbClr val="D7D4CC"/>
                </a:solidFill>
                <a:latin typeface="Raleway Medium" pitchFamily="34" charset="0"/>
                <a:ea typeface="Raleway Medium" pitchFamily="34" charset="-122"/>
                <a:cs typeface="Raleway Medium" pitchFamily="34" charset="-120"/>
              </a:rPr>
              <a:t>OLX</a:t>
            </a:r>
            <a:endParaRPr lang="en-US" sz="850" dirty="0"/>
          </a:p>
        </p:txBody>
      </p:sp>
      <p:sp>
        <p:nvSpPr>
          <p:cNvPr id="11" name="Shape 9"/>
          <p:cNvSpPr/>
          <p:nvPr/>
        </p:nvSpPr>
        <p:spPr>
          <a:xfrm>
            <a:off x="656034" y="1700361"/>
            <a:ext cx="7831931" cy="280615"/>
          </a:xfrm>
          <a:prstGeom prst="rect">
            <a:avLst/>
          </a:prstGeom>
          <a:solidFill>
            <a:srgbClr val="000000">
              <a:alpha val="4000"/>
            </a:srgbClr>
          </a:solidFill>
          <a:ln/>
        </p:spPr>
      </p:sp>
      <p:sp>
        <p:nvSpPr>
          <p:cNvPr id="12" name="Text 10"/>
          <p:cNvSpPr/>
          <p:nvPr/>
        </p:nvSpPr>
        <p:spPr>
          <a:xfrm>
            <a:off x="768102" y="1759595"/>
            <a:ext cx="2424038" cy="162148"/>
          </a:xfrm>
          <a:prstGeom prst="rect">
            <a:avLst/>
          </a:prstGeom>
          <a:noFill/>
          <a:ln/>
        </p:spPr>
        <p:txBody>
          <a:bodyPr wrap="none" lIns="0" tIns="0" rIns="0" bIns="0" rtlCol="0" anchor="t"/>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Student Focus</a:t>
            </a:r>
            <a:endParaRPr lang="en-US" sz="850" dirty="0"/>
          </a:p>
        </p:txBody>
      </p:sp>
      <p:sp>
        <p:nvSpPr>
          <p:cNvPr id="13" name="Text 11"/>
          <p:cNvSpPr/>
          <p:nvPr/>
        </p:nvSpPr>
        <p:spPr>
          <a:xfrm>
            <a:off x="2963391" y="1759595"/>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High</a:t>
            </a:r>
            <a:endParaRPr lang="en-US" sz="850" dirty="0"/>
          </a:p>
        </p:txBody>
      </p:sp>
      <p:sp>
        <p:nvSpPr>
          <p:cNvPr id="14" name="Text 12"/>
          <p:cNvSpPr/>
          <p:nvPr/>
        </p:nvSpPr>
        <p:spPr>
          <a:xfrm>
            <a:off x="4373091" y="1759595"/>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High</a:t>
            </a:r>
            <a:endParaRPr lang="en-US" sz="850" dirty="0"/>
          </a:p>
        </p:txBody>
      </p:sp>
      <p:sp>
        <p:nvSpPr>
          <p:cNvPr id="15" name="Text 13"/>
          <p:cNvSpPr/>
          <p:nvPr/>
        </p:nvSpPr>
        <p:spPr>
          <a:xfrm>
            <a:off x="5782791" y="1759595"/>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High</a:t>
            </a:r>
            <a:endParaRPr lang="en-US" sz="850" dirty="0"/>
          </a:p>
        </p:txBody>
      </p:sp>
      <p:sp>
        <p:nvSpPr>
          <p:cNvPr id="16" name="Text 14"/>
          <p:cNvSpPr/>
          <p:nvPr/>
        </p:nvSpPr>
        <p:spPr>
          <a:xfrm>
            <a:off x="7192491" y="1759595"/>
            <a:ext cx="1640830"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Low</a:t>
            </a:r>
            <a:endParaRPr lang="en-US" sz="850" dirty="0"/>
          </a:p>
        </p:txBody>
      </p:sp>
      <p:sp>
        <p:nvSpPr>
          <p:cNvPr id="17" name="Shape 15"/>
          <p:cNvSpPr/>
          <p:nvPr/>
        </p:nvSpPr>
        <p:spPr>
          <a:xfrm>
            <a:off x="656034" y="1980977"/>
            <a:ext cx="7831931" cy="280615"/>
          </a:xfrm>
          <a:prstGeom prst="rect">
            <a:avLst/>
          </a:prstGeom>
          <a:solidFill>
            <a:srgbClr val="FFFFFF">
              <a:alpha val="4000"/>
            </a:srgbClr>
          </a:solidFill>
          <a:ln/>
        </p:spPr>
      </p:sp>
      <p:sp>
        <p:nvSpPr>
          <p:cNvPr id="18" name="Text 16"/>
          <p:cNvSpPr/>
          <p:nvPr/>
        </p:nvSpPr>
        <p:spPr>
          <a:xfrm>
            <a:off x="768102" y="2040210"/>
            <a:ext cx="2424038" cy="162148"/>
          </a:xfrm>
          <a:prstGeom prst="rect">
            <a:avLst/>
          </a:prstGeom>
          <a:noFill/>
          <a:ln/>
        </p:spPr>
        <p:txBody>
          <a:bodyPr wrap="none" lIns="0" tIns="0" rIns="0" bIns="0" rtlCol="0" anchor="t"/>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Kerala Expertise</a:t>
            </a:r>
            <a:endParaRPr lang="en-US" sz="850" dirty="0"/>
          </a:p>
        </p:txBody>
      </p:sp>
      <p:sp>
        <p:nvSpPr>
          <p:cNvPr id="19" name="Text 17"/>
          <p:cNvSpPr/>
          <p:nvPr/>
        </p:nvSpPr>
        <p:spPr>
          <a:xfrm>
            <a:off x="2963391" y="2040210"/>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High</a:t>
            </a:r>
            <a:endParaRPr lang="en-US" sz="850" dirty="0"/>
          </a:p>
        </p:txBody>
      </p:sp>
      <p:sp>
        <p:nvSpPr>
          <p:cNvPr id="20" name="Text 18"/>
          <p:cNvSpPr/>
          <p:nvPr/>
        </p:nvSpPr>
        <p:spPr>
          <a:xfrm>
            <a:off x="4373091" y="2040210"/>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Low</a:t>
            </a:r>
            <a:endParaRPr lang="en-US" sz="850" dirty="0"/>
          </a:p>
        </p:txBody>
      </p:sp>
      <p:sp>
        <p:nvSpPr>
          <p:cNvPr id="21" name="Text 19"/>
          <p:cNvSpPr/>
          <p:nvPr/>
        </p:nvSpPr>
        <p:spPr>
          <a:xfrm>
            <a:off x="5782791" y="2040210"/>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Low</a:t>
            </a:r>
            <a:endParaRPr lang="en-US" sz="850" dirty="0"/>
          </a:p>
        </p:txBody>
      </p:sp>
      <p:sp>
        <p:nvSpPr>
          <p:cNvPr id="22" name="Text 20"/>
          <p:cNvSpPr/>
          <p:nvPr/>
        </p:nvSpPr>
        <p:spPr>
          <a:xfrm>
            <a:off x="7192491" y="2040210"/>
            <a:ext cx="1640830"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Low</a:t>
            </a:r>
            <a:endParaRPr lang="en-US" sz="850" dirty="0"/>
          </a:p>
        </p:txBody>
      </p:sp>
      <p:sp>
        <p:nvSpPr>
          <p:cNvPr id="23" name="Shape 21"/>
          <p:cNvSpPr/>
          <p:nvPr/>
        </p:nvSpPr>
        <p:spPr>
          <a:xfrm>
            <a:off x="656034" y="2261592"/>
            <a:ext cx="7831931" cy="280615"/>
          </a:xfrm>
          <a:prstGeom prst="rect">
            <a:avLst/>
          </a:prstGeom>
          <a:solidFill>
            <a:srgbClr val="000000">
              <a:alpha val="4000"/>
            </a:srgbClr>
          </a:solidFill>
          <a:ln/>
        </p:spPr>
      </p:sp>
      <p:sp>
        <p:nvSpPr>
          <p:cNvPr id="24" name="Text 22"/>
          <p:cNvSpPr/>
          <p:nvPr/>
        </p:nvSpPr>
        <p:spPr>
          <a:xfrm>
            <a:off x="768102" y="2320826"/>
            <a:ext cx="2424038" cy="162148"/>
          </a:xfrm>
          <a:prstGeom prst="rect">
            <a:avLst/>
          </a:prstGeom>
          <a:noFill/>
          <a:ln/>
        </p:spPr>
        <p:txBody>
          <a:bodyPr wrap="none" lIns="0" tIns="0" rIns="0" bIns="0" rtlCol="0" anchor="t"/>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Owner App</a:t>
            </a:r>
            <a:endParaRPr lang="en-US" sz="850" dirty="0"/>
          </a:p>
        </p:txBody>
      </p:sp>
      <p:sp>
        <p:nvSpPr>
          <p:cNvPr id="25" name="Text 23"/>
          <p:cNvSpPr/>
          <p:nvPr/>
        </p:nvSpPr>
        <p:spPr>
          <a:xfrm>
            <a:off x="2963391" y="2320826"/>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Yes</a:t>
            </a:r>
            <a:endParaRPr lang="en-US" sz="850" dirty="0"/>
          </a:p>
        </p:txBody>
      </p:sp>
      <p:sp>
        <p:nvSpPr>
          <p:cNvPr id="26" name="Text 24"/>
          <p:cNvSpPr/>
          <p:nvPr/>
        </p:nvSpPr>
        <p:spPr>
          <a:xfrm>
            <a:off x="4373091" y="2320826"/>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No</a:t>
            </a:r>
            <a:endParaRPr lang="en-US" sz="850" dirty="0"/>
          </a:p>
        </p:txBody>
      </p:sp>
      <p:sp>
        <p:nvSpPr>
          <p:cNvPr id="27" name="Text 25"/>
          <p:cNvSpPr/>
          <p:nvPr/>
        </p:nvSpPr>
        <p:spPr>
          <a:xfrm>
            <a:off x="5782791" y="2320826"/>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No</a:t>
            </a:r>
            <a:endParaRPr lang="en-US" sz="850" dirty="0"/>
          </a:p>
        </p:txBody>
      </p:sp>
      <p:sp>
        <p:nvSpPr>
          <p:cNvPr id="28" name="Text 26"/>
          <p:cNvSpPr/>
          <p:nvPr/>
        </p:nvSpPr>
        <p:spPr>
          <a:xfrm>
            <a:off x="7192491" y="2320826"/>
            <a:ext cx="1640830"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No</a:t>
            </a:r>
            <a:endParaRPr lang="en-US" sz="850" dirty="0"/>
          </a:p>
        </p:txBody>
      </p:sp>
      <p:sp>
        <p:nvSpPr>
          <p:cNvPr id="29" name="Shape 27"/>
          <p:cNvSpPr/>
          <p:nvPr/>
        </p:nvSpPr>
        <p:spPr>
          <a:xfrm>
            <a:off x="656034" y="2542208"/>
            <a:ext cx="7831931" cy="280615"/>
          </a:xfrm>
          <a:prstGeom prst="rect">
            <a:avLst/>
          </a:prstGeom>
          <a:solidFill>
            <a:srgbClr val="FFFFFF">
              <a:alpha val="4000"/>
            </a:srgbClr>
          </a:solidFill>
          <a:ln/>
        </p:spPr>
      </p:sp>
      <p:sp>
        <p:nvSpPr>
          <p:cNvPr id="30" name="Text 28"/>
          <p:cNvSpPr/>
          <p:nvPr/>
        </p:nvSpPr>
        <p:spPr>
          <a:xfrm>
            <a:off x="768102" y="2601441"/>
            <a:ext cx="2424038" cy="162148"/>
          </a:xfrm>
          <a:prstGeom prst="rect">
            <a:avLst/>
          </a:prstGeom>
          <a:noFill/>
          <a:ln/>
        </p:spPr>
        <p:txBody>
          <a:bodyPr wrap="none" lIns="0" tIns="0" rIns="0" bIns="0" rtlCol="0" anchor="t"/>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Hostel Verification</a:t>
            </a:r>
            <a:endParaRPr lang="en-US" sz="850" dirty="0"/>
          </a:p>
        </p:txBody>
      </p:sp>
      <p:sp>
        <p:nvSpPr>
          <p:cNvPr id="31" name="Text 29"/>
          <p:cNvSpPr/>
          <p:nvPr/>
        </p:nvSpPr>
        <p:spPr>
          <a:xfrm>
            <a:off x="2963391" y="2601441"/>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Yes</a:t>
            </a:r>
            <a:endParaRPr lang="en-US" sz="850" dirty="0"/>
          </a:p>
        </p:txBody>
      </p:sp>
      <p:sp>
        <p:nvSpPr>
          <p:cNvPr id="32" name="Text 30"/>
          <p:cNvSpPr/>
          <p:nvPr/>
        </p:nvSpPr>
        <p:spPr>
          <a:xfrm>
            <a:off x="4373091" y="2601441"/>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Yes</a:t>
            </a:r>
            <a:endParaRPr lang="en-US" sz="850" dirty="0"/>
          </a:p>
        </p:txBody>
      </p:sp>
      <p:sp>
        <p:nvSpPr>
          <p:cNvPr id="33" name="Text 31"/>
          <p:cNvSpPr/>
          <p:nvPr/>
        </p:nvSpPr>
        <p:spPr>
          <a:xfrm>
            <a:off x="5782791" y="2601441"/>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Yes</a:t>
            </a:r>
            <a:endParaRPr lang="en-US" sz="850" dirty="0"/>
          </a:p>
        </p:txBody>
      </p:sp>
      <p:sp>
        <p:nvSpPr>
          <p:cNvPr id="34" name="Text 32"/>
          <p:cNvSpPr/>
          <p:nvPr/>
        </p:nvSpPr>
        <p:spPr>
          <a:xfrm>
            <a:off x="7192491" y="2601441"/>
            <a:ext cx="1640830"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Limited</a:t>
            </a:r>
            <a:endParaRPr lang="en-US" sz="850" dirty="0"/>
          </a:p>
        </p:txBody>
      </p:sp>
      <p:sp>
        <p:nvSpPr>
          <p:cNvPr id="35" name="Shape 33"/>
          <p:cNvSpPr/>
          <p:nvPr/>
        </p:nvSpPr>
        <p:spPr>
          <a:xfrm>
            <a:off x="656034" y="2822823"/>
            <a:ext cx="7831931" cy="280615"/>
          </a:xfrm>
          <a:prstGeom prst="rect">
            <a:avLst/>
          </a:prstGeom>
          <a:solidFill>
            <a:srgbClr val="000000">
              <a:alpha val="4000"/>
            </a:srgbClr>
          </a:solidFill>
          <a:ln/>
        </p:spPr>
      </p:sp>
      <p:sp>
        <p:nvSpPr>
          <p:cNvPr id="36" name="Text 34"/>
          <p:cNvSpPr/>
          <p:nvPr/>
        </p:nvSpPr>
        <p:spPr>
          <a:xfrm>
            <a:off x="768102" y="2882057"/>
            <a:ext cx="2424038" cy="162148"/>
          </a:xfrm>
          <a:prstGeom prst="rect">
            <a:avLst/>
          </a:prstGeom>
          <a:noFill/>
          <a:ln/>
        </p:spPr>
        <p:txBody>
          <a:bodyPr wrap="none" lIns="0" tIns="0" rIns="0" bIns="0" rtlCol="0" anchor="t"/>
          <a:lstStyle/>
          <a:p>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Referral Program</a:t>
            </a:r>
            <a:endParaRPr lang="en-US" sz="850" dirty="0"/>
          </a:p>
        </p:txBody>
      </p:sp>
      <p:sp>
        <p:nvSpPr>
          <p:cNvPr id="37" name="Text 35"/>
          <p:cNvSpPr/>
          <p:nvPr/>
        </p:nvSpPr>
        <p:spPr>
          <a:xfrm>
            <a:off x="2963391" y="2882057"/>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Yes</a:t>
            </a:r>
            <a:endParaRPr lang="en-US" sz="850" dirty="0"/>
          </a:p>
        </p:txBody>
      </p:sp>
      <p:sp>
        <p:nvSpPr>
          <p:cNvPr id="38" name="Text 36"/>
          <p:cNvSpPr/>
          <p:nvPr/>
        </p:nvSpPr>
        <p:spPr>
          <a:xfrm>
            <a:off x="4373091" y="2882057"/>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Limited</a:t>
            </a:r>
            <a:endParaRPr lang="en-US" sz="850" dirty="0"/>
          </a:p>
        </p:txBody>
      </p:sp>
      <p:sp>
        <p:nvSpPr>
          <p:cNvPr id="39" name="Text 37"/>
          <p:cNvSpPr/>
          <p:nvPr/>
        </p:nvSpPr>
        <p:spPr>
          <a:xfrm>
            <a:off x="5782791" y="2882057"/>
            <a:ext cx="1638449"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No</a:t>
            </a:r>
            <a:endParaRPr lang="en-US" sz="850" dirty="0"/>
          </a:p>
        </p:txBody>
      </p:sp>
      <p:sp>
        <p:nvSpPr>
          <p:cNvPr id="40" name="Text 38"/>
          <p:cNvSpPr/>
          <p:nvPr/>
        </p:nvSpPr>
        <p:spPr>
          <a:xfrm>
            <a:off x="7192491" y="2882057"/>
            <a:ext cx="1640830" cy="162148"/>
          </a:xfrm>
          <a:prstGeom prst="rect">
            <a:avLst/>
          </a:prstGeom>
          <a:noFill/>
          <a:ln/>
        </p:spPr>
        <p:txBody>
          <a:bodyPr wrap="none" lIns="0" tIns="0" rIns="0" bIns="0" rtlCol="0" anchor="t"/>
          <a:lstStyle/>
          <a:p>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a:t>
            </a:r>
            <a:pPr algn="l" indent="0" marL="0">
              <a:lnSpc>
                <a:spcPct val="121000"/>
              </a:lnSpc>
              <a:buNone/>
            </a:pPr>
            <a:r>
              <a:rPr lang="en-US" sz="850" dirty="0">
                <a:solidFill>
                  <a:srgbClr val="D7D4CC"/>
                </a:solidFill>
                <a:latin typeface="Raleway Medium" pitchFamily="34" charset="0"/>
                <a:ea typeface="Raleway Medium" pitchFamily="34" charset="-122"/>
                <a:cs typeface="Raleway Medium" pitchFamily="34" charset="-120"/>
              </a:rPr>
              <a:t> No</a:t>
            </a:r>
            <a:endParaRPr lang="en-US" sz="850" dirty="0"/>
          </a:p>
        </p:txBody>
      </p:sp>
      <p:sp>
        <p:nvSpPr>
          <p:cNvPr id="41" name="Shape 39"/>
          <p:cNvSpPr/>
          <p:nvPr/>
        </p:nvSpPr>
        <p:spPr>
          <a:xfrm>
            <a:off x="570681" y="3210446"/>
            <a:ext cx="3945434" cy="1599158"/>
          </a:xfrm>
          <a:prstGeom prst="roundRect">
            <a:avLst>
              <a:gd name="adj" fmla="val 16789"/>
            </a:avLst>
          </a:prstGeom>
          <a:solidFill>
            <a:srgbClr val="FFE14D"/>
          </a:solidFill>
          <a:ln/>
        </p:spPr>
      </p:sp>
      <p:sp>
        <p:nvSpPr>
          <p:cNvPr id="42" name="Text 40"/>
          <p:cNvSpPr/>
          <p:nvPr/>
        </p:nvSpPr>
        <p:spPr>
          <a:xfrm>
            <a:off x="682526" y="3301305"/>
            <a:ext cx="1858268" cy="155302"/>
          </a:xfrm>
          <a:prstGeom prst="rect">
            <a:avLst/>
          </a:prstGeom>
          <a:noFill/>
          <a:ln/>
        </p:spPr>
        <p:txBody>
          <a:bodyPr wrap="none" lIns="0" tIns="0" rIns="0" bIns="0" rtlCol="0" anchor="t"/>
          <a:lstStyle/>
          <a:p>
            <a:pPr algn="l" indent="0" marL="0">
              <a:lnSpc>
                <a:spcPct val="104000"/>
              </a:lnSpc>
              <a:buNone/>
            </a:pPr>
            <a:r>
              <a:rPr lang="en-US" sz="950" b="1" dirty="0">
                <a:solidFill>
                  <a:srgbClr val="000000"/>
                </a:solidFill>
                <a:latin typeface="Comfortaa Bold" pitchFamily="34" charset="0"/>
                <a:ea typeface="Comfortaa Bold" pitchFamily="34" charset="-122"/>
                <a:cs typeface="Comfortaa Bold" pitchFamily="34" charset="-120"/>
              </a:rPr>
              <a:t>Key Competitive Edge</a:t>
            </a:r>
            <a:endParaRPr lang="en-US" sz="950" dirty="0"/>
          </a:p>
        </p:txBody>
      </p:sp>
      <p:sp>
        <p:nvSpPr>
          <p:cNvPr id="43" name="Text 41"/>
          <p:cNvSpPr/>
          <p:nvPr/>
        </p:nvSpPr>
        <p:spPr>
          <a:xfrm>
            <a:off x="682526" y="3547467"/>
            <a:ext cx="3721745" cy="810741"/>
          </a:xfrm>
          <a:prstGeom prst="rect">
            <a:avLst/>
          </a:prstGeom>
          <a:noFill/>
          <a:ln/>
        </p:spPr>
        <p:txBody>
          <a:bodyPr wrap="square" lIns="0" tIns="0" rIns="0" bIns="0" rtlCol="0" anchor="t">
            <a:normAutofit/>
          </a:bodyPr>
          <a:lstStyle/>
          <a:p>
            <a:pPr algn="l" indent="0" marL="0">
              <a:lnSpc>
                <a:spcPct val="121000"/>
              </a:lnSpc>
              <a:buNone/>
            </a:pPr>
            <a:r>
              <a:rPr lang="en-US" sz="850" b="1" dirty="0">
                <a:solidFill>
                  <a:srgbClr val="000000"/>
                </a:solidFill>
                <a:latin typeface="Raleway Medium" pitchFamily="34" charset="0"/>
                <a:ea typeface="Raleway Medium" pitchFamily="34" charset="-122"/>
                <a:cs typeface="Raleway Medium" pitchFamily="34" charset="-120"/>
              </a:rPr>
              <a:t>"Hyper-local student accommodation expertise."</a:t>
            </a:r>
            <a:pPr algn="l" indent="0" marL="0">
              <a:lnSpc>
                <a:spcPct val="121000"/>
              </a:lnSpc>
              <a:buNone/>
            </a:pPr>
            <a:r>
              <a:rPr lang="en-US" sz="850" dirty="0">
                <a:solidFill>
                  <a:srgbClr val="000000"/>
                </a:solidFill>
                <a:latin typeface="Raleway Medium" pitchFamily="34" charset="0"/>
                <a:ea typeface="Raleway Medium" pitchFamily="34" charset="-122"/>
                <a:cs typeface="Raleway Medium" pitchFamily="34" charset="-120"/>
              </a:rPr>
              <a:t> PgBee's combination of Kerala-first market knowledge, a dedicated owner ecosystem, and a verified listing standard creates a defensible position that national platforms cannot easily replicate. This is PgBee's core differentiator and should anchor all brand messaging.</a:t>
            </a:r>
            <a:endParaRPr lang="en-US" sz="850" dirty="0"/>
          </a:p>
        </p:txBody>
      </p:sp>
      <p:sp>
        <p:nvSpPr>
          <p:cNvPr id="44" name="Text 42"/>
          <p:cNvSpPr/>
          <p:nvPr/>
        </p:nvSpPr>
        <p:spPr>
          <a:xfrm>
            <a:off x="4713238" y="3301305"/>
            <a:ext cx="1886620" cy="155302"/>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Strategic Implications</a:t>
            </a:r>
            <a:endParaRPr lang="en-US" sz="950" dirty="0"/>
          </a:p>
        </p:txBody>
      </p:sp>
      <p:sp>
        <p:nvSpPr>
          <p:cNvPr id="45" name="Text 43"/>
          <p:cNvSpPr/>
          <p:nvPr/>
        </p:nvSpPr>
        <p:spPr>
          <a:xfrm>
            <a:off x="4713238" y="3547467"/>
            <a:ext cx="3784253" cy="1230362"/>
          </a:xfrm>
          <a:prstGeom prst="rect">
            <a:avLst/>
          </a:prstGeom>
          <a:noFill/>
          <a:ln/>
        </p:spPr>
        <p:txBody>
          <a:bodyPr wrap="square" lIns="0" tIns="0" rIns="0" bIns="0" rtlCol="0" anchor="t">
            <a:normAutofit/>
          </a:bodyPr>
          <a:lstStyle/>
          <a:p>
            <a:pPr algn="l" marL="342900" indent="-342900">
              <a:lnSpc>
                <a:spcPct val="121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Lead with Kerala expertise in all marketing and partnership conversations</a:t>
            </a:r>
            <a:endParaRPr lang="en-US" sz="850" dirty="0"/>
          </a:p>
          <a:p>
            <a:pPr algn="l" marL="342900" indent="-342900">
              <a:lnSpc>
                <a:spcPct val="121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Amplify the Owner App as a unique value proposition for hostel operators</a:t>
            </a:r>
            <a:endParaRPr lang="en-US" sz="850" dirty="0"/>
          </a:p>
          <a:p>
            <a:pPr algn="l" marL="342900" indent="-342900">
              <a:lnSpc>
                <a:spcPct val="121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Use verification as a trust signal to win student confidence over OLX</a:t>
            </a:r>
            <a:endParaRPr lang="en-US" sz="850" dirty="0"/>
          </a:p>
          <a:p>
            <a:pPr algn="l" marL="342900" indent="-342900">
              <a:lnSpc>
                <a:spcPct val="121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Scale the B Points referral program before competitors copy the model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782217" y="279127"/>
            <a:ext cx="4507706" cy="221084"/>
          </a:xfrm>
          <a:prstGeom prst="rect">
            <a:avLst/>
          </a:prstGeom>
          <a:noFill/>
          <a:ln/>
        </p:spPr>
        <p:txBody>
          <a:bodyPr wrap="none" lIns="0" tIns="0" rIns="0" bIns="0" rtlCol="0" anchor="t"/>
          <a:lstStyle/>
          <a:p>
            <a:pPr algn="l" indent="0" marL="0">
              <a:lnSpc>
                <a:spcPct val="104000"/>
              </a:lnSpc>
              <a:buNone/>
            </a:pPr>
            <a:r>
              <a:rPr lang="en-US" sz="1350" b="1" dirty="0">
                <a:solidFill>
                  <a:srgbClr val="FFE14D"/>
                </a:solidFill>
                <a:latin typeface="Comfortaa Bold" pitchFamily="34" charset="0"/>
                <a:ea typeface="Comfortaa Bold" pitchFamily="34" charset="-122"/>
                <a:cs typeface="Comfortaa Bold" pitchFamily="34" charset="-120"/>
              </a:rPr>
              <a:t>Internal Weaknesses: Challenges to Address</a:t>
            </a:r>
            <a:endParaRPr lang="en-US" sz="1350" dirty="0"/>
          </a:p>
        </p:txBody>
      </p:sp>
      <p:sp>
        <p:nvSpPr>
          <p:cNvPr id="3" name="Text 1"/>
          <p:cNvSpPr/>
          <p:nvPr/>
        </p:nvSpPr>
        <p:spPr>
          <a:xfrm>
            <a:off x="1782217" y="592187"/>
            <a:ext cx="557949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While PgBee's strengths provide a strong foundation, several internal limitations constrain its ability to scale and compete effectively against well-funded national players. Acknowledging these weaknesses honestly is the first step toward building a credible mitigation strategy.</a:t>
            </a:r>
            <a:endParaRPr lang="en-US" sz="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2217" y="844823"/>
            <a:ext cx="5579492" cy="517252"/>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1233" y="1043732"/>
            <a:ext cx="119360" cy="119360"/>
          </a:xfrm>
          <a:prstGeom prst="rect">
            <a:avLst/>
          </a:prstGeom>
        </p:spPr>
      </p:pic>
      <p:sp>
        <p:nvSpPr>
          <p:cNvPr id="6" name="Text 2"/>
          <p:cNvSpPr/>
          <p:nvPr/>
        </p:nvSpPr>
        <p:spPr>
          <a:xfrm>
            <a:off x="2156073" y="933896"/>
            <a:ext cx="1167482" cy="110579"/>
          </a:xfrm>
          <a:prstGeom prst="rect">
            <a:avLst/>
          </a:prstGeom>
          <a:noFill/>
          <a:ln/>
        </p:spPr>
        <p:txBody>
          <a:bodyPr wrap="none" lIns="0" tIns="0" rIns="0" bIns="0" rtlCol="0" anchor="t"/>
          <a:lstStyle/>
          <a:p>
            <a:pPr algn="l" indent="0" marL="0">
              <a:lnSpc>
                <a:spcPct val="104000"/>
              </a:lnSpc>
              <a:buNone/>
            </a:pPr>
            <a:r>
              <a:rPr lang="en-US" sz="650" b="1" dirty="0">
                <a:solidFill>
                  <a:srgbClr val="D7D4CC"/>
                </a:solidFill>
                <a:latin typeface="Comfortaa Bold" pitchFamily="34" charset="0"/>
                <a:ea typeface="Comfortaa Bold" pitchFamily="34" charset="-122"/>
                <a:cs typeface="Comfortaa Bold" pitchFamily="34" charset="-120"/>
              </a:rPr>
              <a:t>Limited Brand Awareness</a:t>
            </a:r>
            <a:endParaRPr lang="en-US" sz="650" dirty="0"/>
          </a:p>
        </p:txBody>
      </p:sp>
      <p:sp>
        <p:nvSpPr>
          <p:cNvPr id="7" name="Text 3"/>
          <p:cNvSpPr/>
          <p:nvPr/>
        </p:nvSpPr>
        <p:spPr>
          <a:xfrm>
            <a:off x="2156073" y="1072083"/>
            <a:ext cx="511656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As a new platform, PgBee has low recognition outside its current operating markets. Students and hostel owners in untapped districts may not yet trust or know about PgBee, making initial acquisition more expensive and time-consuming than for established competitors.</a:t>
            </a:r>
            <a:endParaRPr lang="en-US" sz="6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2217" y="1408063"/>
            <a:ext cx="5579492" cy="517252"/>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91233" y="1606972"/>
            <a:ext cx="119360" cy="119360"/>
          </a:xfrm>
          <a:prstGeom prst="rect">
            <a:avLst/>
          </a:prstGeom>
        </p:spPr>
      </p:pic>
      <p:sp>
        <p:nvSpPr>
          <p:cNvPr id="10" name="Text 4"/>
          <p:cNvSpPr/>
          <p:nvPr/>
        </p:nvSpPr>
        <p:spPr>
          <a:xfrm>
            <a:off x="2156073" y="1497137"/>
            <a:ext cx="884411" cy="110579"/>
          </a:xfrm>
          <a:prstGeom prst="rect">
            <a:avLst/>
          </a:prstGeom>
          <a:noFill/>
          <a:ln/>
        </p:spPr>
        <p:txBody>
          <a:bodyPr wrap="none" lIns="0" tIns="0" rIns="0" bIns="0" rtlCol="0" anchor="t"/>
          <a:lstStyle/>
          <a:p>
            <a:pPr algn="l" indent="0" marL="0">
              <a:lnSpc>
                <a:spcPct val="104000"/>
              </a:lnSpc>
              <a:buNone/>
            </a:pPr>
            <a:r>
              <a:rPr lang="en-US" sz="650" b="1" dirty="0">
                <a:solidFill>
                  <a:srgbClr val="D7D4CC"/>
                </a:solidFill>
                <a:latin typeface="Comfortaa Bold" pitchFamily="34" charset="0"/>
                <a:ea typeface="Comfortaa Bold" pitchFamily="34" charset="-122"/>
                <a:cs typeface="Comfortaa Bold" pitchFamily="34" charset="-120"/>
              </a:rPr>
              <a:t>Smaller Inventory</a:t>
            </a:r>
            <a:endParaRPr lang="en-US" sz="650" dirty="0"/>
          </a:p>
        </p:txBody>
      </p:sp>
      <p:sp>
        <p:nvSpPr>
          <p:cNvPr id="11" name="Text 5"/>
          <p:cNvSpPr/>
          <p:nvPr/>
        </p:nvSpPr>
        <p:spPr>
          <a:xfrm>
            <a:off x="2156073" y="1635323"/>
            <a:ext cx="511656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Fewer active listings than national competitors means students have less choice on PgBee, which can reduce conversion rates and increase bounce rates. Building inventory depth — especially in high-demand corridors — is a critical early-stage priority.</a:t>
            </a:r>
            <a:endParaRPr lang="en-US" sz="6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82217" y="1971303"/>
            <a:ext cx="5579492" cy="517252"/>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91233" y="2170212"/>
            <a:ext cx="119360" cy="119360"/>
          </a:xfrm>
          <a:prstGeom prst="rect">
            <a:avLst/>
          </a:prstGeom>
        </p:spPr>
      </p:pic>
      <p:sp>
        <p:nvSpPr>
          <p:cNvPr id="14" name="Text 6"/>
          <p:cNvSpPr/>
          <p:nvPr/>
        </p:nvSpPr>
        <p:spPr>
          <a:xfrm>
            <a:off x="2156073" y="2060377"/>
            <a:ext cx="947142" cy="110579"/>
          </a:xfrm>
          <a:prstGeom prst="rect">
            <a:avLst/>
          </a:prstGeom>
          <a:noFill/>
          <a:ln/>
        </p:spPr>
        <p:txBody>
          <a:bodyPr wrap="none" lIns="0" tIns="0" rIns="0" bIns="0" rtlCol="0" anchor="t"/>
          <a:lstStyle/>
          <a:p>
            <a:pPr algn="l" indent="0" marL="0">
              <a:lnSpc>
                <a:spcPct val="104000"/>
              </a:lnSpc>
              <a:buNone/>
            </a:pPr>
            <a:r>
              <a:rPr lang="en-US" sz="650" b="1" dirty="0">
                <a:solidFill>
                  <a:srgbClr val="D7D4CC"/>
                </a:solidFill>
                <a:latin typeface="Comfortaa Bold" pitchFamily="34" charset="0"/>
                <a:ea typeface="Comfortaa Bold" pitchFamily="34" charset="-122"/>
                <a:cs typeface="Comfortaa Bold" pitchFamily="34" charset="-120"/>
              </a:rPr>
              <a:t>Early Revenue Stage</a:t>
            </a:r>
            <a:endParaRPr lang="en-US" sz="650" dirty="0"/>
          </a:p>
        </p:txBody>
      </p:sp>
      <p:sp>
        <p:nvSpPr>
          <p:cNvPr id="15" name="Text 7"/>
          <p:cNvSpPr/>
          <p:nvPr/>
        </p:nvSpPr>
        <p:spPr>
          <a:xfrm>
            <a:off x="2156073" y="2198563"/>
            <a:ext cx="511656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PgBee currently has limited recurring revenue streams, making the business vulnerable to cash flow constraints. Without predictable subscription or transaction revenue, scaling operations requires careful capital management and a clear path to monetization.</a:t>
            </a:r>
            <a:endParaRPr lang="en-US" sz="60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82217" y="2534543"/>
            <a:ext cx="5579492" cy="517252"/>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91233" y="2733452"/>
            <a:ext cx="119360" cy="119360"/>
          </a:xfrm>
          <a:prstGeom prst="rect">
            <a:avLst/>
          </a:prstGeom>
        </p:spPr>
      </p:pic>
      <p:sp>
        <p:nvSpPr>
          <p:cNvPr id="18" name="Text 8"/>
          <p:cNvSpPr/>
          <p:nvPr/>
        </p:nvSpPr>
        <p:spPr>
          <a:xfrm>
            <a:off x="2156073" y="2623617"/>
            <a:ext cx="1204392" cy="110579"/>
          </a:xfrm>
          <a:prstGeom prst="rect">
            <a:avLst/>
          </a:prstGeom>
          <a:noFill/>
          <a:ln/>
        </p:spPr>
        <p:txBody>
          <a:bodyPr wrap="none" lIns="0" tIns="0" rIns="0" bIns="0" rtlCol="0" anchor="t"/>
          <a:lstStyle/>
          <a:p>
            <a:pPr algn="l" indent="0" marL="0">
              <a:lnSpc>
                <a:spcPct val="104000"/>
              </a:lnSpc>
              <a:buNone/>
            </a:pPr>
            <a:r>
              <a:rPr lang="en-US" sz="650" b="1" dirty="0">
                <a:solidFill>
                  <a:srgbClr val="D7D4CC"/>
                </a:solidFill>
                <a:latin typeface="Comfortaa Bold" pitchFamily="34" charset="0"/>
                <a:ea typeface="Comfortaa Bold" pitchFamily="34" charset="-122"/>
                <a:cs typeface="Comfortaa Bold" pitchFamily="34" charset="-120"/>
              </a:rPr>
              <a:t>Limited Marketing Budget</a:t>
            </a:r>
            <a:endParaRPr lang="en-US" sz="650" dirty="0"/>
          </a:p>
        </p:txBody>
      </p:sp>
      <p:sp>
        <p:nvSpPr>
          <p:cNvPr id="19" name="Text 9"/>
          <p:cNvSpPr/>
          <p:nvPr/>
        </p:nvSpPr>
        <p:spPr>
          <a:xfrm>
            <a:off x="2156073" y="2761804"/>
            <a:ext cx="511656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Reliance on organic growth and a constrained acquisition budget means PgBee cannot compete on paid media spend with well-funded competitors. This makes the referral program and campus ambassador network even more critical as low-cost acquisition channels.</a:t>
            </a:r>
            <a:endParaRPr lang="en-US" sz="600" dirty="0"/>
          </a:p>
        </p:txBody>
      </p:sp>
      <p:pic>
        <p:nvPicPr>
          <p:cNvPr id="2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82217" y="3097783"/>
            <a:ext cx="5579492" cy="517252"/>
          </a:xfrm>
          <a:prstGeom prst="rect">
            <a:avLst/>
          </a:prstGeom>
        </p:spPr>
      </p:pic>
      <p:pic>
        <p:nvPicPr>
          <p:cNvPr id="2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891233" y="3296692"/>
            <a:ext cx="119360" cy="119360"/>
          </a:xfrm>
          <a:prstGeom prst="rect">
            <a:avLst/>
          </a:prstGeom>
        </p:spPr>
      </p:pic>
      <p:sp>
        <p:nvSpPr>
          <p:cNvPr id="22" name="Text 10"/>
          <p:cNvSpPr/>
          <p:nvPr/>
        </p:nvSpPr>
        <p:spPr>
          <a:xfrm>
            <a:off x="2156073" y="3186857"/>
            <a:ext cx="1235125" cy="110579"/>
          </a:xfrm>
          <a:prstGeom prst="rect">
            <a:avLst/>
          </a:prstGeom>
          <a:noFill/>
          <a:ln/>
        </p:spPr>
        <p:txBody>
          <a:bodyPr wrap="none" lIns="0" tIns="0" rIns="0" bIns="0" rtlCol="0" anchor="t"/>
          <a:lstStyle/>
          <a:p>
            <a:pPr algn="l" indent="0" marL="0">
              <a:lnSpc>
                <a:spcPct val="104000"/>
              </a:lnSpc>
              <a:buNone/>
            </a:pPr>
            <a:r>
              <a:rPr lang="en-US" sz="650" b="1" dirty="0">
                <a:solidFill>
                  <a:srgbClr val="D7D4CC"/>
                </a:solidFill>
                <a:latin typeface="Comfortaa Bold" pitchFamily="34" charset="0"/>
                <a:ea typeface="Comfortaa Bold" pitchFamily="34" charset="-122"/>
                <a:cs typeface="Comfortaa Bold" pitchFamily="34" charset="-120"/>
              </a:rPr>
              <a:t>Geographic Concentration</a:t>
            </a:r>
            <a:endParaRPr lang="en-US" sz="650" dirty="0"/>
          </a:p>
        </p:txBody>
      </p:sp>
      <p:sp>
        <p:nvSpPr>
          <p:cNvPr id="23" name="Text 11"/>
          <p:cNvSpPr/>
          <p:nvPr/>
        </p:nvSpPr>
        <p:spPr>
          <a:xfrm>
            <a:off x="2156073" y="3325044"/>
            <a:ext cx="5116562" cy="200918"/>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Primary focus on Kerala creates concentration risk — economic or regulatory changes in a single state could disproportionately impact the business. Diversifying into neighboring states is a strategic imperative, not just a growth opportunity.</a:t>
            </a:r>
            <a:endParaRPr lang="en-US" sz="600" dirty="0"/>
          </a:p>
        </p:txBody>
      </p:sp>
      <p:sp>
        <p:nvSpPr>
          <p:cNvPr id="24" name="Text 12"/>
          <p:cNvSpPr/>
          <p:nvPr/>
        </p:nvSpPr>
        <p:spPr>
          <a:xfrm>
            <a:off x="1782217" y="3684017"/>
            <a:ext cx="2046312" cy="110579"/>
          </a:xfrm>
          <a:prstGeom prst="rect">
            <a:avLst/>
          </a:prstGeom>
          <a:noFill/>
          <a:ln/>
        </p:spPr>
        <p:txBody>
          <a:bodyPr wrap="none" lIns="0" tIns="0" rIns="0" bIns="0" rtlCol="0" anchor="t"/>
          <a:lstStyle/>
          <a:p>
            <a:pPr algn="l" indent="0" marL="0">
              <a:lnSpc>
                <a:spcPct val="104000"/>
              </a:lnSpc>
              <a:buNone/>
            </a:pPr>
            <a:r>
              <a:rPr lang="en-US" sz="650" b="1" dirty="0">
                <a:solidFill>
                  <a:srgbClr val="FFE14D"/>
                </a:solidFill>
                <a:latin typeface="Comfortaa Bold" pitchFamily="34" charset="0"/>
                <a:ea typeface="Comfortaa Bold" pitchFamily="34" charset="-122"/>
                <a:cs typeface="Comfortaa Bold" pitchFamily="34" charset="-120"/>
              </a:rPr>
              <a:t>Weaknesses vs. Large Competitors</a:t>
            </a:r>
            <a:endParaRPr lang="en-US" sz="650" dirty="0"/>
          </a:p>
        </p:txBody>
      </p:sp>
      <p:sp>
        <p:nvSpPr>
          <p:cNvPr id="25" name="Shape 13"/>
          <p:cNvSpPr/>
          <p:nvPr/>
        </p:nvSpPr>
        <p:spPr>
          <a:xfrm>
            <a:off x="1782217" y="3863578"/>
            <a:ext cx="5579492" cy="1000720"/>
          </a:xfrm>
          <a:prstGeom prst="roundRect">
            <a:avLst>
              <a:gd name="adj" fmla="val 11931"/>
            </a:avLst>
          </a:prstGeom>
          <a:noFill/>
          <a:ln w="4763">
            <a:solidFill>
              <a:srgbClr val="FFFFFF">
                <a:alpha val="24000"/>
              </a:srgbClr>
            </a:solidFill>
            <a:prstDash val="solid"/>
          </a:ln>
        </p:spPr>
      </p:sp>
      <p:sp>
        <p:nvSpPr>
          <p:cNvPr id="26" name="Shape 14"/>
          <p:cNvSpPr/>
          <p:nvPr/>
        </p:nvSpPr>
        <p:spPr>
          <a:xfrm>
            <a:off x="1786979" y="3868341"/>
            <a:ext cx="5569967" cy="165199"/>
          </a:xfrm>
          <a:prstGeom prst="rect">
            <a:avLst/>
          </a:prstGeom>
          <a:solidFill>
            <a:srgbClr val="FFFFFF">
              <a:alpha val="4000"/>
            </a:srgbClr>
          </a:solidFill>
          <a:ln/>
        </p:spPr>
      </p:sp>
      <p:sp>
        <p:nvSpPr>
          <p:cNvPr id="27" name="Text 15"/>
          <p:cNvSpPr/>
          <p:nvPr/>
        </p:nvSpPr>
        <p:spPr>
          <a:xfrm>
            <a:off x="1866602" y="3900711"/>
            <a:ext cx="2523679" cy="100459"/>
          </a:xfrm>
          <a:prstGeom prst="rect">
            <a:avLst/>
          </a:prstGeom>
          <a:noFill/>
          <a:ln/>
        </p:spPr>
        <p:txBody>
          <a:bodyPr wrap="none" lIns="0" tIns="0" rIns="0" bIns="0" rtlCol="0" anchor="t"/>
          <a:lstStyle/>
          <a:p>
            <a:pPr algn="l" indent="0" marL="0">
              <a:lnSpc>
                <a:spcPct val="105000"/>
              </a:lnSpc>
              <a:buNone/>
            </a:pPr>
            <a:r>
              <a:rPr lang="en-US" sz="600" b="1" dirty="0">
                <a:solidFill>
                  <a:srgbClr val="D7D4CC"/>
                </a:solidFill>
                <a:latin typeface="Raleway Medium" pitchFamily="34" charset="0"/>
                <a:ea typeface="Raleway Medium" pitchFamily="34" charset="-122"/>
                <a:cs typeface="Raleway Medium" pitchFamily="34" charset="-120"/>
              </a:rPr>
              <a:t>Area</a:t>
            </a:r>
            <a:endParaRPr lang="en-US" sz="600" dirty="0"/>
          </a:p>
        </p:txBody>
      </p:sp>
      <p:sp>
        <p:nvSpPr>
          <p:cNvPr id="28" name="Text 16"/>
          <p:cNvSpPr/>
          <p:nvPr/>
        </p:nvSpPr>
        <p:spPr>
          <a:xfrm>
            <a:off x="4096941" y="3900711"/>
            <a:ext cx="1964308" cy="100459"/>
          </a:xfrm>
          <a:prstGeom prst="rect">
            <a:avLst/>
          </a:prstGeom>
          <a:noFill/>
          <a:ln/>
        </p:spPr>
        <p:txBody>
          <a:bodyPr wrap="none" lIns="0" tIns="0" rIns="0" bIns="0" rtlCol="0" anchor="t"/>
          <a:lstStyle/>
          <a:p>
            <a:pPr algn="l" indent="0" marL="0">
              <a:lnSpc>
                <a:spcPct val="105000"/>
              </a:lnSpc>
              <a:buNone/>
            </a:pPr>
            <a:r>
              <a:rPr lang="en-US" sz="600" b="1" dirty="0">
                <a:solidFill>
                  <a:srgbClr val="D7D4CC"/>
                </a:solidFill>
                <a:latin typeface="Raleway Medium" pitchFamily="34" charset="0"/>
                <a:ea typeface="Raleway Medium" pitchFamily="34" charset="-122"/>
                <a:cs typeface="Raleway Medium" pitchFamily="34" charset="-120"/>
              </a:rPr>
              <a:t>PgBee</a:t>
            </a:r>
            <a:endParaRPr lang="en-US" sz="600" dirty="0"/>
          </a:p>
        </p:txBody>
      </p:sp>
      <p:sp>
        <p:nvSpPr>
          <p:cNvPr id="29" name="Text 17"/>
          <p:cNvSpPr/>
          <p:nvPr/>
        </p:nvSpPr>
        <p:spPr>
          <a:xfrm>
            <a:off x="5767908" y="3900711"/>
            <a:ext cx="1966689" cy="100459"/>
          </a:xfrm>
          <a:prstGeom prst="rect">
            <a:avLst/>
          </a:prstGeom>
          <a:noFill/>
          <a:ln/>
        </p:spPr>
        <p:txBody>
          <a:bodyPr wrap="none" lIns="0" tIns="0" rIns="0" bIns="0" rtlCol="0" anchor="t"/>
          <a:lstStyle/>
          <a:p>
            <a:pPr algn="l" indent="0" marL="0">
              <a:lnSpc>
                <a:spcPct val="105000"/>
              </a:lnSpc>
              <a:buNone/>
            </a:pPr>
            <a:r>
              <a:rPr lang="en-US" sz="600" b="1" dirty="0">
                <a:solidFill>
                  <a:srgbClr val="D7D4CC"/>
                </a:solidFill>
                <a:latin typeface="Raleway Medium" pitchFamily="34" charset="0"/>
                <a:ea typeface="Raleway Medium" pitchFamily="34" charset="-122"/>
                <a:cs typeface="Raleway Medium" pitchFamily="34" charset="-120"/>
              </a:rPr>
              <a:t>Large Competitors</a:t>
            </a:r>
            <a:endParaRPr lang="en-US" sz="600" dirty="0"/>
          </a:p>
        </p:txBody>
      </p:sp>
      <p:sp>
        <p:nvSpPr>
          <p:cNvPr id="30" name="Shape 18"/>
          <p:cNvSpPr/>
          <p:nvPr/>
        </p:nvSpPr>
        <p:spPr>
          <a:xfrm>
            <a:off x="1786979" y="4033540"/>
            <a:ext cx="5569967" cy="165199"/>
          </a:xfrm>
          <a:prstGeom prst="rect">
            <a:avLst/>
          </a:prstGeom>
          <a:solidFill>
            <a:srgbClr val="000000">
              <a:alpha val="4000"/>
            </a:srgbClr>
          </a:solidFill>
          <a:ln/>
        </p:spPr>
      </p:sp>
      <p:sp>
        <p:nvSpPr>
          <p:cNvPr id="31" name="Text 19"/>
          <p:cNvSpPr/>
          <p:nvPr/>
        </p:nvSpPr>
        <p:spPr>
          <a:xfrm>
            <a:off x="1866602" y="4065910"/>
            <a:ext cx="252367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Brand Awareness</a:t>
            </a:r>
            <a:endParaRPr lang="en-US" sz="600" dirty="0"/>
          </a:p>
        </p:txBody>
      </p:sp>
      <p:sp>
        <p:nvSpPr>
          <p:cNvPr id="32" name="Text 20"/>
          <p:cNvSpPr/>
          <p:nvPr/>
        </p:nvSpPr>
        <p:spPr>
          <a:xfrm>
            <a:off x="4096941" y="4065910"/>
            <a:ext cx="1964308"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Low</a:t>
            </a:r>
            <a:endParaRPr lang="en-US" sz="600" dirty="0"/>
          </a:p>
        </p:txBody>
      </p:sp>
      <p:sp>
        <p:nvSpPr>
          <p:cNvPr id="33" name="Text 21"/>
          <p:cNvSpPr/>
          <p:nvPr/>
        </p:nvSpPr>
        <p:spPr>
          <a:xfrm>
            <a:off x="5767908" y="4065910"/>
            <a:ext cx="196668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High</a:t>
            </a:r>
            <a:endParaRPr lang="en-US" sz="600" dirty="0"/>
          </a:p>
        </p:txBody>
      </p:sp>
      <p:sp>
        <p:nvSpPr>
          <p:cNvPr id="34" name="Shape 22"/>
          <p:cNvSpPr/>
          <p:nvPr/>
        </p:nvSpPr>
        <p:spPr>
          <a:xfrm>
            <a:off x="1786979" y="4198739"/>
            <a:ext cx="5569967" cy="165199"/>
          </a:xfrm>
          <a:prstGeom prst="rect">
            <a:avLst/>
          </a:prstGeom>
          <a:solidFill>
            <a:srgbClr val="FFFFFF">
              <a:alpha val="4000"/>
            </a:srgbClr>
          </a:solidFill>
          <a:ln/>
        </p:spPr>
      </p:sp>
      <p:sp>
        <p:nvSpPr>
          <p:cNvPr id="35" name="Text 23"/>
          <p:cNvSpPr/>
          <p:nvPr/>
        </p:nvSpPr>
        <p:spPr>
          <a:xfrm>
            <a:off x="1866602" y="4231109"/>
            <a:ext cx="252367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Funding</a:t>
            </a:r>
            <a:endParaRPr lang="en-US" sz="600" dirty="0"/>
          </a:p>
        </p:txBody>
      </p:sp>
      <p:sp>
        <p:nvSpPr>
          <p:cNvPr id="36" name="Text 24"/>
          <p:cNvSpPr/>
          <p:nvPr/>
        </p:nvSpPr>
        <p:spPr>
          <a:xfrm>
            <a:off x="4096941" y="4231109"/>
            <a:ext cx="1964308"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Low</a:t>
            </a:r>
            <a:endParaRPr lang="en-US" sz="600" dirty="0"/>
          </a:p>
        </p:txBody>
      </p:sp>
      <p:sp>
        <p:nvSpPr>
          <p:cNvPr id="37" name="Text 25"/>
          <p:cNvSpPr/>
          <p:nvPr/>
        </p:nvSpPr>
        <p:spPr>
          <a:xfrm>
            <a:off x="5767908" y="4231109"/>
            <a:ext cx="196668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High</a:t>
            </a:r>
            <a:endParaRPr lang="en-US" sz="600" dirty="0"/>
          </a:p>
        </p:txBody>
      </p:sp>
      <p:sp>
        <p:nvSpPr>
          <p:cNvPr id="38" name="Shape 26"/>
          <p:cNvSpPr/>
          <p:nvPr/>
        </p:nvSpPr>
        <p:spPr>
          <a:xfrm>
            <a:off x="1786979" y="4363938"/>
            <a:ext cx="5569967" cy="165199"/>
          </a:xfrm>
          <a:prstGeom prst="rect">
            <a:avLst/>
          </a:prstGeom>
          <a:solidFill>
            <a:srgbClr val="000000">
              <a:alpha val="4000"/>
            </a:srgbClr>
          </a:solidFill>
          <a:ln/>
        </p:spPr>
      </p:sp>
      <p:sp>
        <p:nvSpPr>
          <p:cNvPr id="39" name="Text 27"/>
          <p:cNvSpPr/>
          <p:nvPr/>
        </p:nvSpPr>
        <p:spPr>
          <a:xfrm>
            <a:off x="1866602" y="4396308"/>
            <a:ext cx="252367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Inventory</a:t>
            </a:r>
            <a:endParaRPr lang="en-US" sz="600" dirty="0"/>
          </a:p>
        </p:txBody>
      </p:sp>
      <p:sp>
        <p:nvSpPr>
          <p:cNvPr id="40" name="Text 28"/>
          <p:cNvSpPr/>
          <p:nvPr/>
        </p:nvSpPr>
        <p:spPr>
          <a:xfrm>
            <a:off x="4096941" y="4396308"/>
            <a:ext cx="1964308"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Limited</a:t>
            </a:r>
            <a:endParaRPr lang="en-US" sz="600" dirty="0"/>
          </a:p>
        </p:txBody>
      </p:sp>
      <p:sp>
        <p:nvSpPr>
          <p:cNvPr id="41" name="Text 29"/>
          <p:cNvSpPr/>
          <p:nvPr/>
        </p:nvSpPr>
        <p:spPr>
          <a:xfrm>
            <a:off x="5767908" y="4396308"/>
            <a:ext cx="196668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Extensive</a:t>
            </a:r>
            <a:endParaRPr lang="en-US" sz="600" dirty="0"/>
          </a:p>
        </p:txBody>
      </p:sp>
      <p:sp>
        <p:nvSpPr>
          <p:cNvPr id="42" name="Shape 30"/>
          <p:cNvSpPr/>
          <p:nvPr/>
        </p:nvSpPr>
        <p:spPr>
          <a:xfrm>
            <a:off x="1786979" y="4529138"/>
            <a:ext cx="5569967" cy="165199"/>
          </a:xfrm>
          <a:prstGeom prst="rect">
            <a:avLst/>
          </a:prstGeom>
          <a:solidFill>
            <a:srgbClr val="FFFFFF">
              <a:alpha val="4000"/>
            </a:srgbClr>
          </a:solidFill>
          <a:ln/>
        </p:spPr>
      </p:sp>
      <p:sp>
        <p:nvSpPr>
          <p:cNvPr id="43" name="Text 31"/>
          <p:cNvSpPr/>
          <p:nvPr/>
        </p:nvSpPr>
        <p:spPr>
          <a:xfrm>
            <a:off x="1866602" y="4561508"/>
            <a:ext cx="252367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Market Reach</a:t>
            </a:r>
            <a:endParaRPr lang="en-US" sz="600" dirty="0"/>
          </a:p>
        </p:txBody>
      </p:sp>
      <p:sp>
        <p:nvSpPr>
          <p:cNvPr id="44" name="Text 32"/>
          <p:cNvSpPr/>
          <p:nvPr/>
        </p:nvSpPr>
        <p:spPr>
          <a:xfrm>
            <a:off x="4096941" y="4561508"/>
            <a:ext cx="1964308"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Kerala</a:t>
            </a:r>
            <a:endParaRPr lang="en-US" sz="600" dirty="0"/>
          </a:p>
        </p:txBody>
      </p:sp>
      <p:sp>
        <p:nvSpPr>
          <p:cNvPr id="45" name="Text 33"/>
          <p:cNvSpPr/>
          <p:nvPr/>
        </p:nvSpPr>
        <p:spPr>
          <a:xfrm>
            <a:off x="5767908" y="4561508"/>
            <a:ext cx="196668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Pan-India</a:t>
            </a:r>
            <a:endParaRPr lang="en-US" sz="600" dirty="0"/>
          </a:p>
        </p:txBody>
      </p:sp>
      <p:sp>
        <p:nvSpPr>
          <p:cNvPr id="46" name="Shape 34"/>
          <p:cNvSpPr/>
          <p:nvPr/>
        </p:nvSpPr>
        <p:spPr>
          <a:xfrm>
            <a:off x="1786979" y="4694337"/>
            <a:ext cx="5569967" cy="165199"/>
          </a:xfrm>
          <a:prstGeom prst="rect">
            <a:avLst/>
          </a:prstGeom>
          <a:solidFill>
            <a:srgbClr val="000000">
              <a:alpha val="4000"/>
            </a:srgbClr>
          </a:solidFill>
          <a:ln/>
        </p:spPr>
      </p:sp>
      <p:sp>
        <p:nvSpPr>
          <p:cNvPr id="47" name="Text 35"/>
          <p:cNvSpPr/>
          <p:nvPr/>
        </p:nvSpPr>
        <p:spPr>
          <a:xfrm>
            <a:off x="1866602" y="4726707"/>
            <a:ext cx="252367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Data Resources</a:t>
            </a:r>
            <a:endParaRPr lang="en-US" sz="600" dirty="0"/>
          </a:p>
        </p:txBody>
      </p:sp>
      <p:sp>
        <p:nvSpPr>
          <p:cNvPr id="48" name="Text 36"/>
          <p:cNvSpPr/>
          <p:nvPr/>
        </p:nvSpPr>
        <p:spPr>
          <a:xfrm>
            <a:off x="4096941" y="4726707"/>
            <a:ext cx="1964308"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Limited</a:t>
            </a:r>
            <a:endParaRPr lang="en-US" sz="600" dirty="0"/>
          </a:p>
        </p:txBody>
      </p:sp>
      <p:sp>
        <p:nvSpPr>
          <p:cNvPr id="49" name="Text 37"/>
          <p:cNvSpPr/>
          <p:nvPr/>
        </p:nvSpPr>
        <p:spPr>
          <a:xfrm>
            <a:off x="5767908" y="4726707"/>
            <a:ext cx="1966689" cy="100459"/>
          </a:xfrm>
          <a:prstGeom prst="rect">
            <a:avLst/>
          </a:prstGeom>
          <a:noFill/>
          <a:ln/>
        </p:spPr>
        <p:txBody>
          <a:bodyPr wrap="none" lIns="0" tIns="0" rIns="0" bIns="0" rtlCol="0" anchor="t"/>
          <a:lstStyle/>
          <a:p>
            <a:pPr algn="l" indent="0" marL="0">
              <a:lnSpc>
                <a:spcPct val="105000"/>
              </a:lnSpc>
              <a:buNone/>
            </a:pPr>
            <a:r>
              <a:rPr lang="en-US" sz="600" dirty="0">
                <a:solidFill>
                  <a:srgbClr val="D7D4CC"/>
                </a:solidFill>
                <a:latin typeface="Raleway Medium" pitchFamily="34" charset="0"/>
                <a:ea typeface="Raleway Medium" pitchFamily="34" charset="-122"/>
                <a:cs typeface="Raleway Medium" pitchFamily="34" charset="-120"/>
              </a:rPr>
              <a:t>Large Scale</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1831" y="348630"/>
            <a:ext cx="6878017" cy="334640"/>
          </a:xfrm>
          <a:prstGeom prst="rect">
            <a:avLst/>
          </a:prstGeom>
          <a:noFill/>
          <a:ln/>
        </p:spPr>
        <p:txBody>
          <a:bodyPr wrap="none" lIns="0" tIns="0" rIns="0" bIns="0" rtlCol="0" anchor="t"/>
          <a:lstStyle/>
          <a:p>
            <a:pPr algn="l" indent="0" marL="0">
              <a:lnSpc>
                <a:spcPct val="104000"/>
              </a:lnSpc>
              <a:buNone/>
            </a:pPr>
            <a:r>
              <a:rPr lang="en-US" sz="2100" b="1" dirty="0">
                <a:solidFill>
                  <a:srgbClr val="FFE14D"/>
                </a:solidFill>
                <a:latin typeface="Comfortaa Bold" pitchFamily="34" charset="0"/>
                <a:ea typeface="Comfortaa Bold" pitchFamily="34" charset="-122"/>
                <a:cs typeface="Comfortaa Bold" pitchFamily="34" charset="-120"/>
              </a:rPr>
              <a:t>Market Opportunities: Where PgBee Can Grow</a:t>
            </a:r>
            <a:endParaRPr lang="en-US" sz="2100" dirty="0"/>
          </a:p>
        </p:txBody>
      </p:sp>
      <p:sp>
        <p:nvSpPr>
          <p:cNvPr id="3" name="Text 1"/>
          <p:cNvSpPr/>
          <p:nvPr/>
        </p:nvSpPr>
        <p:spPr>
          <a:xfrm>
            <a:off x="481831" y="894085"/>
            <a:ext cx="8180338" cy="542032"/>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The student accommodation market in India is large, fragmented, and underserved — creating significant whitespace for a platform with PgBee's hyper-local expertise. The opportunity spans geographic expansion, institutional partnerships, and new revenue verticals that can diversify income beyond transaction-based models.</a:t>
            </a:r>
            <a:endParaRPr lang="en-US" sz="900" dirty="0"/>
          </a:p>
        </p:txBody>
      </p:sp>
      <p:pic>
        <p:nvPicPr>
          <p:cNvPr id="4" name="Image 0" descr="preencoded.png">    </p:cNvPr>
          <p:cNvPicPr>
            <a:picLocks noChangeAspect="1"/>
          </p:cNvPicPr>
          <p:nvPr/>
        </p:nvPicPr>
        <p:blipFill>
          <a:blip r:embed="rId1"/>
          <a:stretch>
            <a:fillRect/>
          </a:stretch>
        </p:blipFill>
        <p:spPr>
          <a:xfrm>
            <a:off x="481831" y="1554659"/>
            <a:ext cx="856357" cy="529233"/>
          </a:xfrm>
          <a:prstGeom prst="rect">
            <a:avLst/>
          </a:prstGeom>
        </p:spPr>
      </p:pic>
      <p:sp>
        <p:nvSpPr>
          <p:cNvPr id="5" name="Text 2"/>
          <p:cNvSpPr/>
          <p:nvPr/>
        </p:nvSpPr>
        <p:spPr>
          <a:xfrm>
            <a:off x="481831" y="2215604"/>
            <a:ext cx="1764581" cy="167283"/>
          </a:xfrm>
          <a:prstGeom prst="rect">
            <a:avLst/>
          </a:prstGeom>
          <a:noFill/>
          <a:ln/>
        </p:spPr>
        <p:txBody>
          <a:bodyPr wrap="none" lIns="0" tIns="0" rIns="0" bIns="0" rtlCol="0" anchor="t"/>
          <a:lstStyle/>
          <a:p>
            <a:pPr algn="l" indent="0" marL="0">
              <a:lnSpc>
                <a:spcPct val="104000"/>
              </a:lnSpc>
              <a:buNone/>
            </a:pPr>
            <a:r>
              <a:rPr lang="en-US" sz="1050" b="1" dirty="0">
                <a:solidFill>
                  <a:srgbClr val="D7D4CC"/>
                </a:solidFill>
                <a:latin typeface="Comfortaa Bold" pitchFamily="34" charset="0"/>
                <a:ea typeface="Comfortaa Bold" pitchFamily="34" charset="-122"/>
                <a:cs typeface="Comfortaa Bold" pitchFamily="34" charset="-120"/>
              </a:rPr>
              <a:t>Kerala District Expansion</a:t>
            </a:r>
            <a:endParaRPr lang="en-US" sz="1050" dirty="0"/>
          </a:p>
        </p:txBody>
      </p:sp>
      <p:sp>
        <p:nvSpPr>
          <p:cNvPr id="6" name="Text 3"/>
          <p:cNvSpPr/>
          <p:nvPr/>
        </p:nvSpPr>
        <p:spPr>
          <a:xfrm>
            <a:off x="481831" y="2446065"/>
            <a:ext cx="1946300" cy="234880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PgBee's immediate expansion opportunity lies within Kerala itself. Targeting </a:t>
            </a:r>
            <a:pPr algn="l" indent="0" marL="0">
              <a:lnSpc>
                <a:spcPct val="125000"/>
              </a:lnSpc>
              <a:buNone/>
            </a:pPr>
            <a:r>
              <a:rPr lang="en-US" sz="900" b="1" dirty="0">
                <a:solidFill>
                  <a:srgbClr val="D7D4CC"/>
                </a:solidFill>
                <a:latin typeface="Raleway Medium" pitchFamily="34" charset="0"/>
                <a:ea typeface="Raleway Medium" pitchFamily="34" charset="-122"/>
                <a:cs typeface="Raleway Medium" pitchFamily="34" charset="-120"/>
              </a:rPr>
              <a:t>Trivandrum, Kochi, Kozhikode, Thrissur, and Kottayam</a:t>
            </a:r>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 — districts with high student populations and dense educational institution clusters — allows PgBee to deepen its home-state dominance before expanding nationally. Each district represents thousands of potential student users and hundreds of hostel owners to onboard.</a:t>
            </a:r>
            <a:endParaRPr lang="en-US" sz="900" dirty="0"/>
          </a:p>
        </p:txBody>
      </p:sp>
      <p:pic>
        <p:nvPicPr>
          <p:cNvPr id="7" name="Image 1" descr="preencoded.png">    </p:cNvPr>
          <p:cNvPicPr>
            <a:picLocks noChangeAspect="1"/>
          </p:cNvPicPr>
          <p:nvPr/>
        </p:nvPicPr>
        <p:blipFill>
          <a:blip r:embed="rId2"/>
          <a:stretch>
            <a:fillRect/>
          </a:stretch>
        </p:blipFill>
        <p:spPr>
          <a:xfrm>
            <a:off x="2559844" y="1554659"/>
            <a:ext cx="856357" cy="529233"/>
          </a:xfrm>
          <a:prstGeom prst="rect">
            <a:avLst/>
          </a:prstGeom>
        </p:spPr>
      </p:pic>
      <p:sp>
        <p:nvSpPr>
          <p:cNvPr id="8" name="Text 4"/>
          <p:cNvSpPr/>
          <p:nvPr/>
        </p:nvSpPr>
        <p:spPr>
          <a:xfrm>
            <a:off x="2559844" y="2215604"/>
            <a:ext cx="1444898" cy="167283"/>
          </a:xfrm>
          <a:prstGeom prst="rect">
            <a:avLst/>
          </a:prstGeom>
          <a:noFill/>
          <a:ln/>
        </p:spPr>
        <p:txBody>
          <a:bodyPr wrap="none" lIns="0" tIns="0" rIns="0" bIns="0" rtlCol="0" anchor="t"/>
          <a:lstStyle/>
          <a:p>
            <a:pPr algn="l" indent="0" marL="0">
              <a:lnSpc>
                <a:spcPct val="104000"/>
              </a:lnSpc>
              <a:buNone/>
            </a:pPr>
            <a:r>
              <a:rPr lang="en-US" sz="1050" b="1" dirty="0">
                <a:solidFill>
                  <a:srgbClr val="D7D4CC"/>
                </a:solidFill>
                <a:latin typeface="Comfortaa Bold" pitchFamily="34" charset="0"/>
                <a:ea typeface="Comfortaa Bold" pitchFamily="34" charset="-122"/>
                <a:cs typeface="Comfortaa Bold" pitchFamily="34" charset="-120"/>
              </a:rPr>
              <a:t>Pan-India Expansion</a:t>
            </a:r>
            <a:endParaRPr lang="en-US" sz="1050" dirty="0"/>
          </a:p>
        </p:txBody>
      </p:sp>
      <p:sp>
        <p:nvSpPr>
          <p:cNvPr id="9" name="Text 5"/>
          <p:cNvSpPr/>
          <p:nvPr/>
        </p:nvSpPr>
        <p:spPr>
          <a:xfrm>
            <a:off x="2559844" y="2446065"/>
            <a:ext cx="1946300" cy="2168128"/>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After consolidating Kerala, PgBee can expand into </a:t>
            </a:r>
            <a:pPr algn="l" indent="0" marL="0">
              <a:lnSpc>
                <a:spcPct val="125000"/>
              </a:lnSpc>
              <a:buNone/>
            </a:pPr>
            <a:r>
              <a:rPr lang="en-US" sz="900" b="1" dirty="0">
                <a:solidFill>
                  <a:srgbClr val="D7D4CC"/>
                </a:solidFill>
                <a:latin typeface="Raleway Medium" pitchFamily="34" charset="0"/>
                <a:ea typeface="Raleway Medium" pitchFamily="34" charset="-122"/>
                <a:cs typeface="Raleway Medium" pitchFamily="34" charset="-120"/>
              </a:rPr>
              <a:t>Karnataka, Tamil Nadu, Telangana, and Maharashtra</a:t>
            </a:r>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 — states with the highest concentration of technical colleges, universities, and student migration. The playbook developed in Kerala — local verification, owner onboarding, referral growth — can be replicated with local market adaptations in each new state.</a:t>
            </a:r>
            <a:endParaRPr lang="en-US" sz="900" dirty="0"/>
          </a:p>
        </p:txBody>
      </p:sp>
      <p:pic>
        <p:nvPicPr>
          <p:cNvPr id="10" name="Image 2" descr="preencoded.png">    </p:cNvPr>
          <p:cNvPicPr>
            <a:picLocks noChangeAspect="1"/>
          </p:cNvPicPr>
          <p:nvPr/>
        </p:nvPicPr>
        <p:blipFill>
          <a:blip r:embed="rId3"/>
          <a:stretch>
            <a:fillRect/>
          </a:stretch>
        </p:blipFill>
        <p:spPr>
          <a:xfrm>
            <a:off x="4637856" y="1554659"/>
            <a:ext cx="856357" cy="529233"/>
          </a:xfrm>
          <a:prstGeom prst="rect">
            <a:avLst/>
          </a:prstGeom>
        </p:spPr>
      </p:pic>
      <p:sp>
        <p:nvSpPr>
          <p:cNvPr id="11" name="Text 6"/>
          <p:cNvSpPr/>
          <p:nvPr/>
        </p:nvSpPr>
        <p:spPr>
          <a:xfrm>
            <a:off x="4637856" y="2215604"/>
            <a:ext cx="1458441" cy="167283"/>
          </a:xfrm>
          <a:prstGeom prst="rect">
            <a:avLst/>
          </a:prstGeom>
          <a:noFill/>
          <a:ln/>
        </p:spPr>
        <p:txBody>
          <a:bodyPr wrap="none" lIns="0" tIns="0" rIns="0" bIns="0" rtlCol="0" anchor="t"/>
          <a:lstStyle/>
          <a:p>
            <a:pPr algn="l" indent="0" marL="0">
              <a:lnSpc>
                <a:spcPct val="104000"/>
              </a:lnSpc>
              <a:buNone/>
            </a:pPr>
            <a:r>
              <a:rPr lang="en-US" sz="1050" b="1" dirty="0">
                <a:solidFill>
                  <a:srgbClr val="D7D4CC"/>
                </a:solidFill>
                <a:latin typeface="Comfortaa Bold" pitchFamily="34" charset="0"/>
                <a:ea typeface="Comfortaa Bold" pitchFamily="34" charset="-122"/>
                <a:cs typeface="Comfortaa Bold" pitchFamily="34" charset="-120"/>
              </a:rPr>
              <a:t>College Partnerships</a:t>
            </a:r>
            <a:endParaRPr lang="en-US" sz="1050" dirty="0"/>
          </a:p>
        </p:txBody>
      </p:sp>
      <p:sp>
        <p:nvSpPr>
          <p:cNvPr id="12" name="Text 7"/>
          <p:cNvSpPr/>
          <p:nvPr/>
        </p:nvSpPr>
        <p:spPr>
          <a:xfrm>
            <a:off x="4637856" y="2446065"/>
            <a:ext cx="1946300" cy="2348805"/>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Becoming the </a:t>
            </a:r>
            <a:pPr algn="l" indent="0" marL="0">
              <a:lnSpc>
                <a:spcPct val="125000"/>
              </a:lnSpc>
              <a:buNone/>
            </a:pPr>
            <a:r>
              <a:rPr lang="en-US" sz="900" b="1" dirty="0">
                <a:solidFill>
                  <a:srgbClr val="D7D4CC"/>
                </a:solidFill>
                <a:latin typeface="Raleway Medium" pitchFamily="34" charset="0"/>
                <a:ea typeface="Raleway Medium" pitchFamily="34" charset="-122"/>
                <a:cs typeface="Raleway Medium" pitchFamily="34" charset="-120"/>
              </a:rPr>
              <a:t>official accommodation partner</a:t>
            </a:r>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 for colleges and universities creates a powerful institutional channel for student onboarding. Colleges benefit from a verified, managed accommodation solution for their students, while PgBee gains access to entire student cohorts at zero marginal acquisition cost. Student onboarding campaigns during orientation week are a particularly high-impact tactic.</a:t>
            </a:r>
            <a:endParaRPr lang="en-US" sz="900" dirty="0"/>
          </a:p>
        </p:txBody>
      </p:sp>
      <p:pic>
        <p:nvPicPr>
          <p:cNvPr id="13" name="Image 3" descr="preencoded.png">    </p:cNvPr>
          <p:cNvPicPr>
            <a:picLocks noChangeAspect="1"/>
          </p:cNvPicPr>
          <p:nvPr/>
        </p:nvPicPr>
        <p:blipFill>
          <a:blip r:embed="rId4"/>
          <a:stretch>
            <a:fillRect/>
          </a:stretch>
        </p:blipFill>
        <p:spPr>
          <a:xfrm>
            <a:off x="6715869" y="1554659"/>
            <a:ext cx="856357" cy="529233"/>
          </a:xfrm>
          <a:prstGeom prst="rect">
            <a:avLst/>
          </a:prstGeom>
        </p:spPr>
      </p:pic>
      <p:sp>
        <p:nvSpPr>
          <p:cNvPr id="14" name="Text 8"/>
          <p:cNvSpPr/>
          <p:nvPr/>
        </p:nvSpPr>
        <p:spPr>
          <a:xfrm>
            <a:off x="6715869" y="2215604"/>
            <a:ext cx="1552649" cy="167283"/>
          </a:xfrm>
          <a:prstGeom prst="rect">
            <a:avLst/>
          </a:prstGeom>
          <a:noFill/>
          <a:ln/>
        </p:spPr>
        <p:txBody>
          <a:bodyPr wrap="none" lIns="0" tIns="0" rIns="0" bIns="0" rtlCol="0" anchor="t"/>
          <a:lstStyle/>
          <a:p>
            <a:pPr algn="l" indent="0" marL="0">
              <a:lnSpc>
                <a:spcPct val="104000"/>
              </a:lnSpc>
              <a:buNone/>
            </a:pPr>
            <a:r>
              <a:rPr lang="en-US" sz="1050" b="1" dirty="0">
                <a:solidFill>
                  <a:srgbClr val="D7D4CC"/>
                </a:solidFill>
                <a:latin typeface="Comfortaa Bold" pitchFamily="34" charset="0"/>
                <a:ea typeface="Comfortaa Bold" pitchFamily="34" charset="-122"/>
                <a:cs typeface="Comfortaa Bold" pitchFamily="34" charset="-120"/>
              </a:rPr>
              <a:t>Digital Rent Collection</a:t>
            </a:r>
            <a:endParaRPr lang="en-US" sz="1050" dirty="0"/>
          </a:p>
        </p:txBody>
      </p:sp>
      <p:sp>
        <p:nvSpPr>
          <p:cNvPr id="15" name="Text 9"/>
          <p:cNvSpPr/>
          <p:nvPr/>
        </p:nvSpPr>
        <p:spPr>
          <a:xfrm>
            <a:off x="6715869" y="2446065"/>
            <a:ext cx="1946300" cy="2168128"/>
          </a:xfrm>
          <a:prstGeom prst="rect">
            <a:avLst/>
          </a:prstGeom>
          <a:noFill/>
          <a:ln/>
        </p:spPr>
        <p:txBody>
          <a:bodyPr wrap="square" lIns="0" tIns="0" rIns="0" bIns="0" rtlCol="0" anchor="t">
            <a:normAutofit/>
          </a:bodyPr>
          <a:lstStyle/>
          <a:p>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Introducing </a:t>
            </a:r>
            <a:pPr algn="l" indent="0" marL="0">
              <a:lnSpc>
                <a:spcPct val="125000"/>
              </a:lnSpc>
              <a:buNone/>
            </a:pPr>
            <a:r>
              <a:rPr lang="en-US" sz="900" b="1" dirty="0">
                <a:solidFill>
                  <a:srgbClr val="D7D4CC"/>
                </a:solidFill>
                <a:latin typeface="Raleway Medium" pitchFamily="34" charset="0"/>
                <a:ea typeface="Raleway Medium" pitchFamily="34" charset="-122"/>
                <a:cs typeface="Raleway Medium" pitchFamily="34" charset="-120"/>
              </a:rPr>
              <a:t>monthly payment processing</a:t>
            </a:r>
            <a:pPr algn="l" indent="0" marL="0">
              <a:lnSpc>
                <a:spcPct val="125000"/>
              </a:lnSpc>
              <a:buNone/>
            </a:pPr>
            <a:r>
              <a:rPr lang="en-US" sz="900" dirty="0">
                <a:solidFill>
                  <a:srgbClr val="D7D4CC"/>
                </a:solidFill>
                <a:latin typeface="Raleway Medium" pitchFamily="34" charset="0"/>
                <a:ea typeface="Raleway Medium" pitchFamily="34" charset="-122"/>
                <a:cs typeface="Raleway Medium" pitchFamily="34" charset="-120"/>
              </a:rPr>
              <a:t> through the PgBee platform creates a new revenue stream via payment commissions while increasing platform stickiness for both students and owners. Students benefit from structured payment plans, and owners benefit from automated collection — a win-win that deepens platform dependency and generates recurring revenue.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77491" y="310902"/>
            <a:ext cx="6374085" cy="292819"/>
          </a:xfrm>
          <a:prstGeom prst="rect">
            <a:avLst/>
          </a:prstGeom>
          <a:noFill/>
          <a:ln/>
        </p:spPr>
        <p:txBody>
          <a:bodyPr wrap="none" lIns="0" tIns="0" rIns="0" bIns="0" rtlCol="0" anchor="t"/>
          <a:lstStyle/>
          <a:p>
            <a:pPr algn="l" indent="0" marL="0">
              <a:lnSpc>
                <a:spcPct val="104000"/>
              </a:lnSpc>
              <a:buNone/>
            </a:pPr>
            <a:r>
              <a:rPr lang="en-US" sz="1800" b="1" dirty="0">
                <a:solidFill>
                  <a:srgbClr val="FFE14D"/>
                </a:solidFill>
                <a:latin typeface="Comfortaa Bold" pitchFamily="34" charset="0"/>
                <a:ea typeface="Comfortaa Bold" pitchFamily="34" charset="-122"/>
                <a:cs typeface="Comfortaa Bold" pitchFamily="34" charset="-120"/>
              </a:rPr>
              <a:t>New Revenue Opportunities: Diversifying Income</a:t>
            </a:r>
            <a:endParaRPr lang="en-US" sz="1800" dirty="0"/>
          </a:p>
        </p:txBody>
      </p:sp>
      <p:sp>
        <p:nvSpPr>
          <p:cNvPr id="3" name="Text 1"/>
          <p:cNvSpPr/>
          <p:nvPr/>
        </p:nvSpPr>
        <p:spPr>
          <a:xfrm>
            <a:off x="877491" y="765125"/>
            <a:ext cx="7389019" cy="446708"/>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D7D4CC"/>
                </a:solidFill>
                <a:latin typeface="Raleway Medium" pitchFamily="34" charset="0"/>
                <a:ea typeface="Raleway Medium" pitchFamily="34" charset="-122"/>
                <a:cs typeface="Raleway Medium" pitchFamily="34" charset="-120"/>
              </a:rPr>
              <a:t>Beyond geographic expansion, PgBee has multiple untapped revenue verticals that can transform the business from a transaction-based model into a diversified platform business. These opportunities span owner monetization, student premium features, business partnerships, and data products — each with different margin profiles and implementation timelines.</a:t>
            </a:r>
            <a:endParaRPr lang="en-US" sz="800" dirty="0"/>
          </a:p>
        </p:txBody>
      </p:sp>
      <p:sp>
        <p:nvSpPr>
          <p:cNvPr id="4" name="Shape 2"/>
          <p:cNvSpPr/>
          <p:nvPr/>
        </p:nvSpPr>
        <p:spPr>
          <a:xfrm>
            <a:off x="801588" y="1302618"/>
            <a:ext cx="3717727" cy="3529905"/>
          </a:xfrm>
          <a:prstGeom prst="roundRect">
            <a:avLst>
              <a:gd name="adj" fmla="val 7167"/>
            </a:avLst>
          </a:prstGeom>
          <a:solidFill>
            <a:srgbClr val="FFE14D"/>
          </a:solidFill>
          <a:ln/>
        </p:spPr>
      </p:sp>
      <p:sp>
        <p:nvSpPr>
          <p:cNvPr id="5" name="Text 3"/>
          <p:cNvSpPr/>
          <p:nvPr/>
        </p:nvSpPr>
        <p:spPr>
          <a:xfrm>
            <a:off x="906959" y="1383283"/>
            <a:ext cx="1703710" cy="146372"/>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Comfortaa Bold" pitchFamily="34" charset="0"/>
                <a:ea typeface="Comfortaa Bold" pitchFamily="34" charset="-122"/>
                <a:cs typeface="Comfortaa Bold" pitchFamily="34" charset="-120"/>
              </a:rPr>
              <a:t>Owner Monetization</a:t>
            </a:r>
            <a:endParaRPr lang="en-US" sz="9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6472" y="1623678"/>
            <a:ext cx="158055" cy="158055"/>
          </a:xfrm>
          <a:prstGeom prst="rect">
            <a:avLst/>
          </a:prstGeom>
        </p:spPr>
      </p:pic>
      <p:sp>
        <p:nvSpPr>
          <p:cNvPr id="7" name="Text 4"/>
          <p:cNvSpPr/>
          <p:nvPr/>
        </p:nvSpPr>
        <p:spPr>
          <a:xfrm>
            <a:off x="1249487" y="1620441"/>
            <a:ext cx="1171203" cy="146372"/>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Comfortaa Bold" pitchFamily="34" charset="0"/>
                <a:ea typeface="Comfortaa Bold" pitchFamily="34" charset="-122"/>
                <a:cs typeface="Comfortaa Bold" pitchFamily="34" charset="-120"/>
              </a:rPr>
              <a:t>Subscription Plans</a:t>
            </a:r>
            <a:endParaRPr lang="en-US" sz="900" dirty="0"/>
          </a:p>
        </p:txBody>
      </p:sp>
      <p:sp>
        <p:nvSpPr>
          <p:cNvPr id="8" name="Text 5"/>
          <p:cNvSpPr/>
          <p:nvPr/>
        </p:nvSpPr>
        <p:spPr>
          <a:xfrm>
            <a:off x="1249487" y="1847478"/>
            <a:ext cx="1360512" cy="893415"/>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000000"/>
                </a:solidFill>
                <a:latin typeface="Raleway Medium" pitchFamily="34" charset="0"/>
                <a:ea typeface="Raleway Medium" pitchFamily="34" charset="-122"/>
                <a:cs typeface="Raleway Medium" pitchFamily="34" charset="-120"/>
              </a:rPr>
              <a:t>Monthly or annual plans giving owners enhanced visibility, analytics, and priority support — creating predictable recurring revenue.</a:t>
            </a:r>
            <a:endParaRPr lang="en-US" sz="8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50344" y="1623678"/>
            <a:ext cx="158055" cy="158055"/>
          </a:xfrm>
          <a:prstGeom prst="rect">
            <a:avLst/>
          </a:prstGeom>
        </p:spPr>
      </p:pic>
      <p:sp>
        <p:nvSpPr>
          <p:cNvPr id="10" name="Text 6"/>
          <p:cNvSpPr/>
          <p:nvPr/>
        </p:nvSpPr>
        <p:spPr>
          <a:xfrm>
            <a:off x="3053358" y="1620441"/>
            <a:ext cx="1171203" cy="146372"/>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Comfortaa Bold" pitchFamily="34" charset="0"/>
                <a:ea typeface="Comfortaa Bold" pitchFamily="34" charset="-122"/>
                <a:cs typeface="Comfortaa Bold" pitchFamily="34" charset="-120"/>
              </a:rPr>
              <a:t>Featured Listings</a:t>
            </a:r>
            <a:endParaRPr lang="en-US" sz="900" dirty="0"/>
          </a:p>
        </p:txBody>
      </p:sp>
      <p:sp>
        <p:nvSpPr>
          <p:cNvPr id="11" name="Text 7"/>
          <p:cNvSpPr/>
          <p:nvPr/>
        </p:nvSpPr>
        <p:spPr>
          <a:xfrm>
            <a:off x="3053358" y="1847478"/>
            <a:ext cx="1360587" cy="744513"/>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000000"/>
                </a:solidFill>
                <a:latin typeface="Raleway Medium" pitchFamily="34" charset="0"/>
                <a:ea typeface="Raleway Medium" pitchFamily="34" charset="-122"/>
                <a:cs typeface="Raleway Medium" pitchFamily="34" charset="-120"/>
              </a:rPr>
              <a:t>Pay-to-promote listings that appear at the top of search results, driving higher occupancy for owners willing to invest.</a:t>
            </a:r>
            <a:endParaRPr lang="en-US" sz="8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6472" y="2905534"/>
            <a:ext cx="158055" cy="158055"/>
          </a:xfrm>
          <a:prstGeom prst="rect">
            <a:avLst/>
          </a:prstGeom>
        </p:spPr>
      </p:pic>
      <p:sp>
        <p:nvSpPr>
          <p:cNvPr id="13" name="Text 8"/>
          <p:cNvSpPr/>
          <p:nvPr/>
        </p:nvSpPr>
        <p:spPr>
          <a:xfrm>
            <a:off x="1249487" y="2902297"/>
            <a:ext cx="1171203" cy="146372"/>
          </a:xfrm>
          <a:prstGeom prst="rect">
            <a:avLst/>
          </a:prstGeom>
          <a:noFill/>
          <a:ln/>
        </p:spPr>
        <p:txBody>
          <a:bodyPr wrap="none" lIns="0" tIns="0" rIns="0" bIns="0" rtlCol="0" anchor="t"/>
          <a:lstStyle/>
          <a:p>
            <a:pPr algn="l" indent="0" marL="0">
              <a:lnSpc>
                <a:spcPct val="104000"/>
              </a:lnSpc>
              <a:buNone/>
            </a:pPr>
            <a:r>
              <a:rPr lang="en-US" sz="900" b="1" dirty="0">
                <a:solidFill>
                  <a:srgbClr val="000000"/>
                </a:solidFill>
                <a:latin typeface="Comfortaa Bold" pitchFamily="34" charset="0"/>
                <a:ea typeface="Comfortaa Bold" pitchFamily="34" charset="-122"/>
                <a:cs typeface="Comfortaa Bold" pitchFamily="34" charset="-120"/>
              </a:rPr>
              <a:t>Verified Badges</a:t>
            </a:r>
            <a:endParaRPr lang="en-US" sz="900" dirty="0"/>
          </a:p>
        </p:txBody>
      </p:sp>
      <p:sp>
        <p:nvSpPr>
          <p:cNvPr id="14" name="Text 9"/>
          <p:cNvSpPr/>
          <p:nvPr/>
        </p:nvSpPr>
        <p:spPr>
          <a:xfrm>
            <a:off x="1249487" y="3129335"/>
            <a:ext cx="3164458" cy="297805"/>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000000"/>
                </a:solidFill>
                <a:latin typeface="Raleway Medium" pitchFamily="34" charset="0"/>
                <a:ea typeface="Raleway Medium" pitchFamily="34" charset="-122"/>
                <a:cs typeface="Raleway Medium" pitchFamily="34" charset="-120"/>
              </a:rPr>
              <a:t>Premium verification tiers that signal quality to students, allowing owners to command higher rents and fill faster.</a:t>
            </a:r>
            <a:endParaRPr lang="en-US" sz="800" dirty="0"/>
          </a:p>
        </p:txBody>
      </p:sp>
      <p:sp>
        <p:nvSpPr>
          <p:cNvPr id="15" name="Text 10"/>
          <p:cNvSpPr/>
          <p:nvPr/>
        </p:nvSpPr>
        <p:spPr>
          <a:xfrm>
            <a:off x="4705350" y="1383283"/>
            <a:ext cx="1790328" cy="146372"/>
          </a:xfrm>
          <a:prstGeom prst="rect">
            <a:avLst/>
          </a:prstGeom>
          <a:noFill/>
          <a:ln/>
        </p:spPr>
        <p:txBody>
          <a:bodyPr wrap="none" lIns="0" tIns="0" rIns="0" bIns="0" rtlCol="0" anchor="t"/>
          <a:lstStyle/>
          <a:p>
            <a:pPr algn="l" indent="0" marL="0">
              <a:lnSpc>
                <a:spcPct val="104000"/>
              </a:lnSpc>
              <a:buNone/>
            </a:pPr>
            <a:r>
              <a:rPr lang="en-US" sz="900" b="1" dirty="0">
                <a:solidFill>
                  <a:srgbClr val="FFE14D"/>
                </a:solidFill>
                <a:latin typeface="Comfortaa Bold" pitchFamily="34" charset="0"/>
                <a:ea typeface="Comfortaa Bold" pitchFamily="34" charset="-122"/>
                <a:cs typeface="Comfortaa Bold" pitchFamily="34" charset="-120"/>
              </a:rPr>
              <a:t>Student Monetization</a:t>
            </a:r>
            <a:endParaRPr lang="en-US" sz="9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44864" y="1623678"/>
            <a:ext cx="158055" cy="158055"/>
          </a:xfrm>
          <a:prstGeom prst="rect">
            <a:avLst/>
          </a:prstGeom>
        </p:spPr>
      </p:pic>
      <p:sp>
        <p:nvSpPr>
          <p:cNvPr id="17" name="Text 11"/>
          <p:cNvSpPr/>
          <p:nvPr/>
        </p:nvSpPr>
        <p:spPr>
          <a:xfrm>
            <a:off x="5047878" y="1620441"/>
            <a:ext cx="1337370" cy="146372"/>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Premium Membership</a:t>
            </a:r>
            <a:endParaRPr lang="en-US" sz="900" dirty="0"/>
          </a:p>
        </p:txBody>
      </p:sp>
      <p:sp>
        <p:nvSpPr>
          <p:cNvPr id="18" name="Text 12"/>
          <p:cNvSpPr/>
          <p:nvPr/>
        </p:nvSpPr>
        <p:spPr>
          <a:xfrm>
            <a:off x="5047878" y="1847478"/>
            <a:ext cx="1389980" cy="595610"/>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D7D4CC"/>
                </a:solidFill>
                <a:latin typeface="Raleway Medium" pitchFamily="34" charset="0"/>
                <a:ea typeface="Raleway Medium" pitchFamily="34" charset="-122"/>
                <a:cs typeface="Raleway Medium" pitchFamily="34" charset="-120"/>
              </a:rPr>
              <a:t>Ad-free experience, early access to new listings, and exclusive discounts for paying student subscribers.</a:t>
            </a:r>
            <a:endParaRPr lang="en-US" sz="8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78203" y="1623678"/>
            <a:ext cx="158055" cy="158055"/>
          </a:xfrm>
          <a:prstGeom prst="rect">
            <a:avLst/>
          </a:prstGeom>
        </p:spPr>
      </p:pic>
      <p:sp>
        <p:nvSpPr>
          <p:cNvPr id="20" name="Text 13"/>
          <p:cNvSpPr/>
          <p:nvPr/>
        </p:nvSpPr>
        <p:spPr>
          <a:xfrm>
            <a:off x="6881217" y="1620441"/>
            <a:ext cx="1171203" cy="146372"/>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Priority Booking</a:t>
            </a:r>
            <a:endParaRPr lang="en-US" sz="900" dirty="0"/>
          </a:p>
        </p:txBody>
      </p:sp>
      <p:sp>
        <p:nvSpPr>
          <p:cNvPr id="21" name="Text 14"/>
          <p:cNvSpPr/>
          <p:nvPr/>
        </p:nvSpPr>
        <p:spPr>
          <a:xfrm>
            <a:off x="6881217" y="1847478"/>
            <a:ext cx="1390055" cy="893415"/>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D7D4CC"/>
                </a:solidFill>
                <a:latin typeface="Raleway Medium" pitchFamily="34" charset="0"/>
                <a:ea typeface="Raleway Medium" pitchFamily="34" charset="-122"/>
                <a:cs typeface="Raleway Medium" pitchFamily="34" charset="-120"/>
              </a:rPr>
              <a:t>Guaranteed booking windows for high-demand properties, reducing uncertainty for students during peak admission seasons.</a:t>
            </a:r>
            <a:endParaRPr lang="en-US" sz="800" dirty="0"/>
          </a:p>
        </p:txBody>
      </p:sp>
      <p:sp>
        <p:nvSpPr>
          <p:cNvPr id="22" name="Text 15"/>
          <p:cNvSpPr/>
          <p:nvPr/>
        </p:nvSpPr>
        <p:spPr>
          <a:xfrm>
            <a:off x="4705350" y="2831678"/>
            <a:ext cx="1822103" cy="146372"/>
          </a:xfrm>
          <a:prstGeom prst="rect">
            <a:avLst/>
          </a:prstGeom>
          <a:noFill/>
          <a:ln/>
        </p:spPr>
        <p:txBody>
          <a:bodyPr wrap="none" lIns="0" tIns="0" rIns="0" bIns="0" rtlCol="0" anchor="t"/>
          <a:lstStyle/>
          <a:p>
            <a:pPr algn="l" indent="0" marL="0">
              <a:lnSpc>
                <a:spcPct val="104000"/>
              </a:lnSpc>
              <a:buNone/>
            </a:pPr>
            <a:r>
              <a:rPr lang="en-US" sz="900" b="1" dirty="0">
                <a:solidFill>
                  <a:srgbClr val="FFE14D"/>
                </a:solidFill>
                <a:latin typeface="Comfortaa Bold" pitchFamily="34" charset="0"/>
                <a:ea typeface="Comfortaa Bold" pitchFamily="34" charset="-122"/>
                <a:cs typeface="Comfortaa Bold" pitchFamily="34" charset="-120"/>
              </a:rPr>
              <a:t>Business Partnerships</a:t>
            </a:r>
            <a:endParaRPr lang="en-US" sz="90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44864" y="3072073"/>
            <a:ext cx="158055" cy="158055"/>
          </a:xfrm>
          <a:prstGeom prst="rect">
            <a:avLst/>
          </a:prstGeom>
        </p:spPr>
      </p:pic>
      <p:sp>
        <p:nvSpPr>
          <p:cNvPr id="24" name="Text 16"/>
          <p:cNvSpPr/>
          <p:nvPr/>
        </p:nvSpPr>
        <p:spPr>
          <a:xfrm>
            <a:off x="5047878" y="3068836"/>
            <a:ext cx="2046015" cy="146372"/>
          </a:xfrm>
          <a:prstGeom prst="rect">
            <a:avLst/>
          </a:prstGeom>
          <a:noFill/>
          <a:ln/>
        </p:spPr>
        <p:txBody>
          <a:bodyPr wrap="none" lIns="0" tIns="0" rIns="0" bIns="0" rtlCol="0" anchor="t"/>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Laundry, Food &amp; Moving Services</a:t>
            </a:r>
            <a:endParaRPr lang="en-US" sz="900" dirty="0"/>
          </a:p>
        </p:txBody>
      </p:sp>
      <p:sp>
        <p:nvSpPr>
          <p:cNvPr id="25" name="Text 17"/>
          <p:cNvSpPr/>
          <p:nvPr/>
        </p:nvSpPr>
        <p:spPr>
          <a:xfrm>
            <a:off x="5047878" y="3295873"/>
            <a:ext cx="3223394" cy="297805"/>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D7D4CC"/>
                </a:solidFill>
                <a:latin typeface="Raleway Medium" pitchFamily="34" charset="0"/>
                <a:ea typeface="Raleway Medium" pitchFamily="34" charset="-122"/>
                <a:cs typeface="Raleway Medium" pitchFamily="34" charset="-120"/>
              </a:rPr>
              <a:t>Commission-based partnerships with local service providers seeking access to PgBee's student user base.</a:t>
            </a:r>
            <a:endParaRPr lang="en-US" sz="800" dirty="0"/>
          </a:p>
        </p:txBody>
      </p:sp>
      <p:sp>
        <p:nvSpPr>
          <p:cNvPr id="26" name="Text 18"/>
          <p:cNvSpPr/>
          <p:nvPr/>
        </p:nvSpPr>
        <p:spPr>
          <a:xfrm>
            <a:off x="4705350" y="3684463"/>
            <a:ext cx="1628403" cy="146372"/>
          </a:xfrm>
          <a:prstGeom prst="rect">
            <a:avLst/>
          </a:prstGeom>
          <a:noFill/>
          <a:ln/>
        </p:spPr>
        <p:txBody>
          <a:bodyPr wrap="none" lIns="0" tIns="0" rIns="0" bIns="0" rtlCol="0" anchor="t"/>
          <a:lstStyle/>
          <a:p>
            <a:pPr algn="l" indent="0" marL="0">
              <a:lnSpc>
                <a:spcPct val="104000"/>
              </a:lnSpc>
              <a:buNone/>
            </a:pPr>
            <a:r>
              <a:rPr lang="en-US" sz="900" b="1" dirty="0">
                <a:solidFill>
                  <a:srgbClr val="FFE14D"/>
                </a:solidFill>
                <a:latin typeface="Comfortaa Bold" pitchFamily="34" charset="0"/>
                <a:ea typeface="Comfortaa Bold" pitchFamily="34" charset="-122"/>
                <a:cs typeface="Comfortaa Bold" pitchFamily="34" charset="-120"/>
              </a:rPr>
              <a:t>Data Products</a:t>
            </a:r>
            <a:endParaRPr lang="en-US" sz="900" dirty="0"/>
          </a:p>
        </p:txBody>
      </p:sp>
      <p:pic>
        <p:nvPicPr>
          <p:cNvPr id="2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44864" y="3924858"/>
            <a:ext cx="158055" cy="158055"/>
          </a:xfrm>
          <a:prstGeom prst="rect">
            <a:avLst/>
          </a:prstGeom>
        </p:spPr>
      </p:pic>
      <p:sp>
        <p:nvSpPr>
          <p:cNvPr id="28" name="Text 19"/>
          <p:cNvSpPr/>
          <p:nvPr/>
        </p:nvSpPr>
        <p:spPr>
          <a:xfrm>
            <a:off x="5047878" y="3921621"/>
            <a:ext cx="3223394" cy="29274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D7D4CC"/>
                </a:solidFill>
                <a:latin typeface="Comfortaa Bold" pitchFamily="34" charset="0"/>
                <a:ea typeface="Comfortaa Bold" pitchFamily="34" charset="-122"/>
                <a:cs typeface="Comfortaa Bold" pitchFamily="34" charset="-120"/>
              </a:rPr>
              <a:t>Demand Reports, Occupancy Analytics &amp; Pricing Insights</a:t>
            </a:r>
            <a:endParaRPr lang="en-US" sz="900" dirty="0"/>
          </a:p>
        </p:txBody>
      </p:sp>
      <p:sp>
        <p:nvSpPr>
          <p:cNvPr id="29" name="Text 20"/>
          <p:cNvSpPr/>
          <p:nvPr/>
        </p:nvSpPr>
        <p:spPr>
          <a:xfrm>
            <a:off x="5047878" y="4295031"/>
            <a:ext cx="3223394" cy="446708"/>
          </a:xfrm>
          <a:prstGeom prst="rect">
            <a:avLst/>
          </a:prstGeom>
          <a:noFill/>
          <a:ln/>
        </p:spPr>
        <p:txBody>
          <a:bodyPr wrap="square" lIns="0" tIns="0" rIns="0" bIns="0" rtlCol="0" anchor="t">
            <a:normAutofit/>
          </a:bodyPr>
          <a:lstStyle/>
          <a:p>
            <a:pPr algn="l" indent="0" marL="0">
              <a:lnSpc>
                <a:spcPct val="118000"/>
              </a:lnSpc>
              <a:buNone/>
            </a:pPr>
            <a:r>
              <a:rPr lang="en-US" sz="800" dirty="0">
                <a:solidFill>
                  <a:srgbClr val="D7D4CC"/>
                </a:solidFill>
                <a:latin typeface="Raleway Medium" pitchFamily="34" charset="0"/>
                <a:ea typeface="Raleway Medium" pitchFamily="34" charset="-122"/>
                <a:cs typeface="Raleway Medium" pitchFamily="34" charset="-120"/>
              </a:rPr>
              <a:t>Sell aggregated, anonymized market intelligence to hostel owners, investors, and educational institutions — a high-margin, scalable revenue stream.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480691" y="242515"/>
            <a:ext cx="4103489" cy="244971"/>
          </a:xfrm>
          <a:prstGeom prst="rect">
            <a:avLst/>
          </a:prstGeom>
          <a:noFill/>
          <a:ln/>
        </p:spPr>
        <p:txBody>
          <a:bodyPr wrap="none" lIns="0" tIns="0" rIns="0" bIns="0" rtlCol="0" anchor="t"/>
          <a:lstStyle/>
          <a:p>
            <a:pPr algn="l" indent="0" marL="0">
              <a:lnSpc>
                <a:spcPct val="104000"/>
              </a:lnSpc>
              <a:buNone/>
            </a:pPr>
            <a:r>
              <a:rPr lang="en-US" sz="1500" b="1" dirty="0">
                <a:solidFill>
                  <a:srgbClr val="FFE14D"/>
                </a:solidFill>
                <a:latin typeface="Comfortaa Bold" pitchFamily="34" charset="0"/>
                <a:ea typeface="Comfortaa Bold" pitchFamily="34" charset="-122"/>
                <a:cs typeface="Comfortaa Bold" pitchFamily="34" charset="-120"/>
              </a:rPr>
              <a:t>Threats: Competitive &amp; Market Risks</a:t>
            </a:r>
            <a:endParaRPr lang="en-US" sz="1500" dirty="0"/>
          </a:p>
        </p:txBody>
      </p:sp>
      <p:sp>
        <p:nvSpPr>
          <p:cNvPr id="3" name="Text 1"/>
          <p:cNvSpPr/>
          <p:nvPr/>
        </p:nvSpPr>
        <p:spPr>
          <a:xfrm>
            <a:off x="1480691" y="600447"/>
            <a:ext cx="6182618" cy="231428"/>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PgBee operates in an increasingly competitive landscape with well-funded national players, free alternatives, and emerging local competitors. Understanding these threats is essential for building defensive strategies and maintaining market position as the platform scales.</a:t>
            </a:r>
            <a:endParaRPr lang="en-US" sz="650" dirty="0"/>
          </a:p>
        </p:txBody>
      </p:sp>
      <p:sp>
        <p:nvSpPr>
          <p:cNvPr id="4" name="Text 2"/>
          <p:cNvSpPr/>
          <p:nvPr/>
        </p:nvSpPr>
        <p:spPr>
          <a:xfrm>
            <a:off x="1480691" y="916632"/>
            <a:ext cx="1488579" cy="122486"/>
          </a:xfrm>
          <a:prstGeom prst="rect">
            <a:avLst/>
          </a:prstGeom>
          <a:noFill/>
          <a:ln/>
        </p:spPr>
        <p:txBody>
          <a:bodyPr wrap="none" lIns="0" tIns="0" rIns="0" bIns="0" rtlCol="0" anchor="t"/>
          <a:lstStyle/>
          <a:p>
            <a:pPr algn="l" indent="0" marL="0">
              <a:lnSpc>
                <a:spcPct val="104000"/>
              </a:lnSpc>
              <a:buNone/>
            </a:pPr>
            <a:r>
              <a:rPr lang="en-US" sz="750" b="1" dirty="0">
                <a:solidFill>
                  <a:srgbClr val="FFE14D"/>
                </a:solidFill>
                <a:latin typeface="Comfortaa Bold" pitchFamily="34" charset="0"/>
                <a:ea typeface="Comfortaa Bold" pitchFamily="34" charset="-122"/>
                <a:cs typeface="Comfortaa Bold" pitchFamily="34" charset="-120"/>
              </a:rPr>
              <a:t>Competitive Threats</a:t>
            </a:r>
            <a:endParaRPr lang="en-US" sz="7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71166" y="1123876"/>
            <a:ext cx="3072557" cy="698897"/>
          </a:xfrm>
          <a:prstGeom prst="rect">
            <a:avLst/>
          </a:prstGeom>
        </p:spPr>
      </p:pic>
      <p:sp>
        <p:nvSpPr>
          <p:cNvPr id="6" name="Text 3"/>
          <p:cNvSpPr/>
          <p:nvPr/>
        </p:nvSpPr>
        <p:spPr>
          <a:xfrm>
            <a:off x="1606972" y="1221581"/>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Amber</a:t>
            </a:r>
            <a:endParaRPr lang="en-US" sz="750" dirty="0"/>
          </a:p>
        </p:txBody>
      </p:sp>
      <p:sp>
        <p:nvSpPr>
          <p:cNvPr id="7" name="Text 4"/>
          <p:cNvSpPr/>
          <p:nvPr/>
        </p:nvSpPr>
        <p:spPr>
          <a:xfrm>
            <a:off x="1606972" y="1377925"/>
            <a:ext cx="2839045"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Global brand with large international inventory and significant marketing resources. Amber's scale allows it to subsidize operations and undercut on price in new markets.</a:t>
            </a:r>
            <a:endParaRPr lang="en-US" sz="6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0678" y="1123876"/>
            <a:ext cx="3072631" cy="698897"/>
          </a:xfrm>
          <a:prstGeom prst="rect">
            <a:avLst/>
          </a:prstGeom>
        </p:spPr>
      </p:pic>
      <p:sp>
        <p:nvSpPr>
          <p:cNvPr id="9" name="Text 5"/>
          <p:cNvSpPr/>
          <p:nvPr/>
        </p:nvSpPr>
        <p:spPr>
          <a:xfrm>
            <a:off x="4726484" y="1221581"/>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Stanza Living</a:t>
            </a:r>
            <a:endParaRPr lang="en-US" sz="750" dirty="0"/>
          </a:p>
        </p:txBody>
      </p:sp>
      <p:sp>
        <p:nvSpPr>
          <p:cNvPr id="10" name="Text 6"/>
          <p:cNvSpPr/>
          <p:nvPr/>
        </p:nvSpPr>
        <p:spPr>
          <a:xfrm>
            <a:off x="4726484" y="1377925"/>
            <a:ext cx="2839120"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Strong student housing brand with a managed housing model that offers end-to-end services. Stanza's owned-and-operated approach creates a premium alternative to PgBee's marketplace model.</a:t>
            </a:r>
            <a:endParaRPr lang="en-US" sz="6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71166" y="1879253"/>
            <a:ext cx="3072557" cy="814611"/>
          </a:xfrm>
          <a:prstGeom prst="rect">
            <a:avLst/>
          </a:prstGeom>
        </p:spPr>
      </p:pic>
      <p:sp>
        <p:nvSpPr>
          <p:cNvPr id="12" name="Text 7"/>
          <p:cNvSpPr/>
          <p:nvPr/>
        </p:nvSpPr>
        <p:spPr>
          <a:xfrm>
            <a:off x="1606972" y="1976958"/>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NoBroker</a:t>
            </a:r>
            <a:endParaRPr lang="en-US" sz="750" dirty="0"/>
          </a:p>
        </p:txBody>
      </p:sp>
      <p:sp>
        <p:nvSpPr>
          <p:cNvPr id="13" name="Text 8"/>
          <p:cNvSpPr/>
          <p:nvPr/>
        </p:nvSpPr>
        <p:spPr>
          <a:xfrm>
            <a:off x="1606972" y="2133302"/>
            <a:ext cx="2839045"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Large rental ecosystem with significant brand recognition and a broad user base that could extend into student accommodation with minimal product changes.</a:t>
            </a:r>
            <a:endParaRPr lang="en-US" sz="6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90678" y="1879253"/>
            <a:ext cx="3072631" cy="814611"/>
          </a:xfrm>
          <a:prstGeom prst="rect">
            <a:avLst/>
          </a:prstGeom>
        </p:spPr>
      </p:pic>
      <p:sp>
        <p:nvSpPr>
          <p:cNvPr id="15" name="Text 9"/>
          <p:cNvSpPr/>
          <p:nvPr/>
        </p:nvSpPr>
        <p:spPr>
          <a:xfrm>
            <a:off x="4726484" y="1976958"/>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OLX &amp; Airbnb</a:t>
            </a:r>
            <a:endParaRPr lang="en-US" sz="750" dirty="0"/>
          </a:p>
        </p:txBody>
      </p:sp>
      <p:sp>
        <p:nvSpPr>
          <p:cNvPr id="16" name="Text 10"/>
          <p:cNvSpPr/>
          <p:nvPr/>
        </p:nvSpPr>
        <p:spPr>
          <a:xfrm>
            <a:off x="4726484" y="2133302"/>
            <a:ext cx="2839120" cy="462855"/>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OLX offers free property listings with no verification, while Airbnb provides an alternative short-term accommodation option. Both compete for the same student budget, albeit with different value propositions.</a:t>
            </a:r>
            <a:endParaRPr lang="en-US" sz="650" dirty="0"/>
          </a:p>
        </p:txBody>
      </p:sp>
      <p:sp>
        <p:nvSpPr>
          <p:cNvPr id="17" name="Text 11"/>
          <p:cNvSpPr/>
          <p:nvPr/>
        </p:nvSpPr>
        <p:spPr>
          <a:xfrm>
            <a:off x="1480691" y="2778621"/>
            <a:ext cx="1654225" cy="122486"/>
          </a:xfrm>
          <a:prstGeom prst="rect">
            <a:avLst/>
          </a:prstGeom>
          <a:noFill/>
          <a:ln/>
        </p:spPr>
        <p:txBody>
          <a:bodyPr wrap="none" lIns="0" tIns="0" rIns="0" bIns="0" rtlCol="0" anchor="t"/>
          <a:lstStyle/>
          <a:p>
            <a:pPr algn="l" indent="0" marL="0">
              <a:lnSpc>
                <a:spcPct val="104000"/>
              </a:lnSpc>
              <a:buNone/>
            </a:pPr>
            <a:r>
              <a:rPr lang="en-US" sz="750" b="1" dirty="0">
                <a:solidFill>
                  <a:srgbClr val="FFE14D"/>
                </a:solidFill>
                <a:latin typeface="Comfortaa Bold" pitchFamily="34" charset="0"/>
                <a:ea typeface="Comfortaa Bold" pitchFamily="34" charset="-122"/>
                <a:cs typeface="Comfortaa Bold" pitchFamily="34" charset="-120"/>
              </a:rPr>
              <a:t>Industry &amp; Market Risks</a:t>
            </a:r>
            <a:endParaRPr lang="en-US" sz="7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71166" y="2985864"/>
            <a:ext cx="2032695" cy="930325"/>
          </a:xfrm>
          <a:prstGeom prst="rect">
            <a:avLst/>
          </a:prstGeom>
        </p:spPr>
      </p:pic>
      <p:sp>
        <p:nvSpPr>
          <p:cNvPr id="19" name="Text 12"/>
          <p:cNvSpPr/>
          <p:nvPr/>
        </p:nvSpPr>
        <p:spPr>
          <a:xfrm>
            <a:off x="1606972" y="3083570"/>
            <a:ext cx="1223814"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Rising Acquisition Costs</a:t>
            </a:r>
            <a:endParaRPr lang="en-US" sz="750" dirty="0"/>
          </a:p>
        </p:txBody>
      </p:sp>
      <p:sp>
        <p:nvSpPr>
          <p:cNvPr id="20" name="Text 13"/>
          <p:cNvSpPr/>
          <p:nvPr/>
        </p:nvSpPr>
        <p:spPr>
          <a:xfrm>
            <a:off x="1606972" y="3239914"/>
            <a:ext cx="1799183" cy="462855"/>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Digital marketing expenses continue to climb across India, making paid customer acquisition increasingly expensive for early-stage platforms with limited budgets.</a:t>
            </a:r>
            <a:endParaRPr lang="en-US" sz="65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50816" y="2985864"/>
            <a:ext cx="2032769" cy="930325"/>
          </a:xfrm>
          <a:prstGeom prst="rect">
            <a:avLst/>
          </a:prstGeom>
        </p:spPr>
      </p:pic>
      <p:sp>
        <p:nvSpPr>
          <p:cNvPr id="22" name="Text 14"/>
          <p:cNvSpPr/>
          <p:nvPr/>
        </p:nvSpPr>
        <p:spPr>
          <a:xfrm>
            <a:off x="3686621" y="3083570"/>
            <a:ext cx="1052289"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Hostel Owner Churn</a:t>
            </a:r>
            <a:endParaRPr lang="en-US" sz="750" dirty="0"/>
          </a:p>
        </p:txBody>
      </p:sp>
      <p:sp>
        <p:nvSpPr>
          <p:cNvPr id="23" name="Text 15"/>
          <p:cNvSpPr/>
          <p:nvPr/>
        </p:nvSpPr>
        <p:spPr>
          <a:xfrm>
            <a:off x="3686621" y="3239914"/>
            <a:ext cx="1799258" cy="578569"/>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Owners may leave the platform if occupancy targets aren't met, if competitors offer better terms, or if the perceived value of the platform doesn't justify the effort of maintaining a listing.</a:t>
            </a:r>
            <a:endParaRPr lang="en-US" sz="65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630540" y="2985864"/>
            <a:ext cx="2032695" cy="930325"/>
          </a:xfrm>
          <a:prstGeom prst="rect">
            <a:avLst/>
          </a:prstGeom>
        </p:spPr>
      </p:pic>
      <p:sp>
        <p:nvSpPr>
          <p:cNvPr id="25" name="Text 16"/>
          <p:cNvSpPr/>
          <p:nvPr/>
        </p:nvSpPr>
        <p:spPr>
          <a:xfrm>
            <a:off x="5766346" y="3083570"/>
            <a:ext cx="1084957"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Economic Slowdowns</a:t>
            </a:r>
            <a:endParaRPr lang="en-US" sz="750" dirty="0"/>
          </a:p>
        </p:txBody>
      </p:sp>
      <p:sp>
        <p:nvSpPr>
          <p:cNvPr id="26" name="Text 17"/>
          <p:cNvSpPr/>
          <p:nvPr/>
        </p:nvSpPr>
        <p:spPr>
          <a:xfrm>
            <a:off x="5766346" y="3239914"/>
            <a:ext cx="1799183" cy="578569"/>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Reduced student mobility during economic downturns — such as pandemic-like disruptions or recessionary pressures — can significantly impact booking volumes and platform revenue.</a:t>
            </a:r>
            <a:endParaRPr lang="en-US" sz="650" dirty="0"/>
          </a:p>
        </p:txBody>
      </p:sp>
      <p:pic>
        <p:nvPicPr>
          <p:cNvPr id="2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471166" y="3972669"/>
            <a:ext cx="2032695" cy="930325"/>
          </a:xfrm>
          <a:prstGeom prst="rect">
            <a:avLst/>
          </a:prstGeom>
        </p:spPr>
      </p:pic>
      <p:sp>
        <p:nvSpPr>
          <p:cNvPr id="28" name="Text 18"/>
          <p:cNvSpPr/>
          <p:nvPr/>
        </p:nvSpPr>
        <p:spPr>
          <a:xfrm>
            <a:off x="1606972" y="4070375"/>
            <a:ext cx="995735"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New Local Entrants</a:t>
            </a:r>
            <a:endParaRPr lang="en-US" sz="750" dirty="0"/>
          </a:p>
        </p:txBody>
      </p:sp>
      <p:sp>
        <p:nvSpPr>
          <p:cNvPr id="29" name="Text 19"/>
          <p:cNvSpPr/>
          <p:nvPr/>
        </p:nvSpPr>
        <p:spPr>
          <a:xfrm>
            <a:off x="1606972" y="4226719"/>
            <a:ext cx="1799183" cy="578569"/>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Low barriers to entry in the accommodation listing space mean local competitors can emerge quickly in any district, potentially eroding PgBee's hyper-local advantage if not defended proactively.</a:t>
            </a:r>
            <a:endParaRPr lang="en-US" sz="650" dirty="0"/>
          </a:p>
        </p:txBody>
      </p:sp>
      <p:pic>
        <p:nvPicPr>
          <p:cNvPr id="3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550816" y="3972669"/>
            <a:ext cx="2032769" cy="930325"/>
          </a:xfrm>
          <a:prstGeom prst="rect">
            <a:avLst/>
          </a:prstGeom>
        </p:spPr>
      </p:pic>
      <p:sp>
        <p:nvSpPr>
          <p:cNvPr id="31" name="Text 20"/>
          <p:cNvSpPr/>
          <p:nvPr/>
        </p:nvSpPr>
        <p:spPr>
          <a:xfrm>
            <a:off x="3686621" y="4070375"/>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Technology Risks</a:t>
            </a:r>
            <a:endParaRPr lang="en-US" sz="750" dirty="0"/>
          </a:p>
        </p:txBody>
      </p:sp>
      <p:sp>
        <p:nvSpPr>
          <p:cNvPr id="32" name="Text 21"/>
          <p:cNvSpPr/>
          <p:nvPr/>
        </p:nvSpPr>
        <p:spPr>
          <a:xfrm>
            <a:off x="3686621" y="4226719"/>
            <a:ext cx="1799258" cy="578569"/>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Platform outages, data breaches, or security concerns can rapidly erode student and owner trust — particularly damaging for a platform built on a verification and trust foundation.</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80691" y="309265"/>
            <a:ext cx="5070425" cy="244971"/>
          </a:xfrm>
          <a:prstGeom prst="rect">
            <a:avLst/>
          </a:prstGeom>
          <a:noFill/>
          <a:ln/>
        </p:spPr>
        <p:txBody>
          <a:bodyPr wrap="none" lIns="0" tIns="0" rIns="0" bIns="0" rtlCol="0" anchor="t"/>
          <a:lstStyle/>
          <a:p>
            <a:pPr algn="l" indent="0" marL="0">
              <a:lnSpc>
                <a:spcPct val="104000"/>
              </a:lnSpc>
              <a:buNone/>
            </a:pPr>
            <a:r>
              <a:rPr lang="en-US" sz="1500" b="1" dirty="0">
                <a:solidFill>
                  <a:srgbClr val="FFE14D"/>
                </a:solidFill>
                <a:latin typeface="Comfortaa Bold" pitchFamily="34" charset="0"/>
                <a:ea typeface="Comfortaa Bold" pitchFamily="34" charset="-122"/>
                <a:cs typeface="Comfortaa Bold" pitchFamily="34" charset="-120"/>
              </a:rPr>
              <a:t>Strategic Recommendations &amp; Key Takeaways</a:t>
            </a:r>
            <a:endParaRPr lang="en-US" sz="1500" dirty="0"/>
          </a:p>
        </p:txBody>
      </p:sp>
      <p:sp>
        <p:nvSpPr>
          <p:cNvPr id="3" name="Text 1"/>
          <p:cNvSpPr/>
          <p:nvPr/>
        </p:nvSpPr>
        <p:spPr>
          <a:xfrm>
            <a:off x="1480691" y="667196"/>
            <a:ext cx="6182618"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The SWOT analysis reveals a clear strategic imperative: PgBee must consolidate its Kerala leadership position before scaling nationally, while simultaneously building the revenue diversification and brand equity needed to compete with larger players. The roadmap below translates SWOT insights into a phased action plan.</a:t>
            </a:r>
            <a:endParaRPr lang="en-US" sz="650" dirty="0"/>
          </a:p>
        </p:txBody>
      </p:sp>
      <p:sp>
        <p:nvSpPr>
          <p:cNvPr id="4" name="Shape 2"/>
          <p:cNvSpPr/>
          <p:nvPr/>
        </p:nvSpPr>
        <p:spPr>
          <a:xfrm>
            <a:off x="4567238" y="1077888"/>
            <a:ext cx="9525" cy="1925315"/>
          </a:xfrm>
          <a:prstGeom prst="roundRect">
            <a:avLst>
              <a:gd name="adj" fmla="val 1389042"/>
            </a:avLst>
          </a:prstGeom>
          <a:solidFill>
            <a:srgbClr val="5F5F63"/>
          </a:solidFill>
          <a:ln/>
        </p:spPr>
      </p:sp>
      <p:sp>
        <p:nvSpPr>
          <p:cNvPr id="5" name="Shape 3"/>
          <p:cNvSpPr/>
          <p:nvPr/>
        </p:nvSpPr>
        <p:spPr>
          <a:xfrm>
            <a:off x="4217789" y="1172319"/>
            <a:ext cx="264542" cy="9525"/>
          </a:xfrm>
          <a:prstGeom prst="roundRect">
            <a:avLst>
              <a:gd name="adj" fmla="val 1389042"/>
            </a:avLst>
          </a:prstGeom>
          <a:solidFill>
            <a:srgbClr val="5F5F63"/>
          </a:solidFill>
          <a:ln/>
        </p:spPr>
      </p:sp>
      <p:sp>
        <p:nvSpPr>
          <p:cNvPr id="6" name="Shape 4"/>
          <p:cNvSpPr/>
          <p:nvPr/>
        </p:nvSpPr>
        <p:spPr>
          <a:xfrm>
            <a:off x="4472806" y="1077888"/>
            <a:ext cx="198388" cy="198388"/>
          </a:xfrm>
          <a:prstGeom prst="roundRect">
            <a:avLst>
              <a:gd name="adj" fmla="val 66691"/>
            </a:avLst>
          </a:prstGeom>
          <a:solidFill>
            <a:srgbClr val="46464A"/>
          </a:solidFill>
          <a:ln/>
        </p:spPr>
      </p:sp>
      <p:sp>
        <p:nvSpPr>
          <p:cNvPr id="7" name="Text 5"/>
          <p:cNvSpPr/>
          <p:nvPr/>
        </p:nvSpPr>
        <p:spPr>
          <a:xfrm>
            <a:off x="4513213" y="1103598"/>
            <a:ext cx="117574" cy="146968"/>
          </a:xfrm>
          <a:prstGeom prst="rect">
            <a:avLst/>
          </a:prstGeom>
          <a:noFill/>
          <a:ln/>
        </p:spPr>
        <p:txBody>
          <a:bodyPr wrap="none" lIns="0" tIns="0" rIns="0" bIns="0" rtlCol="0" anchor="ctr"/>
          <a:lstStyle/>
          <a:p>
            <a:pPr algn="ctr" indent="0" marL="0">
              <a:lnSpc>
                <a:spcPct val="100000"/>
              </a:lnSpc>
              <a:buNone/>
            </a:pPr>
            <a:r>
              <a:rPr lang="en-US" sz="900" b="1" dirty="0">
                <a:solidFill>
                  <a:srgbClr val="D7D4CC"/>
                </a:solidFill>
                <a:latin typeface="Comfortaa Bold" pitchFamily="34" charset="0"/>
                <a:ea typeface="Comfortaa Bold" pitchFamily="34" charset="-122"/>
                <a:cs typeface="Comfortaa Bold" pitchFamily="34" charset="-120"/>
              </a:rPr>
              <a:t>1</a:t>
            </a:r>
            <a:endParaRPr lang="en-US" sz="900" dirty="0"/>
          </a:p>
        </p:txBody>
      </p:sp>
      <p:sp>
        <p:nvSpPr>
          <p:cNvPr id="8" name="Text 6"/>
          <p:cNvSpPr/>
          <p:nvPr/>
        </p:nvSpPr>
        <p:spPr>
          <a:xfrm>
            <a:off x="2846636" y="1108174"/>
            <a:ext cx="1284387" cy="122486"/>
          </a:xfrm>
          <a:prstGeom prst="rect">
            <a:avLst/>
          </a:prstGeom>
          <a:noFill/>
          <a:ln/>
        </p:spPr>
        <p:txBody>
          <a:bodyPr wrap="none" lIns="0" tIns="0" rIns="0" bIns="0" rtlCol="0" anchor="t"/>
          <a:lstStyle/>
          <a:p>
            <a:pPr algn="r"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Short Term — 0–6 Months</a:t>
            </a:r>
            <a:endParaRPr lang="en-US" sz="750" dirty="0"/>
          </a:p>
        </p:txBody>
      </p:sp>
      <p:sp>
        <p:nvSpPr>
          <p:cNvPr id="9" name="Text 7"/>
          <p:cNvSpPr/>
          <p:nvPr/>
        </p:nvSpPr>
        <p:spPr>
          <a:xfrm>
            <a:off x="1480691" y="1264518"/>
            <a:ext cx="2650331" cy="115714"/>
          </a:xfrm>
          <a:prstGeom prst="rect">
            <a:avLst/>
          </a:prstGeom>
          <a:noFill/>
          <a:ln/>
        </p:spPr>
        <p:txBody>
          <a:bodyPr wrap="none" lIns="0" tIns="0" rIns="0" bIns="0" rtlCol="0" anchor="t"/>
          <a:lstStyle/>
          <a:p>
            <a:pPr algn="r" indent="0" marL="0">
              <a:lnSpc>
                <a:spcPct val="109000"/>
              </a:lnSpc>
              <a:buNone/>
            </a:pPr>
            <a:r>
              <a:rPr lang="en-US" sz="650" b="1" dirty="0">
                <a:solidFill>
                  <a:srgbClr val="D7D4CC"/>
                </a:solidFill>
                <a:latin typeface="Raleway Medium" pitchFamily="34" charset="0"/>
                <a:ea typeface="Raleway Medium" pitchFamily="34" charset="-122"/>
                <a:cs typeface="Raleway Medium" pitchFamily="34" charset="-120"/>
              </a:rPr>
              <a:t>Defend &amp; Strengthen</a:t>
            </a:r>
            <a:endParaRPr lang="en-US" sz="650" dirty="0"/>
          </a:p>
        </p:txBody>
      </p:sp>
      <p:sp>
        <p:nvSpPr>
          <p:cNvPr id="10" name="Text 8"/>
          <p:cNvSpPr/>
          <p:nvPr/>
        </p:nvSpPr>
        <p:spPr>
          <a:xfrm>
            <a:off x="1480691" y="1414090"/>
            <a:ext cx="2650331" cy="522015"/>
          </a:xfrm>
          <a:prstGeom prst="rect">
            <a:avLst/>
          </a:prstGeom>
          <a:noFill/>
          <a:ln/>
        </p:spPr>
        <p:txBody>
          <a:bodyPr wrap="square" lIns="0" tIns="0" rIns="0" bIns="0" rtlCol="0" anchor="t">
            <a:normAutofit/>
          </a:bodyPr>
          <a:lstStyle/>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Accelerate hostel onboarding in current Kerala districts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Improve and promote the B Points referral program</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Build a campus ambassador network at key colleges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Launch owner subscription pilot with early adopters</a:t>
            </a:r>
            <a:endParaRPr lang="en-US" sz="650" dirty="0"/>
          </a:p>
        </p:txBody>
      </p:sp>
      <p:sp>
        <p:nvSpPr>
          <p:cNvPr id="11" name="Shape 9"/>
          <p:cNvSpPr/>
          <p:nvPr/>
        </p:nvSpPr>
        <p:spPr>
          <a:xfrm>
            <a:off x="4661669" y="1638077"/>
            <a:ext cx="264542" cy="9525"/>
          </a:xfrm>
          <a:prstGeom prst="roundRect">
            <a:avLst>
              <a:gd name="adj" fmla="val 1389042"/>
            </a:avLst>
          </a:prstGeom>
          <a:solidFill>
            <a:srgbClr val="5F5F63"/>
          </a:solidFill>
          <a:ln/>
        </p:spPr>
      </p:sp>
      <p:sp>
        <p:nvSpPr>
          <p:cNvPr id="12" name="Shape 10"/>
          <p:cNvSpPr/>
          <p:nvPr/>
        </p:nvSpPr>
        <p:spPr>
          <a:xfrm>
            <a:off x="4472806" y="1543645"/>
            <a:ext cx="198388" cy="198388"/>
          </a:xfrm>
          <a:prstGeom prst="roundRect">
            <a:avLst>
              <a:gd name="adj" fmla="val 66691"/>
            </a:avLst>
          </a:prstGeom>
          <a:solidFill>
            <a:srgbClr val="46464A"/>
          </a:solidFill>
          <a:ln/>
        </p:spPr>
      </p:sp>
      <p:sp>
        <p:nvSpPr>
          <p:cNvPr id="13" name="Text 11"/>
          <p:cNvSpPr/>
          <p:nvPr/>
        </p:nvSpPr>
        <p:spPr>
          <a:xfrm>
            <a:off x="4513213" y="1569355"/>
            <a:ext cx="117574" cy="146968"/>
          </a:xfrm>
          <a:prstGeom prst="rect">
            <a:avLst/>
          </a:prstGeom>
          <a:noFill/>
          <a:ln/>
        </p:spPr>
        <p:txBody>
          <a:bodyPr wrap="none" lIns="0" tIns="0" rIns="0" bIns="0" rtlCol="0" anchor="ctr"/>
          <a:lstStyle/>
          <a:p>
            <a:pPr algn="ctr" indent="0" marL="0">
              <a:lnSpc>
                <a:spcPct val="100000"/>
              </a:lnSpc>
              <a:buNone/>
            </a:pPr>
            <a:r>
              <a:rPr lang="en-US" sz="900" b="1" dirty="0">
                <a:solidFill>
                  <a:srgbClr val="D7D4CC"/>
                </a:solidFill>
                <a:latin typeface="Comfortaa Bold" pitchFamily="34" charset="0"/>
                <a:ea typeface="Comfortaa Bold" pitchFamily="34" charset="-122"/>
                <a:cs typeface="Comfortaa Bold" pitchFamily="34" charset="-120"/>
              </a:rPr>
              <a:t>2</a:t>
            </a:r>
            <a:endParaRPr lang="en-US" sz="900" dirty="0"/>
          </a:p>
        </p:txBody>
      </p:sp>
      <p:sp>
        <p:nvSpPr>
          <p:cNvPr id="14" name="Text 12"/>
          <p:cNvSpPr/>
          <p:nvPr/>
        </p:nvSpPr>
        <p:spPr>
          <a:xfrm>
            <a:off x="5012978" y="1573932"/>
            <a:ext cx="1230511" cy="122486"/>
          </a:xfrm>
          <a:prstGeom prst="rect">
            <a:avLst/>
          </a:prstGeom>
          <a:noFill/>
          <a:ln/>
        </p:spPr>
        <p:txBody>
          <a:bodyPr wrap="none" lIns="0" tIns="0" rIns="0" bIns="0" rtlCol="0" anchor="t"/>
          <a:lstStyle/>
          <a:p>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Mid Term — 6–18 Months</a:t>
            </a:r>
            <a:endParaRPr lang="en-US" sz="750" dirty="0"/>
          </a:p>
        </p:txBody>
      </p:sp>
      <p:sp>
        <p:nvSpPr>
          <p:cNvPr id="15" name="Text 13"/>
          <p:cNvSpPr/>
          <p:nvPr/>
        </p:nvSpPr>
        <p:spPr>
          <a:xfrm>
            <a:off x="5012978" y="1730276"/>
            <a:ext cx="2650331" cy="115714"/>
          </a:xfrm>
          <a:prstGeom prst="rect">
            <a:avLst/>
          </a:prstGeom>
          <a:noFill/>
          <a:ln/>
        </p:spPr>
        <p:txBody>
          <a:bodyPr wrap="none" lIns="0" tIns="0" rIns="0" bIns="0" rtlCol="0" anchor="t"/>
          <a:lstStyle/>
          <a:p>
            <a:pPr algn="l" indent="0" marL="0">
              <a:lnSpc>
                <a:spcPct val="109000"/>
              </a:lnSpc>
              <a:buNone/>
            </a:pPr>
            <a:r>
              <a:rPr lang="en-US" sz="650" b="1" dirty="0">
                <a:solidFill>
                  <a:srgbClr val="D7D4CC"/>
                </a:solidFill>
                <a:latin typeface="Raleway Medium" pitchFamily="34" charset="0"/>
                <a:ea typeface="Raleway Medium" pitchFamily="34" charset="-122"/>
                <a:cs typeface="Raleway Medium" pitchFamily="34" charset="-120"/>
              </a:rPr>
              <a:t>Expand &amp; Monetize</a:t>
            </a:r>
            <a:endParaRPr lang="en-US" sz="650" dirty="0"/>
          </a:p>
        </p:txBody>
      </p:sp>
      <p:sp>
        <p:nvSpPr>
          <p:cNvPr id="16" name="Text 14"/>
          <p:cNvSpPr/>
          <p:nvPr/>
        </p:nvSpPr>
        <p:spPr>
          <a:xfrm>
            <a:off x="5012978" y="1879848"/>
            <a:ext cx="2650331" cy="637729"/>
          </a:xfrm>
          <a:prstGeom prst="rect">
            <a:avLst/>
          </a:prstGeom>
          <a:noFill/>
          <a:ln/>
        </p:spPr>
        <p:txBody>
          <a:bodyPr wrap="square" lIns="0" tIns="0" rIns="0" bIns="0" rtlCol="0" anchor="t">
            <a:normAutofit/>
          </a:bodyPr>
          <a:lstStyle/>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Expand to Trivandrum, Kochi, Kozhikode, Thrissur, Kottayam</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Launch full owner subscription and featured listing products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Build analytics dashboards for owners and institutional partners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Secure first official college partnership agreements</a:t>
            </a:r>
            <a:endParaRPr lang="en-US" sz="650" dirty="0"/>
          </a:p>
        </p:txBody>
      </p:sp>
      <p:sp>
        <p:nvSpPr>
          <p:cNvPr id="17" name="Shape 15"/>
          <p:cNvSpPr/>
          <p:nvPr/>
        </p:nvSpPr>
        <p:spPr>
          <a:xfrm>
            <a:off x="4217789" y="2181523"/>
            <a:ext cx="264542" cy="9525"/>
          </a:xfrm>
          <a:prstGeom prst="roundRect">
            <a:avLst>
              <a:gd name="adj" fmla="val 1389042"/>
            </a:avLst>
          </a:prstGeom>
          <a:solidFill>
            <a:srgbClr val="5F5F63"/>
          </a:solidFill>
          <a:ln/>
        </p:spPr>
      </p:sp>
      <p:sp>
        <p:nvSpPr>
          <p:cNvPr id="18" name="Shape 16"/>
          <p:cNvSpPr/>
          <p:nvPr/>
        </p:nvSpPr>
        <p:spPr>
          <a:xfrm>
            <a:off x="4472806" y="2087091"/>
            <a:ext cx="198388" cy="198388"/>
          </a:xfrm>
          <a:prstGeom prst="roundRect">
            <a:avLst>
              <a:gd name="adj" fmla="val 66691"/>
            </a:avLst>
          </a:prstGeom>
          <a:solidFill>
            <a:srgbClr val="46464A"/>
          </a:solidFill>
          <a:ln/>
        </p:spPr>
      </p:sp>
      <p:sp>
        <p:nvSpPr>
          <p:cNvPr id="19" name="Text 17"/>
          <p:cNvSpPr/>
          <p:nvPr/>
        </p:nvSpPr>
        <p:spPr>
          <a:xfrm>
            <a:off x="4513213" y="2112801"/>
            <a:ext cx="117574" cy="146968"/>
          </a:xfrm>
          <a:prstGeom prst="rect">
            <a:avLst/>
          </a:prstGeom>
          <a:noFill/>
          <a:ln/>
        </p:spPr>
        <p:txBody>
          <a:bodyPr wrap="none" lIns="0" tIns="0" rIns="0" bIns="0" rtlCol="0" anchor="ctr"/>
          <a:lstStyle/>
          <a:p>
            <a:pPr algn="ctr" indent="0" marL="0">
              <a:lnSpc>
                <a:spcPct val="100000"/>
              </a:lnSpc>
              <a:buNone/>
            </a:pPr>
            <a:r>
              <a:rPr lang="en-US" sz="900" b="1" dirty="0">
                <a:solidFill>
                  <a:srgbClr val="D7D4CC"/>
                </a:solidFill>
                <a:latin typeface="Comfortaa Bold" pitchFamily="34" charset="0"/>
                <a:ea typeface="Comfortaa Bold" pitchFamily="34" charset="-122"/>
                <a:cs typeface="Comfortaa Bold" pitchFamily="34" charset="-120"/>
              </a:rPr>
              <a:t>3</a:t>
            </a:r>
            <a:endParaRPr lang="en-US" sz="900" dirty="0"/>
          </a:p>
        </p:txBody>
      </p:sp>
      <p:sp>
        <p:nvSpPr>
          <p:cNvPr id="20" name="Text 18"/>
          <p:cNvSpPr/>
          <p:nvPr/>
        </p:nvSpPr>
        <p:spPr>
          <a:xfrm>
            <a:off x="2774603" y="2117378"/>
            <a:ext cx="1356420" cy="122486"/>
          </a:xfrm>
          <a:prstGeom prst="rect">
            <a:avLst/>
          </a:prstGeom>
          <a:noFill/>
          <a:ln/>
        </p:spPr>
        <p:txBody>
          <a:bodyPr wrap="none" lIns="0" tIns="0" rIns="0" bIns="0" rtlCol="0" anchor="t"/>
          <a:lstStyle/>
          <a:p>
            <a:pPr algn="r"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Long Term — 18–36 Months</a:t>
            </a:r>
            <a:endParaRPr lang="en-US" sz="750" dirty="0"/>
          </a:p>
        </p:txBody>
      </p:sp>
      <p:sp>
        <p:nvSpPr>
          <p:cNvPr id="21" name="Text 19"/>
          <p:cNvSpPr/>
          <p:nvPr/>
        </p:nvSpPr>
        <p:spPr>
          <a:xfrm>
            <a:off x="1480691" y="2273722"/>
            <a:ext cx="2650331" cy="115714"/>
          </a:xfrm>
          <a:prstGeom prst="rect">
            <a:avLst/>
          </a:prstGeom>
          <a:noFill/>
          <a:ln/>
        </p:spPr>
        <p:txBody>
          <a:bodyPr wrap="none" lIns="0" tIns="0" rIns="0" bIns="0" rtlCol="0" anchor="t"/>
          <a:lstStyle/>
          <a:p>
            <a:pPr algn="r" indent="0" marL="0">
              <a:lnSpc>
                <a:spcPct val="109000"/>
              </a:lnSpc>
              <a:buNone/>
            </a:pPr>
            <a:r>
              <a:rPr lang="en-US" sz="650" b="1" dirty="0">
                <a:solidFill>
                  <a:srgbClr val="D7D4CC"/>
                </a:solidFill>
                <a:latin typeface="Raleway Medium" pitchFamily="34" charset="0"/>
                <a:ea typeface="Raleway Medium" pitchFamily="34" charset="-122"/>
                <a:cs typeface="Raleway Medium" pitchFamily="34" charset="-120"/>
              </a:rPr>
              <a:t>Scale &amp; Diversify</a:t>
            </a:r>
            <a:endParaRPr lang="en-US" sz="650" dirty="0"/>
          </a:p>
        </p:txBody>
      </p:sp>
      <p:sp>
        <p:nvSpPr>
          <p:cNvPr id="22" name="Text 20"/>
          <p:cNvSpPr/>
          <p:nvPr/>
        </p:nvSpPr>
        <p:spPr>
          <a:xfrm>
            <a:off x="1480691" y="2423294"/>
            <a:ext cx="2650331" cy="522015"/>
          </a:xfrm>
          <a:prstGeom prst="rect">
            <a:avLst/>
          </a:prstGeom>
          <a:noFill/>
          <a:ln/>
        </p:spPr>
        <p:txBody>
          <a:bodyPr wrap="square" lIns="0" tIns="0" rIns="0" bIns="0" rtlCol="0" anchor="t">
            <a:normAutofit/>
          </a:bodyPr>
          <a:lstStyle/>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Enter Karnataka, Tamil Nadu, and Telangana markets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Launch institutional partnership program at scale</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Develop and sell data and insights products</a:t>
            </a:r>
            <a:endParaRPr lang="en-US" sz="650" dirty="0"/>
          </a:p>
          <a:p>
            <a:pPr algn="l" marL="342900" indent="-342900">
              <a:lnSpc>
                <a:spcPct val="109000"/>
              </a:lnSpc>
              <a:buSzPct val="100000"/>
              <a:buChar char="•"/>
            </a:pPr>
            <a:r>
              <a:rPr lang="en-US" sz="650" dirty="0">
                <a:solidFill>
                  <a:srgbClr val="D7D4CC"/>
                </a:solidFill>
                <a:latin typeface="Raleway Medium" pitchFamily="34" charset="0"/>
                <a:ea typeface="Raleway Medium" pitchFamily="34" charset="-122"/>
                <a:cs typeface="Raleway Medium" pitchFamily="34" charset="-120"/>
              </a:rPr>
              <a:t>Explore Series A funding to accelerate pan-India expansion</a:t>
            </a:r>
            <a:endParaRPr lang="en-US" sz="650" dirty="0"/>
          </a:p>
        </p:txBody>
      </p:sp>
      <p:sp>
        <p:nvSpPr>
          <p:cNvPr id="23" name="Shape 21"/>
          <p:cNvSpPr/>
          <p:nvPr/>
        </p:nvSpPr>
        <p:spPr>
          <a:xfrm>
            <a:off x="1417141" y="3066752"/>
            <a:ext cx="3110805" cy="1767483"/>
          </a:xfrm>
          <a:prstGeom prst="roundRect">
            <a:avLst>
              <a:gd name="adj" fmla="val 11977"/>
            </a:avLst>
          </a:prstGeom>
          <a:solidFill>
            <a:srgbClr val="FFE14D"/>
          </a:solidFill>
          <a:ln/>
        </p:spPr>
      </p:sp>
      <p:sp>
        <p:nvSpPr>
          <p:cNvPr id="24" name="Text 22"/>
          <p:cNvSpPr/>
          <p:nvPr/>
        </p:nvSpPr>
        <p:spPr>
          <a:xfrm>
            <a:off x="1505322" y="3123233"/>
            <a:ext cx="1437233" cy="122486"/>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Comfortaa Bold" pitchFamily="34" charset="0"/>
                <a:ea typeface="Comfortaa Bold" pitchFamily="34" charset="-122"/>
                <a:cs typeface="Comfortaa Bold" pitchFamily="34" charset="-120"/>
              </a:rPr>
              <a:t>Strategic Position</a:t>
            </a:r>
            <a:endParaRPr lang="en-US" sz="750" dirty="0"/>
          </a:p>
        </p:txBody>
      </p:sp>
      <p:sp>
        <p:nvSpPr>
          <p:cNvPr id="25" name="Text 23"/>
          <p:cNvSpPr/>
          <p:nvPr/>
        </p:nvSpPr>
        <p:spPr>
          <a:xfrm>
            <a:off x="1505322" y="3302198"/>
            <a:ext cx="2934444" cy="694283"/>
          </a:xfrm>
          <a:prstGeom prst="rect">
            <a:avLst/>
          </a:prstGeom>
          <a:noFill/>
          <a:ln/>
        </p:spPr>
        <p:txBody>
          <a:bodyPr wrap="square" lIns="0" tIns="0" rIns="0" bIns="0" rtlCol="0" anchor="t">
            <a:normAutofit/>
          </a:bodyPr>
          <a:lstStyle/>
          <a:p>
            <a:pPr algn="l" indent="0" marL="0">
              <a:lnSpc>
                <a:spcPct val="109000"/>
              </a:lnSpc>
              <a:buNone/>
            </a:pPr>
            <a:r>
              <a:rPr lang="en-US" sz="650" b="1" dirty="0">
                <a:solidFill>
                  <a:srgbClr val="000000"/>
                </a:solidFill>
                <a:latin typeface="Raleway Medium" pitchFamily="34" charset="0"/>
                <a:ea typeface="Raleway Medium" pitchFamily="34" charset="-122"/>
                <a:cs typeface="Raleway Medium" pitchFamily="34" charset="-120"/>
              </a:rPr>
              <a:t>PgBee should position itself as the leading student accommodation platform in Kerala before scaling across India.</a:t>
            </a:r>
            <a:pPr algn="l" indent="0" marL="0">
              <a:lnSpc>
                <a:spcPct val="109000"/>
              </a:lnSpc>
              <a:buNone/>
            </a:pPr>
            <a:r>
              <a:rPr lang="en-US" sz="650" dirty="0">
                <a:solidFill>
                  <a:srgbClr val="000000"/>
                </a:solidFill>
                <a:latin typeface="Raleway Medium" pitchFamily="34" charset="0"/>
                <a:ea typeface="Raleway Medium" pitchFamily="34" charset="-122"/>
                <a:cs typeface="Raleway Medium" pitchFamily="34" charset="-120"/>
              </a:rPr>
              <a:t> Hyper-local dominance creates the brand equity, operational playbook, and revenue foundation needed to compete nationally. Attempting to scale before achieving Kerala leadership risks spreading resources too thin and losing the local expertise that makes PgBee unique.</a:t>
            </a:r>
            <a:endParaRPr lang="en-US" sz="650" dirty="0"/>
          </a:p>
        </p:txBody>
      </p:sp>
      <p:sp>
        <p:nvSpPr>
          <p:cNvPr id="26" name="Text 24"/>
          <p:cNvSpPr/>
          <p:nvPr/>
        </p:nvSpPr>
        <p:spPr>
          <a:xfrm>
            <a:off x="4684365" y="3123233"/>
            <a:ext cx="1802011" cy="122486"/>
          </a:xfrm>
          <a:prstGeom prst="rect">
            <a:avLst/>
          </a:prstGeom>
          <a:noFill/>
          <a:ln/>
        </p:spPr>
        <p:txBody>
          <a:bodyPr wrap="none" lIns="0" tIns="0" rIns="0" bIns="0" rtlCol="0" anchor="t"/>
          <a:lstStyle/>
          <a:p>
            <a:pPr algn="l" indent="0" marL="0">
              <a:lnSpc>
                <a:spcPct val="104000"/>
              </a:lnSpc>
              <a:buNone/>
            </a:pPr>
            <a:r>
              <a:rPr lang="en-US" sz="750" b="1" dirty="0">
                <a:solidFill>
                  <a:srgbClr val="FFE14D"/>
                </a:solidFill>
                <a:latin typeface="Comfortaa Bold" pitchFamily="34" charset="0"/>
                <a:ea typeface="Comfortaa Bold" pitchFamily="34" charset="-122"/>
                <a:cs typeface="Comfortaa Bold" pitchFamily="34" charset="-120"/>
              </a:rPr>
              <a:t>Key Takeaways at a Glance</a:t>
            </a:r>
            <a:endParaRPr lang="en-US" sz="750" dirty="0"/>
          </a:p>
        </p:txBody>
      </p:sp>
      <p:sp>
        <p:nvSpPr>
          <p:cNvPr id="27" name="Shape 25"/>
          <p:cNvSpPr/>
          <p:nvPr/>
        </p:nvSpPr>
        <p:spPr>
          <a:xfrm>
            <a:off x="4684365" y="3309268"/>
            <a:ext cx="1463576" cy="702469"/>
          </a:xfrm>
          <a:prstGeom prst="roundRect">
            <a:avLst>
              <a:gd name="adj" fmla="val 18834"/>
            </a:avLst>
          </a:prstGeom>
          <a:solidFill>
            <a:srgbClr val="46464A"/>
          </a:solidFill>
          <a:ln/>
        </p:spPr>
      </p:sp>
      <p:sp>
        <p:nvSpPr>
          <p:cNvPr id="28" name="Text 26"/>
          <p:cNvSpPr/>
          <p:nvPr/>
        </p:nvSpPr>
        <p:spPr>
          <a:xfrm>
            <a:off x="4772546" y="3397448"/>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 Strengths</a:t>
            </a:r>
            <a:endParaRPr lang="en-US" sz="750" dirty="0"/>
          </a:p>
        </p:txBody>
      </p:sp>
      <p:sp>
        <p:nvSpPr>
          <p:cNvPr id="29" name="Text 27"/>
          <p:cNvSpPr/>
          <p:nvPr/>
        </p:nvSpPr>
        <p:spPr>
          <a:xfrm>
            <a:off x="4772546" y="3576414"/>
            <a:ext cx="1287214"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Student focus, Kerala expertise, verified listings, owner ecosystem</a:t>
            </a:r>
            <a:endParaRPr lang="en-US" sz="650" dirty="0"/>
          </a:p>
        </p:txBody>
      </p:sp>
      <p:sp>
        <p:nvSpPr>
          <p:cNvPr id="30" name="Shape 28"/>
          <p:cNvSpPr/>
          <p:nvPr/>
        </p:nvSpPr>
        <p:spPr>
          <a:xfrm>
            <a:off x="6204421" y="3309268"/>
            <a:ext cx="1463650" cy="702469"/>
          </a:xfrm>
          <a:prstGeom prst="roundRect">
            <a:avLst>
              <a:gd name="adj" fmla="val 18834"/>
            </a:avLst>
          </a:prstGeom>
          <a:solidFill>
            <a:srgbClr val="46464A"/>
          </a:solidFill>
          <a:ln/>
        </p:spPr>
      </p:sp>
      <p:sp>
        <p:nvSpPr>
          <p:cNvPr id="31" name="Text 29"/>
          <p:cNvSpPr/>
          <p:nvPr/>
        </p:nvSpPr>
        <p:spPr>
          <a:xfrm>
            <a:off x="6292602" y="3397448"/>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 Weaknesses</a:t>
            </a:r>
            <a:endParaRPr lang="en-US" sz="750" dirty="0"/>
          </a:p>
        </p:txBody>
      </p:sp>
      <p:sp>
        <p:nvSpPr>
          <p:cNvPr id="32" name="Text 30"/>
          <p:cNvSpPr/>
          <p:nvPr/>
        </p:nvSpPr>
        <p:spPr>
          <a:xfrm>
            <a:off x="6292602" y="3576414"/>
            <a:ext cx="1287289"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Limited scale, brand awareness, early revenue stage</a:t>
            </a:r>
            <a:endParaRPr lang="en-US" sz="650" dirty="0"/>
          </a:p>
        </p:txBody>
      </p:sp>
      <p:sp>
        <p:nvSpPr>
          <p:cNvPr id="33" name="Shape 31"/>
          <p:cNvSpPr/>
          <p:nvPr/>
        </p:nvSpPr>
        <p:spPr>
          <a:xfrm>
            <a:off x="4684365" y="4068217"/>
            <a:ext cx="1463576" cy="702469"/>
          </a:xfrm>
          <a:prstGeom prst="roundRect">
            <a:avLst>
              <a:gd name="adj" fmla="val 18834"/>
            </a:avLst>
          </a:prstGeom>
          <a:solidFill>
            <a:srgbClr val="46464A"/>
          </a:solidFill>
          <a:ln/>
        </p:spPr>
      </p:sp>
      <p:sp>
        <p:nvSpPr>
          <p:cNvPr id="34" name="Text 32"/>
          <p:cNvSpPr/>
          <p:nvPr/>
        </p:nvSpPr>
        <p:spPr>
          <a:xfrm>
            <a:off x="4772546" y="4156397"/>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 Opportunities</a:t>
            </a:r>
            <a:endParaRPr lang="en-US" sz="750" dirty="0"/>
          </a:p>
        </p:txBody>
      </p:sp>
      <p:sp>
        <p:nvSpPr>
          <p:cNvPr id="35" name="Text 33"/>
          <p:cNvSpPr/>
          <p:nvPr/>
        </p:nvSpPr>
        <p:spPr>
          <a:xfrm>
            <a:off x="4772546" y="4335363"/>
            <a:ext cx="1287214"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District expansion, college partnerships, new revenue streams</a:t>
            </a:r>
            <a:endParaRPr lang="en-US" sz="650" dirty="0"/>
          </a:p>
        </p:txBody>
      </p:sp>
      <p:sp>
        <p:nvSpPr>
          <p:cNvPr id="36" name="Shape 34"/>
          <p:cNvSpPr/>
          <p:nvPr/>
        </p:nvSpPr>
        <p:spPr>
          <a:xfrm>
            <a:off x="6204421" y="4068217"/>
            <a:ext cx="1463650" cy="702469"/>
          </a:xfrm>
          <a:prstGeom prst="roundRect">
            <a:avLst>
              <a:gd name="adj" fmla="val 18834"/>
            </a:avLst>
          </a:prstGeom>
          <a:solidFill>
            <a:srgbClr val="46464A"/>
          </a:solidFill>
          <a:ln/>
        </p:spPr>
      </p:sp>
      <p:sp>
        <p:nvSpPr>
          <p:cNvPr id="37" name="Text 35"/>
          <p:cNvSpPr/>
          <p:nvPr/>
        </p:nvSpPr>
        <p:spPr>
          <a:xfrm>
            <a:off x="6292602" y="4156397"/>
            <a:ext cx="980033" cy="122486"/>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Comfortaa Bold" pitchFamily="34" charset="0"/>
                <a:ea typeface="Comfortaa Bold" pitchFamily="34" charset="-122"/>
                <a:cs typeface="Comfortaa Bold" pitchFamily="34" charset="-120"/>
              </a:rPr>
              <a:t>🔥</a:t>
            </a:r>
            <a:pPr algn="l" indent="0" marL="0">
              <a:lnSpc>
                <a:spcPct val="104000"/>
              </a:lnSpc>
              <a:buNone/>
            </a:pPr>
            <a:r>
              <a:rPr lang="en-US" sz="750" b="1" dirty="0">
                <a:solidFill>
                  <a:srgbClr val="D7D4CC"/>
                </a:solidFill>
                <a:latin typeface="Comfortaa Bold" pitchFamily="34" charset="0"/>
                <a:ea typeface="Comfortaa Bold" pitchFamily="34" charset="-122"/>
                <a:cs typeface="Comfortaa Bold" pitchFamily="34" charset="-120"/>
              </a:rPr>
              <a:t> Threats</a:t>
            </a:r>
            <a:endParaRPr lang="en-US" sz="750" dirty="0"/>
          </a:p>
        </p:txBody>
      </p:sp>
      <p:sp>
        <p:nvSpPr>
          <p:cNvPr id="38" name="Text 36"/>
          <p:cNvSpPr/>
          <p:nvPr/>
        </p:nvSpPr>
        <p:spPr>
          <a:xfrm>
            <a:off x="6292602" y="4335363"/>
            <a:ext cx="1287289" cy="347142"/>
          </a:xfrm>
          <a:prstGeom prst="rect">
            <a:avLst/>
          </a:prstGeom>
          <a:noFill/>
          <a:ln/>
        </p:spPr>
        <p:txBody>
          <a:bodyPr wrap="square" lIns="0" tIns="0" rIns="0" bIns="0" rtlCol="0" anchor="t">
            <a:normAutofit/>
          </a:bodyPr>
          <a:lstStyle/>
          <a:p>
            <a:pPr algn="l" indent="0" marL="0">
              <a:lnSpc>
                <a:spcPct val="109000"/>
              </a:lnSpc>
              <a:buNone/>
            </a:pPr>
            <a:r>
              <a:rPr lang="en-US" sz="650" dirty="0">
                <a:solidFill>
                  <a:srgbClr val="D7D4CC"/>
                </a:solidFill>
                <a:latin typeface="Raleway Medium" pitchFamily="34" charset="0"/>
                <a:ea typeface="Raleway Medium" pitchFamily="34" charset="-122"/>
                <a:cs typeface="Raleway Medium" pitchFamily="34" charset="-120"/>
              </a:rPr>
              <a:t>National competitors, rising costs, market concentration risk</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2026-06-07T09:20:26Z</dcterms:created>
  <dcterms:modified xsi:type="dcterms:W3CDTF">2026-06-07T09:20:26Z</dcterms:modified>
</cp:coreProperties>
</file>